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b2ff1d9177448e7" /><Relationship Type="http://schemas.openxmlformats.org/officeDocument/2006/relationships/extended-properties" Target="/docProps/app.xml" Id="R03fd5de66241477a" /><Relationship Type="http://schemas.openxmlformats.org/officeDocument/2006/relationships/officeDocument" Target="/ppt/presentation.xml" Id="R76437eb3268d44ba" /></Relationships>
</file>

<file path=ppt/presentation.xml><?xml version="1.0" encoding="utf-8"?>
<p:presentation xmlns:p="http://schemas.openxmlformats.org/presentationml/2006/main">
  <p:sldMasterIdLst>
    <p:sldMasterId xmlns:r="http://schemas.openxmlformats.org/officeDocument/2006/relationships" id="2147483648" r:id="R7e6d858333a9418c"/>
  </p:sldMasterIdLst>
  <p:notesMasterIdLst>
    <p:notesMasterId xmlns:r="http://schemas.openxmlformats.org/officeDocument/2006/relationships" r:id="R7f5153ba10684cf3"/>
  </p:notesMasterIdLst>
  <p:sldIdLst>
    <p:sldId xmlns:r="http://schemas.openxmlformats.org/officeDocument/2006/relationships" id="256" r:id="R900c70fae4d54712"/>
    <p:sldId xmlns:r="http://schemas.openxmlformats.org/officeDocument/2006/relationships" id="257" r:id="R03af6f1d3e0b4152"/>
    <p:sldId xmlns:r="http://schemas.openxmlformats.org/officeDocument/2006/relationships" id="258" r:id="R3343bd6e70ba492a"/>
    <p:sldId xmlns:r="http://schemas.openxmlformats.org/officeDocument/2006/relationships" id="259" r:id="R37afc51cdb0846b3"/>
    <p:sldId xmlns:r="http://schemas.openxmlformats.org/officeDocument/2006/relationships" id="260" r:id="R7ad5e0e6a250437f"/>
    <p:sldId xmlns:r="http://schemas.openxmlformats.org/officeDocument/2006/relationships" id="261" r:id="R72d87ce09be4482f"/>
    <p:sldId xmlns:r="http://schemas.openxmlformats.org/officeDocument/2006/relationships" id="262" r:id="Rd52ebe1c5c2a4be4"/>
    <p:sldId xmlns:r="http://schemas.openxmlformats.org/officeDocument/2006/relationships" id="263" r:id="R547a9e71d2394dad"/>
    <p:sldId xmlns:r="http://schemas.openxmlformats.org/officeDocument/2006/relationships" id="264" r:id="Reb61620167214399"/>
    <p:sldId xmlns:r="http://schemas.openxmlformats.org/officeDocument/2006/relationships" id="265" r:id="R1d058d7c1fce481b"/>
    <p:sldId xmlns:r="http://schemas.openxmlformats.org/officeDocument/2006/relationships" id="266" r:id="R1bfced747f974bd4"/>
    <p:sldId xmlns:r="http://schemas.openxmlformats.org/officeDocument/2006/relationships" id="267" r:id="Re582cc096c65466b"/>
    <p:sldId xmlns:r="http://schemas.openxmlformats.org/officeDocument/2006/relationships" id="268" r:id="R4a17a47d02764eee"/>
    <p:sldId xmlns:r="http://schemas.openxmlformats.org/officeDocument/2006/relationships" id="269" r:id="Rbd73519d1c074015"/>
    <p:sldId xmlns:r="http://schemas.openxmlformats.org/officeDocument/2006/relationships" id="270" r:id="R08c420ab7f76421f"/>
    <p:sldId xmlns:r="http://schemas.openxmlformats.org/officeDocument/2006/relationships" id="271" r:id="R4e260a06e90f4071"/>
    <p:sldId xmlns:r="http://schemas.openxmlformats.org/officeDocument/2006/relationships" id="272" r:id="R37cb27b1d43b4179"/>
    <p:sldId xmlns:r="http://schemas.openxmlformats.org/officeDocument/2006/relationships" id="273" r:id="R30794eaee0a9438a"/>
    <p:sldId xmlns:r="http://schemas.openxmlformats.org/officeDocument/2006/relationships" id="274" r:id="Rc25b8d8074b5449c"/>
    <p:sldId xmlns:r="http://schemas.openxmlformats.org/officeDocument/2006/relationships" id="275" r:id="Rf9e8471d8b1e4716"/>
    <p:sldId xmlns:r="http://schemas.openxmlformats.org/officeDocument/2006/relationships" id="276" r:id="Ra5584a4270cc4557"/>
    <p:sldId xmlns:r="http://schemas.openxmlformats.org/officeDocument/2006/relationships" id="277" r:id="R02d16e2e287643b8"/>
    <p:sldId xmlns:r="http://schemas.openxmlformats.org/officeDocument/2006/relationships" id="278" r:id="R3accc7660e234c3a"/>
    <p:sldId xmlns:r="http://schemas.openxmlformats.org/officeDocument/2006/relationships" id="279" r:id="R28d940449735401e"/>
    <p:sldId xmlns:r="http://schemas.openxmlformats.org/officeDocument/2006/relationships" id="280" r:id="R331e528f895643f8"/>
    <p:sldId xmlns:r="http://schemas.openxmlformats.org/officeDocument/2006/relationships" id="281" r:id="Rb26e6c35d1644505"/>
    <p:sldId xmlns:r="http://schemas.openxmlformats.org/officeDocument/2006/relationships" id="282" r:id="Rcd0e0c6fea6a46a9"/>
    <p:sldId xmlns:r="http://schemas.openxmlformats.org/officeDocument/2006/relationships" id="283" r:id="R76d8894b30884b4a"/>
    <p:sldId xmlns:r="http://schemas.openxmlformats.org/officeDocument/2006/relationships" id="284" r:id="R9b8cdc8be3b24e5a"/>
    <p:sldId xmlns:r="http://schemas.openxmlformats.org/officeDocument/2006/relationships" id="285" r:id="Rb8c7585bb81f43e9"/>
    <p:sldId xmlns:r="http://schemas.openxmlformats.org/officeDocument/2006/relationships" id="286" r:id="R844313be37ea4f5b"/>
    <p:sldId xmlns:r="http://schemas.openxmlformats.org/officeDocument/2006/relationships" id="287" r:id="R9694456a600b4f9e"/>
    <p:sldId xmlns:r="http://schemas.openxmlformats.org/officeDocument/2006/relationships" id="288" r:id="R3bb76ead706a483f"/>
    <p:sldId xmlns:r="http://schemas.openxmlformats.org/officeDocument/2006/relationships" id="289" r:id="R95ced2448f494985"/>
    <p:sldId xmlns:r="http://schemas.openxmlformats.org/officeDocument/2006/relationships" id="290" r:id="R67ad5d34645e4420"/>
    <p:sldId xmlns:r="http://schemas.openxmlformats.org/officeDocument/2006/relationships" id="291" r:id="Rc1b202af3b4c4d43"/>
    <p:sldId xmlns:r="http://schemas.openxmlformats.org/officeDocument/2006/relationships" id="292" r:id="Re37d5aa578804497"/>
    <p:sldId xmlns:r="http://schemas.openxmlformats.org/officeDocument/2006/relationships" id="293" r:id="Rc218d3458f3b432b"/>
    <p:sldId xmlns:r="http://schemas.openxmlformats.org/officeDocument/2006/relationships" id="294" r:id="R37c7ab1c69954ae0"/>
    <p:sldId xmlns:r="http://schemas.openxmlformats.org/officeDocument/2006/relationships" id="295" r:id="R7a9d3c7fe43e407e"/>
    <p:sldId xmlns:r="http://schemas.openxmlformats.org/officeDocument/2006/relationships" id="296" r:id="R65db7a66fa7e467d"/>
    <p:sldId xmlns:r="http://schemas.openxmlformats.org/officeDocument/2006/relationships" id="297" r:id="R2a7034bff33d4da0"/>
    <p:sldId xmlns:r="http://schemas.openxmlformats.org/officeDocument/2006/relationships" id="298" r:id="Rb631fc3affa44bcd"/>
    <p:sldId xmlns:r="http://schemas.openxmlformats.org/officeDocument/2006/relationships" id="299" r:id="Re1ba37810fc04e8d"/>
    <p:sldId xmlns:r="http://schemas.openxmlformats.org/officeDocument/2006/relationships" id="300" r:id="Rd80a6cc6fb8a40d1"/>
    <p:sldId xmlns:r="http://schemas.openxmlformats.org/officeDocument/2006/relationships" id="301" r:id="R58b5f11756f74c8e"/>
    <p:sldId xmlns:r="http://schemas.openxmlformats.org/officeDocument/2006/relationships" id="302" r:id="Rb2d777866a6b41c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9215c2e223244a2" /><Relationship Type="http://schemas.openxmlformats.org/officeDocument/2006/relationships/slideMaster" Target="/ppt/slideMasters/slideMaster1.xml" Id="R7e6d858333a9418c" /><Relationship Type="http://schemas.openxmlformats.org/officeDocument/2006/relationships/notesMaster" Target="/ppt/notesMasters/notesMaster1.xml" Id="R7f5153ba10684cf3" /><Relationship Type="http://schemas.openxmlformats.org/officeDocument/2006/relationships/presProps" Target="/ppt/presProps.xml" Id="R3161c6e4efca4419" /><Relationship Type="http://schemas.openxmlformats.org/officeDocument/2006/relationships/tableStyles" Target="/ppt/tableStyles.xml" Id="R2f0e13b53df34b12" /><Relationship Type="http://schemas.openxmlformats.org/officeDocument/2006/relationships/slide" Target="/ppt/slides/slide1.xml" Id="R900c70fae4d54712" /><Relationship Type="http://schemas.openxmlformats.org/officeDocument/2006/relationships/slide" Target="/ppt/slides/slide2.xml" Id="R03af6f1d3e0b4152" /><Relationship Type="http://schemas.openxmlformats.org/officeDocument/2006/relationships/slide" Target="/ppt/slides/slide3.xml" Id="R3343bd6e70ba492a" /><Relationship Type="http://schemas.openxmlformats.org/officeDocument/2006/relationships/slide" Target="/ppt/slides/slide4.xml" Id="R37afc51cdb0846b3" /><Relationship Type="http://schemas.openxmlformats.org/officeDocument/2006/relationships/slide" Target="/ppt/slides/slide5.xml" Id="R7ad5e0e6a250437f" /><Relationship Type="http://schemas.openxmlformats.org/officeDocument/2006/relationships/slide" Target="/ppt/slides/slide6.xml" Id="R72d87ce09be4482f" /><Relationship Type="http://schemas.openxmlformats.org/officeDocument/2006/relationships/slide" Target="/ppt/slides/slide7.xml" Id="Rd52ebe1c5c2a4be4" /><Relationship Type="http://schemas.openxmlformats.org/officeDocument/2006/relationships/slide" Target="/ppt/slides/slide8.xml" Id="R547a9e71d2394dad" /><Relationship Type="http://schemas.openxmlformats.org/officeDocument/2006/relationships/slide" Target="/ppt/slides/slide9.xml" Id="Reb61620167214399" /><Relationship Type="http://schemas.openxmlformats.org/officeDocument/2006/relationships/slide" Target="/ppt/slides/slide10.xml" Id="R1d058d7c1fce481b" /><Relationship Type="http://schemas.openxmlformats.org/officeDocument/2006/relationships/slide" Target="/ppt/slides/slide11.xml" Id="R1bfced747f974bd4" /><Relationship Type="http://schemas.openxmlformats.org/officeDocument/2006/relationships/slide" Target="/ppt/slides/slide12.xml" Id="Re582cc096c65466b" /><Relationship Type="http://schemas.openxmlformats.org/officeDocument/2006/relationships/slide" Target="/ppt/slides/slide13.xml" Id="R4a17a47d02764eee" /><Relationship Type="http://schemas.openxmlformats.org/officeDocument/2006/relationships/slide" Target="/ppt/slides/slide14.xml" Id="Rbd73519d1c074015" /><Relationship Type="http://schemas.openxmlformats.org/officeDocument/2006/relationships/slide" Target="/ppt/slides/slide15.xml" Id="R08c420ab7f76421f" /><Relationship Type="http://schemas.openxmlformats.org/officeDocument/2006/relationships/slide" Target="/ppt/slides/slide16.xml" Id="R4e260a06e90f4071" /><Relationship Type="http://schemas.openxmlformats.org/officeDocument/2006/relationships/slide" Target="/ppt/slides/slide17.xml" Id="R37cb27b1d43b4179" /><Relationship Type="http://schemas.openxmlformats.org/officeDocument/2006/relationships/slide" Target="/ppt/slides/slide18.xml" Id="R30794eaee0a9438a" /><Relationship Type="http://schemas.openxmlformats.org/officeDocument/2006/relationships/slide" Target="/ppt/slides/slide19.xml" Id="Rc25b8d8074b5449c" /><Relationship Type="http://schemas.openxmlformats.org/officeDocument/2006/relationships/slide" Target="/ppt/slides/slide20.xml" Id="Rf9e8471d8b1e4716" /><Relationship Type="http://schemas.openxmlformats.org/officeDocument/2006/relationships/slide" Target="/ppt/slides/slide21.xml" Id="Ra5584a4270cc4557" /><Relationship Type="http://schemas.openxmlformats.org/officeDocument/2006/relationships/slide" Target="/ppt/slides/slide22.xml" Id="R02d16e2e287643b8" /><Relationship Type="http://schemas.openxmlformats.org/officeDocument/2006/relationships/slide" Target="/ppt/slides/slide23.xml" Id="R3accc7660e234c3a" /><Relationship Type="http://schemas.openxmlformats.org/officeDocument/2006/relationships/slide" Target="/ppt/slides/slide24.xml" Id="R28d940449735401e" /><Relationship Type="http://schemas.openxmlformats.org/officeDocument/2006/relationships/slide" Target="/ppt/slides/slide25.xml" Id="R331e528f895643f8" /><Relationship Type="http://schemas.openxmlformats.org/officeDocument/2006/relationships/slide" Target="/ppt/slides/slide26.xml" Id="Rb26e6c35d1644505" /><Relationship Type="http://schemas.openxmlformats.org/officeDocument/2006/relationships/slide" Target="/ppt/slides/slide27.xml" Id="Rcd0e0c6fea6a46a9" /><Relationship Type="http://schemas.openxmlformats.org/officeDocument/2006/relationships/slide" Target="/ppt/slides/slide28.xml" Id="R76d8894b30884b4a" /><Relationship Type="http://schemas.openxmlformats.org/officeDocument/2006/relationships/slide" Target="/ppt/slides/slide29.xml" Id="R9b8cdc8be3b24e5a" /><Relationship Type="http://schemas.openxmlformats.org/officeDocument/2006/relationships/slide" Target="/ppt/slides/slide30.xml" Id="Rb8c7585bb81f43e9" /><Relationship Type="http://schemas.openxmlformats.org/officeDocument/2006/relationships/slide" Target="/ppt/slides/slide31.xml" Id="R844313be37ea4f5b" /><Relationship Type="http://schemas.openxmlformats.org/officeDocument/2006/relationships/slide" Target="/ppt/slides/slide32.xml" Id="R9694456a600b4f9e" /><Relationship Type="http://schemas.openxmlformats.org/officeDocument/2006/relationships/slide" Target="/ppt/slides/slide33.xml" Id="R3bb76ead706a483f" /><Relationship Type="http://schemas.openxmlformats.org/officeDocument/2006/relationships/slide" Target="/ppt/slides/slide34.xml" Id="R95ced2448f494985" /><Relationship Type="http://schemas.openxmlformats.org/officeDocument/2006/relationships/slide" Target="/ppt/slides/slide35.xml" Id="R67ad5d34645e4420" /><Relationship Type="http://schemas.openxmlformats.org/officeDocument/2006/relationships/slide" Target="/ppt/slides/slide36.xml" Id="Rc1b202af3b4c4d43" /><Relationship Type="http://schemas.openxmlformats.org/officeDocument/2006/relationships/slide" Target="/ppt/slides/slide37.xml" Id="Re37d5aa578804497" /><Relationship Type="http://schemas.openxmlformats.org/officeDocument/2006/relationships/slide" Target="/ppt/slides/slide38.xml" Id="Rc218d3458f3b432b" /><Relationship Type="http://schemas.openxmlformats.org/officeDocument/2006/relationships/slide" Target="/ppt/slides/slide39.xml" Id="R37c7ab1c69954ae0" /><Relationship Type="http://schemas.openxmlformats.org/officeDocument/2006/relationships/slide" Target="/ppt/slides/slide40.xml" Id="R7a9d3c7fe43e407e" /><Relationship Type="http://schemas.openxmlformats.org/officeDocument/2006/relationships/slide" Target="/ppt/slides/slide41.xml" Id="R65db7a66fa7e467d" /><Relationship Type="http://schemas.openxmlformats.org/officeDocument/2006/relationships/slide" Target="/ppt/slides/slide42.xml" Id="R2a7034bff33d4da0" /><Relationship Type="http://schemas.openxmlformats.org/officeDocument/2006/relationships/slide" Target="/ppt/slides/slide43.xml" Id="Rb631fc3affa44bcd" /><Relationship Type="http://schemas.openxmlformats.org/officeDocument/2006/relationships/slide" Target="/ppt/slides/slide44.xml" Id="Re1ba37810fc04e8d" /><Relationship Type="http://schemas.openxmlformats.org/officeDocument/2006/relationships/slide" Target="/ppt/slides/slide45.xml" Id="Rd80a6cc6fb8a40d1" /><Relationship Type="http://schemas.openxmlformats.org/officeDocument/2006/relationships/slide" Target="/ppt/slides/slide46.xml" Id="R58b5f11756f74c8e" /><Relationship Type="http://schemas.openxmlformats.org/officeDocument/2006/relationships/slide" Target="/ppt/slides/slide47.xml" Id="Rb2d777866a6b41c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d3597ef495c44e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7b77236c1be4907" /><Relationship Type="http://schemas.openxmlformats.org/officeDocument/2006/relationships/notesMaster" Target="/ppt/notesMasters/notesMaster1.xml" Id="R771e665cdeee4502" /></Relationships>
</file>

<file path=ppt/notesSlides/_rels/notesSlide2.xml.rels>&#65279;<?xml version="1.0" encoding="utf-8"?><Relationships xmlns="http://schemas.openxmlformats.org/package/2006/relationships"><Relationship Type="http://schemas.openxmlformats.org/officeDocument/2006/relationships/slide" Target="/ppt/slides/slide2.xml" Id="R85d0b7b695bd484a" /><Relationship Type="http://schemas.openxmlformats.org/officeDocument/2006/relationships/notesMaster" Target="/ppt/notesMasters/notesMaster1.xml" Id="R33ae14ad29cc4171" /></Relationships>
</file>

<file path=ppt/notesSlides/_rels/notesSlide3.xml.rels>&#65279;<?xml version="1.0" encoding="utf-8"?><Relationships xmlns="http://schemas.openxmlformats.org/package/2006/relationships"><Relationship Type="http://schemas.openxmlformats.org/officeDocument/2006/relationships/slide" Target="/ppt/slides/slide3.xml" Id="Rbb44d036ca054180" /><Relationship Type="http://schemas.openxmlformats.org/officeDocument/2006/relationships/notesMaster" Target="/ppt/notesMasters/notesMaster1.xml" Id="R651618ab60784a01" /></Relationships>
</file>

<file path=ppt/notesSlides/_rels/notesSlide4.xml.rels>&#65279;<?xml version="1.0" encoding="utf-8"?><Relationships xmlns="http://schemas.openxmlformats.org/package/2006/relationships"><Relationship Type="http://schemas.openxmlformats.org/officeDocument/2006/relationships/slide" Target="/ppt/slides/slide4.xml" Id="R15bcb4e0730f4e61" /><Relationship Type="http://schemas.openxmlformats.org/officeDocument/2006/relationships/notesMaster" Target="/ppt/notesMasters/notesMaster1.xml" Id="R966694ba379142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4a72e9099b454769" /><Relationship Type="http://schemas.openxmlformats.org/officeDocument/2006/relationships/notesMaster" Target="/ppt/notesMasters/notesMaster1.xml" Id="Rf9ed865d8fd44e86" /></Relationships>
</file>

<file path=ppt/notesSlides/_rels/notesSlide6.xml.rels>&#65279;<?xml version="1.0" encoding="utf-8"?><Relationships xmlns="http://schemas.openxmlformats.org/package/2006/relationships"><Relationship Type="http://schemas.openxmlformats.org/officeDocument/2006/relationships/slide" Target="/ppt/slides/slide6.xml" Id="Rde14abd9d8b746d2" /><Relationship Type="http://schemas.openxmlformats.org/officeDocument/2006/relationships/notesMaster" Target="/ppt/notesMasters/notesMaster1.xml" Id="R12205650f95a4245" /></Relationships>
</file>

<file path=ppt/notesSlides/_rels/notesSlide7.xml.rels>&#65279;<?xml version="1.0" encoding="utf-8"?><Relationships xmlns="http://schemas.openxmlformats.org/package/2006/relationships"><Relationship Type="http://schemas.openxmlformats.org/officeDocument/2006/relationships/slide" Target="/ppt/slides/slide7.xml" Id="R5f952217d5ec417a" /><Relationship Type="http://schemas.openxmlformats.org/officeDocument/2006/relationships/notesMaster" Target="/ppt/notesMasters/notesMaster1.xml" Id="Rcd4ca32fecc740e8"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45e274a2674de1" /><Relationship Type="http://schemas.openxmlformats.org/officeDocument/2006/relationships/notesMaster" Target="/ppt/notesMasters/notesMaster1.xml" Id="R15b888f1c4fc4353" /></Relationships>
</file>

<file path=ppt/notesSlides/_rels/notesSlide9.xml.rels>&#65279;<?xml version="1.0" encoding="utf-8"?><Relationships xmlns="http://schemas.openxmlformats.org/package/2006/relationships"><Relationship Type="http://schemas.openxmlformats.org/officeDocument/2006/relationships/slide" Target="/ppt/slides/slide9.xml" Id="R987dae1f26294f0f" /><Relationship Type="http://schemas.openxmlformats.org/officeDocument/2006/relationships/notesMaster" Target="/ppt/notesMasters/notesMaster1.xml" Id="Rc801d67098e74a0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6714740dfff457c" /><Relationship Type="http://schemas.openxmlformats.org/officeDocument/2006/relationships/notesMaster" Target="/ppt/notesMasters/notesMaster1.xml" Id="Rad6f888c9f4b4a1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1bc107c0e0d40c0" /><Relationship Type="http://schemas.openxmlformats.org/officeDocument/2006/relationships/notesMaster" Target="/ppt/notesMasters/notesMaster1.xml" Id="Ra6f2296535db447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fd8f14874314c4e" /><Relationship Type="http://schemas.openxmlformats.org/officeDocument/2006/relationships/notesMaster" Target="/ppt/notesMasters/notesMaster1.xml" Id="R2c28da31459b4a9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72a212d448a423b" /><Relationship Type="http://schemas.openxmlformats.org/officeDocument/2006/relationships/notesMaster" Target="/ppt/notesMasters/notesMaster1.xml" Id="Rf213044199ba49b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1ce08c5473343c5" /><Relationship Type="http://schemas.openxmlformats.org/officeDocument/2006/relationships/notesMaster" Target="/ppt/notesMasters/notesMaster1.xml" Id="R9ace653b2d9f4a3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e32f3ab3671429d" /><Relationship Type="http://schemas.openxmlformats.org/officeDocument/2006/relationships/notesMaster" Target="/ppt/notesMasters/notesMaster1.xml" Id="R91efd6140c5c462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b0e48a1454c4886" /><Relationship Type="http://schemas.openxmlformats.org/officeDocument/2006/relationships/notesMaster" Target="/ppt/notesMasters/notesMaster1.xml" Id="R1522582d181a4c8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42cca8eaab04510" /><Relationship Type="http://schemas.openxmlformats.org/officeDocument/2006/relationships/notesMaster" Target="/ppt/notesMasters/notesMaster1.xml" Id="Rfc3d20252395400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b078274a9a846e7" /><Relationship Type="http://schemas.openxmlformats.org/officeDocument/2006/relationships/notesMaster" Target="/ppt/notesMasters/notesMaster1.xml" Id="R4d32058bcf6942a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cbe07ce74a64433" /><Relationship Type="http://schemas.openxmlformats.org/officeDocument/2006/relationships/notesMaster" Target="/ppt/notesMasters/notesMaster1.xml" Id="Rf3f942cbdcbb4ae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a40c7bc49e64275" /><Relationship Type="http://schemas.openxmlformats.org/officeDocument/2006/relationships/notesMaster" Target="/ppt/notesMasters/notesMaster1.xml" Id="R24b38ba5ae954df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3e373f7e4094818" /><Relationship Type="http://schemas.openxmlformats.org/officeDocument/2006/relationships/notesMaster" Target="/ppt/notesMasters/notesMaster1.xml" Id="R721ee6b684c4433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b8b45bdac8c460e" /><Relationship Type="http://schemas.openxmlformats.org/officeDocument/2006/relationships/notesMaster" Target="/ppt/notesMasters/notesMaster1.xml" Id="R1a31f8d757ed445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0605f9ae5ee4efd" /><Relationship Type="http://schemas.openxmlformats.org/officeDocument/2006/relationships/notesMaster" Target="/ppt/notesMasters/notesMaster1.xml" Id="R0f46b91a999640d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d3dff82155d4e80" /><Relationship Type="http://schemas.openxmlformats.org/officeDocument/2006/relationships/notesMaster" Target="/ppt/notesMasters/notesMaster1.xml" Id="Rd09858cb820b41d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9870f93689a4f6c" /><Relationship Type="http://schemas.openxmlformats.org/officeDocument/2006/relationships/notesMaster" Target="/ppt/notesMasters/notesMaster1.xml" Id="Rc28ffc9b416e429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c8ad7adad254bc5" /><Relationship Type="http://schemas.openxmlformats.org/officeDocument/2006/relationships/notesMaster" Target="/ppt/notesMasters/notesMaster1.xml" Id="R963d1d7880ff488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60d6ae2bf574587" /><Relationship Type="http://schemas.openxmlformats.org/officeDocument/2006/relationships/notesMaster" Target="/ppt/notesMasters/notesMaster1.xml" Id="Rca8022460454469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88f56d50b344d3a" /><Relationship Type="http://schemas.openxmlformats.org/officeDocument/2006/relationships/notesMaster" Target="/ppt/notesMasters/notesMaster1.xml" Id="Re95dfb4a30ac4a3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a61ce169a5f4361" /><Relationship Type="http://schemas.openxmlformats.org/officeDocument/2006/relationships/notesMaster" Target="/ppt/notesMasters/notesMaster1.xml" Id="R47f4238e191f4c9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c32326b3c0b40ac" /><Relationship Type="http://schemas.openxmlformats.org/officeDocument/2006/relationships/notesMaster" Target="/ppt/notesMasters/notesMaster1.xml" Id="R30b788600fa6414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4b3f011ef324e79" /><Relationship Type="http://schemas.openxmlformats.org/officeDocument/2006/relationships/notesMaster" Target="/ppt/notesMasters/notesMaster1.xml" Id="Rb77f08738d9c499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77cefae1ada4fff" /><Relationship Type="http://schemas.openxmlformats.org/officeDocument/2006/relationships/notesMaster" Target="/ppt/notesMasters/notesMaster1.xml" Id="R69d90fbad8f54bb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82da511dec84994" /><Relationship Type="http://schemas.openxmlformats.org/officeDocument/2006/relationships/notesMaster" Target="/ppt/notesMasters/notesMaster1.xml" Id="R14e17f6be48e418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555716f36ef41f4" /><Relationship Type="http://schemas.openxmlformats.org/officeDocument/2006/relationships/notesMaster" Target="/ppt/notesMasters/notesMaster1.xml" Id="R5d3430a7930a424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06261bf0e524761" /><Relationship Type="http://schemas.openxmlformats.org/officeDocument/2006/relationships/notesMaster" Target="/ppt/notesMasters/notesMaster1.xml" Id="Ree1950bc3159458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b66d59b42f34c5b" /><Relationship Type="http://schemas.openxmlformats.org/officeDocument/2006/relationships/notesMaster" Target="/ppt/notesMasters/notesMaster1.xml" Id="Rc65aca2fde1a48f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8bd9f9cc71449d1" /><Relationship Type="http://schemas.openxmlformats.org/officeDocument/2006/relationships/notesMaster" Target="/ppt/notesMasters/notesMaster1.xml" Id="R629ffaaef0c7460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8a43d08045a4404" /><Relationship Type="http://schemas.openxmlformats.org/officeDocument/2006/relationships/notesMaster" Target="/ppt/notesMasters/notesMaster1.xml" Id="Re45ccaec1cc4466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2614973e4764cc7" /><Relationship Type="http://schemas.openxmlformats.org/officeDocument/2006/relationships/notesMaster" Target="/ppt/notesMasters/notesMaster1.xml" Id="R75bcdb8966504e2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5a58e52df964d4e" /><Relationship Type="http://schemas.openxmlformats.org/officeDocument/2006/relationships/notesMaster" Target="/ppt/notesMasters/notesMaster1.xml" Id="Rcf9b22710fdf4c1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5f8edf7ee43b4569" /><Relationship Type="http://schemas.openxmlformats.org/officeDocument/2006/relationships/notesMaster" Target="/ppt/notesMasters/notesMaster1.xml" Id="Rc7844d58f51b49fe"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12f30aefd274182" /><Relationship Type="http://schemas.openxmlformats.org/officeDocument/2006/relationships/notesMaster" Target="/ppt/notesMasters/notesMaster1.xml" Id="R3ab812d8b7e347d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1fd71ba32ee4fbf" /><Relationship Type="http://schemas.openxmlformats.org/officeDocument/2006/relationships/notesMaster" Target="/ppt/notesMasters/notesMaster1.xml" Id="R704d8632bf03403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dd109a37b584504" /><Relationship Type="http://schemas.openxmlformats.org/officeDocument/2006/relationships/notesMaster" Target="/ppt/notesMasters/notesMaster1.xml" Id="R1794b9ebf9f542c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b04f96bf04c4b9c" /><Relationship Type="http://schemas.openxmlformats.org/officeDocument/2006/relationships/notesMaster" Target="/ppt/notesMasters/notesMaster1.xml" Id="R0cddf6bd795b40b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4c35c0f71cb47f8" /><Relationship Type="http://schemas.openxmlformats.org/officeDocument/2006/relationships/notesMaster" Target="/ppt/notesMasters/notesMaster1.xml" Id="R01966296544a45bb"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d632782f1b24baa" /><Relationship Type="http://schemas.openxmlformats.org/officeDocument/2006/relationships/notesMaster" Target="/ppt/notesMasters/notesMaster1.xml" Id="R0359e76c05244de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disposable rsn-test-vault for all first-use exercises. This tutorial includes manual installation on both devices, optional Obsidian Sync and a maintainer publication appendix.</a:t>
            </a:r>
          </a:p>
          <a:p xmlns:a="http://schemas.openxmlformats.org/drawingml/2006/main">
            <a:r>
              <a:t>Plugin behaviour: version 1.1.7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Plugin behaviour: version 1.1.7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example with mocked Obsidian APIs and generic habits. This is not an Ubuntu Obsidian screenshot.</a:t>
            </a:r>
          </a:p>
          <a:p xmlns:a="http://schemas.openxmlformats.org/drawingml/2006/main">
            <a:r>
              <a:t>Plugin behaviour: version 1.1.7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phone viewport with mocked Obsidian APIs. This is not an actual mobile app screenshot. Native device acceptance for 1.1.7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targets use the same plugin bundle. Latest means stable at testing time. Record exact device, OS and Obsidian versions. 1.1.1 was reported working on Ubuntu/Android. 1.1.7 native device acceptance remains pending. The manifest retains 1.7.2 as an API floor, not a tested-device claim. Official source: https://docs.obsidian.md/Plugins/Getting%20started/Build%20a%20plugin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The optional six-file manual kit is separate from Community release attachments.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Commands: gh attestation verify main.js --repo harharhari/rsn-habit-tracker-obsidian-plugin; repeat for manifest.json and styles.css. https://docs.github.com/en/actions/how-tos/secure-your-work/use-artifact-attestations/use-artifact-attestations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Place the three downloaded assets and the checksum file together. Expect three OK results. The optional manual kit has its own SHA256SUMS and five payloads. Stop on any mismatch.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complete command rsn habit calendar one b: Open current month. Calendar controls appear even when the habit list is empty. Restart after changing 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new installation starts with an empty editable habit table. Controls should appear even before calendars exist. The old Habit Calendar 001 must stay disabled when using the same data. Restart Obsidian after changing the manifest.</a:t>
            </a:r>
          </a:p>
          <a:p xmlns:a="http://schemas.openxmlformats.org/drawingml/2006/main">
            <a:r>
              <a:t>Official source: https://docs.obsidian.md/Plugins/Getting%20started/Build%20a%20plugin</a:t>
            </a:r>
          </a:p>
          <a:p xmlns:a="http://schemas.openxmlformats.org/drawingml/2006/main">
            <a:r>
              <a:t>Plugin behaviour: version 1.1.7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bundle supports all target platforms. Actual Mac acceptance remains pending. Use docs/PLATFORM-TESTING.md and record the exact OS and app versions.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location: Internal storage/Documents/Obsidian/rsn-test-vault. Actual names vary by phone. App-private storage is inaccessible to the ordinary manual file-copy workflow. Android may request file access for device storage. Do not uninstall Obsidian as an upgrade step.</a:t>
            </a:r>
          </a:p>
          <a:p xmlns:a="http://schemas.openxmlformats.org/drawingml/2006/main">
            <a:r>
              <a:t>Official source: https://obsidian.md/help/android</a:t>
            </a:r>
          </a:p>
          <a:p xmlns:a="http://schemas.openxmlformats.org/drawingml/2006/main">
            <a:r>
              <a:t>Plugin behaviour: version 1.1.7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Manual Android copying needs an accessible device-storage vault.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 command opens the interactive view. If the plugin is absent, check the selected vault, folder nesting, hidden configuration folder and filenames. If the version is old, replace the correct files and restart. If no habits exist, continue to the habit-list exercise.</a:t>
            </a:r>
          </a:p>
          <a:p xmlns:a="http://schemas.openxmlformats.org/drawingml/2006/main">
            <a:r>
              <a:t>Plugin behaviour: version 1.1.7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 separate optional paid service. The plugin does not provide sync. On every device configure Sync preferences separately. Official sources: https://help.obsidian.md/sync/settings and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an on-device local vault connected to Sync, not Store in iCloud. Verify the vault is linked to the same remote ID, not merely the same name. If a restart is needed, close and reopen the app without uninstalling it. Official sources: https://help.obsidian.md/ios and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separate Apple-only alternative. Do not add Obsidian Sync to the same vault. Keep downloaded where supported in Finder. Use the Obsidian app-created iCloud folder, not an unrelated folder with the same name. Official source: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Full path: .obsidian/plugins/rsn-habit-calendar-one-b/. The normal iOS Files app cannot reliably expose .obsidian; use Mac-assisted copying or Obsidian Sync.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Save before closing the editor. Yes clears all current-month marks. No preserves the displayed month while retaining the saved list for future months. See docs/TUTORIAL.md.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Details persists its month in the workspace. The main page has no other management buttons. Previous-month snapshot verification is available on Details. The plugin does not generate a Welcome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paths: Habit Tracker/Records, Habit Tracker/Statistics, Habit Tracker/System, Habit Tracker/habit-tracker-list.md and Habit Tracker/hex-color-list.md. CSS hides only matching explorer entries. No file moves, renames or deletions. This is presentation, not security. Verify native Obsidian/theme behavior; changed DOM may leave entries visible. See docs/RELEASE-NOTES-1.1.7.md.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docs/TUTORIAL.md. Native device tests are pending. The browser screenshot in the documentation uses mocked Obsidian APIs.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Yes clears all current-month marks and rebuilds enabled calendars. No leaves the new list saved and preserves current calendars. Previous months stay frozen. Save before closing the editor.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operation always targets the actual current month, even when Details shows a historical month. Previous months remain frozen.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Future dates are disabled. Previous months are read-only. No schedule runs in the background, and blank dates do not automatically become pink. Use the Statistics button to compare counts after restart.</a:t>
            </a:r>
          </a:p>
          <a:p xmlns:a="http://schemas.openxmlformats.org/drawingml/2006/main">
            <a:r>
              <a:t>Plugin behaviour: version 1.1.7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Colors must be #RRGGBB; blank, named, alpha and shorthand values are rejected. The chooser uses the vault reference, including custom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Save is explicit. Unsaved edits do not modify the file. A meaningful saved edit prompts immediately. A stale editor cannot overwrite a newer synced list. Previous months remain frozen.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6 green days after 10 days gives 60% for that habit. Opening Details from a historical month preserves that context for Statistics and Back to calendars.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 a list change declined in the previous month can be used for the next month. Default timezone is Asia/Kolkata in Habit Tracker/System/config.md. Keep it consistent across devices. There is no Android background scheduler. The optional Linux helper is documented in SETUP-AND-USAGE.md.</a:t>
            </a:r>
          </a:p>
          <a:p xmlns:a="http://schemas.openxmlformats.org/drawingml/2006/main">
            <a:r>
              <a:t>Plugin behaviour: version 1.1.7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portable controls avoid browser differences in input type month. A future month can be viewed, but future dates remain disabled. Historical views are read-only.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an optional paid service. Enable community plugin settings as well to transfer remembered plugin decisions. Configure sync preferences separately on each device. Keep local Sync vaults outside iCloud and other sync folders. Official source: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runtime uses revision-tagged records. Old-generation marks cannot resurrect data after a reset. Simultaneous resets can discard another revision, and late historical marks are excluded by design. Neither this plugin nor GitHub supplies a sync service.</a:t>
            </a:r>
          </a:p>
          <a:p xmlns:a="http://schemas.openxmlformats.org/drawingml/2006/main">
            <a:r>
              <a:t>Plugin behaviour: version 1.1.7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 plugin ID or data format change. Explorer hiding does not remove files or exclude them from sync. Earlier identity changes require the migration guide only for pre-1.1.3 installations.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Command IDs now use rsn-habit-calendar-one-b as prefix. Existing habit-calendar code blocks and the internal view type remain compatible. Do not activate both plugins because they share data and registrations. No record migration/reset is required. See docs/MIGRATION-1.1.3.md.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Configure Sync preferences separately on each device. Do not combine Sync and iCloud on one vault. Preserve Habit Tracker, and never accept a reset merely to resolve a sync problem. Optional Linux users must disable the old habit-calendar-001b.timer before enabling the renamed timer. Sources: docs/MIGRATION-1.1.3.md;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delete Habit Tracker or accept a reset to investigate a blank screen. To inspect Android errors, enable USB debugging and use Chrome chrome://inspect/ on the laptop. The official mobile-development page covers this workflow.</a:t>
            </a:r>
          </a:p>
          <a:p xmlns:a="http://schemas.openxmlformats.org/drawingml/2006/main">
            <a:r>
              <a:t>Official source: https://docs.obsidian.md/Plugins/Getting%20started/Mobile%20development</a:t>
            </a:r>
          </a:p>
          <a:p xmlns:a="http://schemas.openxmlformats.org/drawingml/2006/main">
            <a:r>
              <a:t>Plugin behaviour: version 1.1.7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docs/FILES-TO-PUSH.md, REVIEW-RESPONSE-1.1.7.md and GITHUB-AND-COMMUNITY-RELEASE.md. Main embeds the color reference. Do not upload private lists, vaults, node_modules or generated build folders.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sections B–D. Review accidentally uploaded generated/wrapper folders before removing duplicates. Preserve unique material and unrelated work. Do not commit the outer handoff folders. If 1.1.7 is already published, commit documentation updates without moving its tag or replacing binaries.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 E. Windows and macOS kits are also available. Do not mix files from different runs. Signed-in repository read access is needed. Artifacts expire (90 days by default); this is a testing route, not the primary permanent public download. The kit ZIP is not automatically attested. https://docs.github.com/en/actions/how-tos/manage-workflow-runs/download-workflow-artifacts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 F. Suggested separate repository name: harharhari/rsn-habit-tracker-downloads; it has not been created. Public visibility is needed for anonymous downloads. Keep corresponding GPL source available at an immutable tag/commit, identify author/license and test downloaded bytes. Do not register the downloads repository with Obsidian. https://docs.obsidian.md/plugins/releasing/submit-plugin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docs/VALIDATION.md for local evidence. Browser fixtures use mocked Obsidian APIs and representative explorer markup. Native device and theme testing remains pending. Check disable/re-enable restoration and unrelated folder visibility.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already accepted, do not submit a duplicate plugin. If still an initial draft, complete that existing submission. Follow current entry controls. https://docs.obsidian.md/plugins/releasing/submit-plugin and https://docs.obsidian.md/community-directory/faq</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Free/Pro/Team plans require a public repository for attestations; private needs Enterprise Cloud. The workflow requires contents:write, id-token:write and attestations:write only in its release job. Existing releases are not overwritten. See GITHUB-AND-COMMUNITY-RELEASE.md. https://docs.github.com/en/actions/how-tos/secure-your-work/use-artifact-attestations/use-artifact-attestations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Version 1.1.7. Official manifest/submission documentation checked 23 October 2026. Personal habit data is excluded. Generic examples only. Exact device versions and native acceptance remain to be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8927b8a64ab4c6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92421f931c54af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3da5ee114e0479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f4f28cf3dbf418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f9bdf29a7924c9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c5eba075ad04b2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404800-14F8-4587-9A24-E9199216D71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4362089-3C9C-4386-B29E-35E59636C28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5CD215D-C3B0-4BA5-822F-5D9887A2A8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B46F17-C6B0-4712-98AD-A0A88EEE90F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88BACA3-A7D0-4008-8236-FDD6D1ABA74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DDB70FA-3020-4954-8E61-0D9393968F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0AA129-1688-4CAD-8035-5EDCA73CCC4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37C9BF2-B336-49E3-B1CF-C40E762C9B7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9381EA-919E-4B0B-877E-B8774E4A68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8C233A3-5821-475E-8497-EE1A4BFC44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c18f4b098f84bbc" /><Relationship Type="http://schemas.openxmlformats.org/officeDocument/2006/relationships/slideLayout" Target="/ppt/slideLayouts/slideLayout1.xml" Id="R53feead4f2c24fb1" /><Relationship Type="http://schemas.openxmlformats.org/officeDocument/2006/relationships/slideLayout" Target="/ppt/slideLayouts/slideLayout2.xml" Id="R7660f3c2fff6481b" /><Relationship Type="http://schemas.openxmlformats.org/officeDocument/2006/relationships/slideLayout" Target="/ppt/slideLayouts/slideLayout3.xml" Id="R2d19486a068d4822" /><Relationship Type="http://schemas.openxmlformats.org/officeDocument/2006/relationships/slideLayout" Target="/ppt/slideLayouts/slideLayout4.xml" Id="Ra2a7fde2394b441c" /><Relationship Type="http://schemas.openxmlformats.org/officeDocument/2006/relationships/slideLayout" Target="/ppt/slideLayouts/slideLayout5.xml" Id="R9dae38e81d7740d8" /><Relationship Type="http://schemas.openxmlformats.org/officeDocument/2006/relationships/slideLayout" Target="/ppt/slideLayouts/slideLayout6.xml" Id="R6f5e64b86e404d3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3feead4f2c24fb1"/>
    <p:sldLayoutId xmlns:r="http://schemas.openxmlformats.org/officeDocument/2006/relationships" id="2147483650" r:id="R7660f3c2fff6481b"/>
    <p:sldLayoutId xmlns:r="http://schemas.openxmlformats.org/officeDocument/2006/relationships" id="2147483651" r:id="R2d19486a068d4822"/>
    <p:sldLayoutId xmlns:r="http://schemas.openxmlformats.org/officeDocument/2006/relationships" id="2147483652" r:id="Ra2a7fde2394b441c"/>
    <p:sldLayoutId xmlns:r="http://schemas.openxmlformats.org/officeDocument/2006/relationships" id="2147483653" r:id="R9dae38e81d7740d8"/>
    <p:sldLayoutId xmlns:r="http://schemas.openxmlformats.org/officeDocument/2006/relationships" id="2147483654" r:id="R6f5e64b86e404d3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4d36aa9994841ea" /><Relationship Type="http://schemas.openxmlformats.org/officeDocument/2006/relationships/notesSlide" Target="/ppt/notesSlides/notesSlide1.xml" Id="Re03c74561f34466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3dd04feea614350" /><Relationship Type="http://schemas.openxmlformats.org/officeDocument/2006/relationships/notesSlide" Target="/ppt/notesSlides/notesSlide2.xml" Id="Rf9a8ac2b36c84f2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25331be430a4111" /><Relationship Type="http://schemas.openxmlformats.org/officeDocument/2006/relationships/image" Target="/ppt/media/image.png" Id="Raf0d8eb249944aea" /><Relationship Type="http://schemas.openxmlformats.org/officeDocument/2006/relationships/notesSlide" Target="/ppt/notesSlides/notesSlide3.xml" Id="Rb5b45549795c4a8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ca0d0409b0648a0" /><Relationship Type="http://schemas.openxmlformats.org/officeDocument/2006/relationships/image" Target="/ppt/media/image2.png" Id="R99965a40d6b14424" /><Relationship Type="http://schemas.openxmlformats.org/officeDocument/2006/relationships/notesSlide" Target="/ppt/notesSlides/notesSlide4.xml" Id="R0f4ba7dec964439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3e5dc37dc6f4986" /><Relationship Type="http://schemas.openxmlformats.org/officeDocument/2006/relationships/notesSlide" Target="/ppt/notesSlides/notesSlide5.xml" Id="Rdeebdf37055247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c83af33eba44042" /><Relationship Type="http://schemas.openxmlformats.org/officeDocument/2006/relationships/notesSlide" Target="/ppt/notesSlides/notesSlide6.xml" Id="R174224768b3a45c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7fc75e287df4c18" /><Relationship Type="http://schemas.openxmlformats.org/officeDocument/2006/relationships/notesSlide" Target="/ppt/notesSlides/notesSlide7.xml" Id="R5035d06218e9427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df31b527c074818" /><Relationship Type="http://schemas.openxmlformats.org/officeDocument/2006/relationships/notesSlide" Target="/ppt/notesSlides/notesSlide8.xml" Id="R6484b9a0e01e423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0fd2535277f4743" /><Relationship Type="http://schemas.openxmlformats.org/officeDocument/2006/relationships/notesSlide" Target="/ppt/notesSlides/notesSlide9.xml" Id="R23f536755b43498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133bb703617483a" /><Relationship Type="http://schemas.openxmlformats.org/officeDocument/2006/relationships/notesSlide" Target="/ppt/notesSlides/notesSlide10.xml" Id="Ra2a3c8a120e8461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c8a8cd46eb432c" /><Relationship Type="http://schemas.openxmlformats.org/officeDocument/2006/relationships/notesSlide" Target="/ppt/notesSlides/notesSlide11.xml" Id="R9f2fe8d54647467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2934f7c261b433e" /><Relationship Type="http://schemas.openxmlformats.org/officeDocument/2006/relationships/notesSlide" Target="/ppt/notesSlides/notesSlide12.xml" Id="R5958e62dc9e54dc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02f048e46a84411" /><Relationship Type="http://schemas.openxmlformats.org/officeDocument/2006/relationships/notesSlide" Target="/ppt/notesSlides/notesSlide13.xml" Id="Re4a4907be40a4b7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674a891b550474b" /><Relationship Type="http://schemas.openxmlformats.org/officeDocument/2006/relationships/notesSlide" Target="/ppt/notesSlides/notesSlide14.xml" Id="R98746a76917b4a5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c9e0b31969a4d74" /><Relationship Type="http://schemas.openxmlformats.org/officeDocument/2006/relationships/notesSlide" Target="/ppt/notesSlides/notesSlide15.xml" Id="R0fffb83eb88240c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858594bc66e443e" /><Relationship Type="http://schemas.openxmlformats.org/officeDocument/2006/relationships/notesSlide" Target="/ppt/notesSlides/notesSlide16.xml" Id="R9560e11c76f6472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3758858a03a48d8" /><Relationship Type="http://schemas.openxmlformats.org/officeDocument/2006/relationships/notesSlide" Target="/ppt/notesSlides/notesSlide17.xml" Id="Re8329e7e169c4fb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b4eb5c1632d4c8d" /><Relationship Type="http://schemas.openxmlformats.org/officeDocument/2006/relationships/notesSlide" Target="/ppt/notesSlides/notesSlide18.xml" Id="Rd0e68050a439490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433fda4af9344a1" /><Relationship Type="http://schemas.openxmlformats.org/officeDocument/2006/relationships/notesSlide" Target="/ppt/notesSlides/notesSlide19.xml" Id="Rd736c466ae07460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d7ce94ed1664b63" /><Relationship Type="http://schemas.openxmlformats.org/officeDocument/2006/relationships/notesSlide" Target="/ppt/notesSlides/notesSlide20.xml" Id="R763c221b3256469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b7c12b873bd40ce" /><Relationship Type="http://schemas.openxmlformats.org/officeDocument/2006/relationships/notesSlide" Target="/ppt/notesSlides/notesSlide21.xml" Id="R0e5290f5b06f4cc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de8f746df164980" /><Relationship Type="http://schemas.openxmlformats.org/officeDocument/2006/relationships/notesSlide" Target="/ppt/notesSlides/notesSlide22.xml" Id="Ra06e2777679e4c9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878dcd0260c402d" /><Relationship Type="http://schemas.openxmlformats.org/officeDocument/2006/relationships/notesSlide" Target="/ppt/notesSlides/notesSlide23.xml" Id="Ra29d48fa63f3421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6831955e43b4ea3" /><Relationship Type="http://schemas.openxmlformats.org/officeDocument/2006/relationships/notesSlide" Target="/ppt/notesSlides/notesSlide24.xml" Id="R83dc609b6b58484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2bb8207b58d4d36" /><Relationship Type="http://schemas.openxmlformats.org/officeDocument/2006/relationships/notesSlide" Target="/ppt/notesSlides/notesSlide25.xml" Id="Rf95a4828b9314ef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163a65c62cb4de2" /><Relationship Type="http://schemas.openxmlformats.org/officeDocument/2006/relationships/notesSlide" Target="/ppt/notesSlides/notesSlide26.xml" Id="Rf4a14788c5294c8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09b6b321f4f4aae" /><Relationship Type="http://schemas.openxmlformats.org/officeDocument/2006/relationships/notesSlide" Target="/ppt/notesSlides/notesSlide27.xml" Id="R0335629ed27843d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17f6a924b82e4434" /><Relationship Type="http://schemas.openxmlformats.org/officeDocument/2006/relationships/notesSlide" Target="/ppt/notesSlides/notesSlide28.xml" Id="R74bbc82992dc442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26df410998640d8" /><Relationship Type="http://schemas.openxmlformats.org/officeDocument/2006/relationships/notesSlide" Target="/ppt/notesSlides/notesSlide29.xml" Id="R937b6653c5c944d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515df80c18f4e74" /><Relationship Type="http://schemas.openxmlformats.org/officeDocument/2006/relationships/notesSlide" Target="/ppt/notesSlides/notesSlide30.xml" Id="R8c9453ee6b8b4a2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a57caa885afa49ef" /><Relationship Type="http://schemas.openxmlformats.org/officeDocument/2006/relationships/notesSlide" Target="/ppt/notesSlides/notesSlide31.xml" Id="Ra16d9030cd014a7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0611c76c7504a36" /><Relationship Type="http://schemas.openxmlformats.org/officeDocument/2006/relationships/notesSlide" Target="/ppt/notesSlides/notesSlide32.xml" Id="Rcb97b73e4e0f460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41e47704f2c4f0a" /><Relationship Type="http://schemas.openxmlformats.org/officeDocument/2006/relationships/notesSlide" Target="/ppt/notesSlides/notesSlide33.xml" Id="R196cd9e6a71247b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0f03b91d8894377" /><Relationship Type="http://schemas.openxmlformats.org/officeDocument/2006/relationships/notesSlide" Target="/ppt/notesSlides/notesSlide34.xml" Id="R2801be5dd191489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08283acf46fb4413" /><Relationship Type="http://schemas.openxmlformats.org/officeDocument/2006/relationships/notesSlide" Target="/ppt/notesSlides/notesSlide35.xml" Id="Rec2d97acf972406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cae805e1d8b74f0e" /><Relationship Type="http://schemas.openxmlformats.org/officeDocument/2006/relationships/notesSlide" Target="/ppt/notesSlides/notesSlide36.xml" Id="R98327e4558294dc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3f33544bc9404221" /><Relationship Type="http://schemas.openxmlformats.org/officeDocument/2006/relationships/notesSlide" Target="/ppt/notesSlides/notesSlide37.xml" Id="R2b8554d5be69438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17b61d72dba4980" /><Relationship Type="http://schemas.openxmlformats.org/officeDocument/2006/relationships/notesSlide" Target="/ppt/notesSlides/notesSlide38.xml" Id="R164f3653f18d438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abb73ef481974ef7" /><Relationship Type="http://schemas.openxmlformats.org/officeDocument/2006/relationships/notesSlide" Target="/ppt/notesSlides/notesSlide39.xml" Id="R4f196ab238e3459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60691916d4c3400d" /><Relationship Type="http://schemas.openxmlformats.org/officeDocument/2006/relationships/notesSlide" Target="/ppt/notesSlides/notesSlide40.xml" Id="R75a09a1e9e2b43f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7b6bf2d08fc641c7" /><Relationship Type="http://schemas.openxmlformats.org/officeDocument/2006/relationships/notesSlide" Target="/ppt/notesSlides/notesSlide41.xml" Id="R53c1200ceef64cd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b9eeea7f4ca24eab" /><Relationship Type="http://schemas.openxmlformats.org/officeDocument/2006/relationships/notesSlide" Target="/ppt/notesSlides/notesSlide42.xml" Id="Ra2fc7098aee046ab"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b7ca9ed7e3743db" /><Relationship Type="http://schemas.openxmlformats.org/officeDocument/2006/relationships/notesSlide" Target="/ppt/notesSlides/notesSlide43.xml" Id="R439344d647d6409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fb46919c7fc64535" /><Relationship Type="http://schemas.openxmlformats.org/officeDocument/2006/relationships/notesSlide" Target="/ppt/notesSlides/notesSlide44.xml" Id="R3ec186e7375a470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3a360cc96dee49ce" /><Relationship Type="http://schemas.openxmlformats.org/officeDocument/2006/relationships/notesSlide" Target="/ppt/notesSlides/notesSlide45.xml" Id="R0351c83a4d60424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a63126a96df641cb" /><Relationship Type="http://schemas.openxmlformats.org/officeDocument/2006/relationships/notesSlide" Target="/ppt/notesSlides/notesSlide46.xml" Id="Rd3f980bb76bd44a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65b9241793d84703" /><Relationship Type="http://schemas.openxmlformats.org/officeDocument/2006/relationships/notesSlide" Target="/ppt/notesSlides/notesSlide47.xml" Id="Rd2832042fb194286" /></Relationships>
</file>

<file path=ppt/slides/slide1.xml><?xml version="1.0" encoding="utf-8"?>
<p:sld xmlns:p="http://schemas.openxmlformats.org/presentationml/2006/main">
  <p:cSld>
    <p:bg>
      <p:bgPr>
        <a:solidFill xmlns:a="http://schemas.openxmlformats.org/drawingml/2006/main">
          <a:srgbClr val="152D3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24BF73F-5E0B-4AA6-98DA-CC17C36539B1}"/>
              </a:ext>
            </a:extLst>
          </p:cNvPr>
          <p:cNvSpPr>
            <a:spLocks xmlns:a="http://schemas.openxmlformats.org/drawingml/2006/main" noGrp="1"/>
          </p:cNvSpPr>
          <p:nvPr/>
        </p:nvSpPr>
        <p:spPr>
          <a:xfrm xmlns:a="http://schemas.openxmlformats.org/drawingml/2006/main">
            <a:off x="762000" y="12858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FFFFFF"/>
                </a:solidFill>
                <a:latin typeface="DejaVu Sans"/>
                <a:ea typeface="DejaVu Sans"/>
                <a:cs typeface="DejaVu Sans"/>
              </a:defRPr>
            </a:defPPr>
            <a:lvl1pPr>
              <a:buNone/>
              <a:defRPr sz="4800" b="1">
                <a:solidFill>
                  <a:srgbClr val="FFFFFF"/>
                </a:solidFill>
                <a:latin typeface="DejaVu Sans"/>
                <a:ea typeface="DejaVu Sans"/>
                <a:cs typeface="DejaVu Sans"/>
              </a:defRPr>
            </a:lvl1pPr>
            <a:lvl2pPr>
              <a:buNone/>
              <a:defRPr sz="4800" b="1">
                <a:solidFill>
                  <a:srgbClr val="FFFFFF"/>
                </a:solidFill>
                <a:latin typeface="DejaVu Sans"/>
                <a:ea typeface="DejaVu Sans"/>
                <a:cs typeface="DejaVu Sans"/>
              </a:defRPr>
            </a:lvl2pPr>
            <a:lvl3pPr>
              <a:buNone/>
              <a:defRPr sz="4800" b="1">
                <a:solidFill>
                  <a:srgbClr val="FFFFFF"/>
                </a:solidFill>
                <a:latin typeface="DejaVu Sans"/>
                <a:ea typeface="DejaVu Sans"/>
                <a:cs typeface="DejaVu Sans"/>
              </a:defRPr>
            </a:lvl3pPr>
            <a:lvl4pPr>
              <a:buNone/>
              <a:defRPr sz="4800" b="1">
                <a:solidFill>
                  <a:srgbClr val="FFFFFF"/>
                </a:solidFill>
                <a:latin typeface="DejaVu Sans"/>
                <a:ea typeface="DejaVu Sans"/>
                <a:cs typeface="DejaVu Sans"/>
              </a:defRPr>
            </a:lvl4pPr>
            <a:lvl5pPr>
              <a:buNone/>
              <a:defRPr sz="4800" b="1">
                <a:solidFill>
                  <a:srgbClr val="FFFFFF"/>
                </a:solidFill>
                <a:latin typeface="DejaVu Sans"/>
                <a:ea typeface="DejaVu Sans"/>
                <a:cs typeface="DejaVu Sans"/>
              </a:defRPr>
            </a:lvl5pPr>
            <a:lvl6pPr>
              <a:buNone/>
              <a:defRPr sz="4800" b="1">
                <a:solidFill>
                  <a:srgbClr val="FFFFFF"/>
                </a:solidFill>
                <a:latin typeface="DejaVu Sans"/>
                <a:ea typeface="DejaVu Sans"/>
                <a:cs typeface="DejaVu Sans"/>
              </a:defRPr>
            </a:lvl6pPr>
            <a:lvl7pPr>
              <a:buNone/>
              <a:defRPr sz="4800" b="1">
                <a:solidFill>
                  <a:srgbClr val="FFFFFF"/>
                </a:solidFill>
                <a:latin typeface="DejaVu Sans"/>
                <a:ea typeface="DejaVu Sans"/>
                <a:cs typeface="DejaVu Sans"/>
              </a:defRPr>
            </a:lvl7pPr>
            <a:lvl8pPr>
              <a:buNone/>
              <a:defRPr sz="4800" b="1">
                <a:solidFill>
                  <a:srgbClr val="FFFFFF"/>
                </a:solidFill>
                <a:latin typeface="DejaVu Sans"/>
                <a:ea typeface="DejaVu Sans"/>
                <a:cs typeface="DejaVu Sans"/>
              </a:defRPr>
            </a:lvl8pPr>
            <a:lvl9pPr>
              <a:buNone/>
              <a:defRPr sz="4800" b="1">
                <a:solidFill>
                  <a:srgbClr val="FFFFFF"/>
                </a:solidFill>
                <a:latin typeface="DejaVu Sans"/>
                <a:ea typeface="DejaVu Sans"/>
                <a:cs typeface="DejaVu Sans"/>
              </a:defRPr>
            </a:lvl9pPr>
          </a:lstStyle>
          <a:p xmlns:a="http://schemas.openxmlformats.org/drawingml/2006/main">
            <a:pPr>
              <a:buNone/>
              <a:defRPr sz="4800" b="1">
                <a:solidFill>
                  <a:srgbClr val="FFFFFF"/>
                </a:solidFill>
                <a:latin typeface="DejaVu Sans"/>
                <a:ea typeface="DejaVu Sans"/>
                <a:cs typeface="DejaVu Sans"/>
              </a:defRPr>
            </a:pPr>
            <a:r>
              <a:rPr sz="4800" b="1">
                <a:solidFill>
                  <a:srgbClr val="FFFFFF"/>
                </a:solidFill>
                <a:latin typeface="DejaVu Sans"/>
                <a:ea typeface="DejaVu Sans"/>
                <a:cs typeface="DejaVu Sans"/>
              </a:rPr>
              <a:t>rsn habit calendar one b</a:t>
            </a:r>
          </a:p>
        </p:txBody>
      </p:sp>
      <p:sp>
        <p:nvSpPr>
          <p:cNvPr id="2" name="">
            <a:extLst xmlns:a="http://schemas.openxmlformats.org/drawingml/2006/main">
              <a:ext uri="{FF2B5EF4-FFF2-40B4-BE49-F238E27FC236}">
                <a16:creationId xmlns:a16="http://schemas.microsoft.com/office/drawing/2014/main" id="{933A0A32-7F46-4C68-A646-BCE58B332760}"/>
              </a:ext>
            </a:extLst>
          </p:cNvPr>
          <p:cNvSpPr>
            <a:spLocks xmlns:a="http://schemas.openxmlformats.org/drawingml/2006/main" noGrp="1"/>
          </p:cNvSpPr>
          <p:nvPr/>
        </p:nvSpPr>
        <p:spPr>
          <a:xfrm xmlns:a="http://schemas.openxmlformats.org/drawingml/2006/main">
            <a:off x="800100" y="30480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Windows, Ubuntu and Mac</a:t>
            </a:r>
          </a:p>
        </p:txBody>
      </p:sp>
      <p:sp>
        <p:nvSpPr>
          <p:cNvPr id="3" name="">
            <a:extLst xmlns:a="http://schemas.openxmlformats.org/drawingml/2006/main">
              <a:ext uri="{FF2B5EF4-FFF2-40B4-BE49-F238E27FC236}">
                <a16:creationId xmlns:a16="http://schemas.microsoft.com/office/drawing/2014/main" id="{FF44A16E-BFFF-4E8D-AFE6-BC96ECE52EFD}"/>
              </a:ext>
            </a:extLst>
          </p:cNvPr>
          <p:cNvSpPr>
            <a:spLocks xmlns:a="http://schemas.openxmlformats.org/drawingml/2006/main" noGrp="1"/>
          </p:cNvSpPr>
          <p:nvPr/>
        </p:nvSpPr>
        <p:spPr>
          <a:xfrm xmlns:a="http://schemas.openxmlformats.org/drawingml/2006/main">
            <a:off x="800100" y="37338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Android, iPhone and iPad</a:t>
            </a:r>
          </a:p>
        </p:txBody>
      </p:sp>
      <p:sp>
        <p:nvSpPr>
          <p:cNvPr id="4" name="">
            <a:extLst xmlns:a="http://schemas.openxmlformats.org/drawingml/2006/main">
              <a:ext uri="{FF2B5EF4-FFF2-40B4-BE49-F238E27FC236}">
                <a16:creationId xmlns:a16="http://schemas.microsoft.com/office/drawing/2014/main" id="{9EF10168-D5B3-428C-A799-F3B62A09379C}"/>
              </a:ext>
            </a:extLst>
          </p:cNvPr>
          <p:cNvSpPr>
            <a:spLocks xmlns:a="http://schemas.openxmlformats.org/drawingml/2006/main" noGrp="1"/>
          </p:cNvSpPr>
          <p:nvPr/>
        </p:nvSpPr>
        <p:spPr>
          <a:xfrm xmlns:a="http://schemas.openxmlformats.org/drawingml/2006/main">
            <a:off x="800100" y="44196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A8CFBE"/>
                </a:solidFill>
                <a:latin typeface="DejaVu Sans"/>
                <a:ea typeface="DejaVu Sans"/>
                <a:cs typeface="DejaVu Sans"/>
              </a:defRPr>
            </a:defPPr>
            <a:lvl1pPr>
              <a:buNone/>
              <a:defRPr sz="2250" b="0">
                <a:solidFill>
                  <a:srgbClr val="A8CFBE"/>
                </a:solidFill>
                <a:latin typeface="DejaVu Sans"/>
                <a:ea typeface="DejaVu Sans"/>
                <a:cs typeface="DejaVu Sans"/>
              </a:defRPr>
            </a:lvl1pPr>
            <a:lvl2pPr>
              <a:buNone/>
              <a:defRPr sz="2250" b="0">
                <a:solidFill>
                  <a:srgbClr val="A8CFBE"/>
                </a:solidFill>
                <a:latin typeface="DejaVu Sans"/>
                <a:ea typeface="DejaVu Sans"/>
                <a:cs typeface="DejaVu Sans"/>
              </a:defRPr>
            </a:lvl2pPr>
            <a:lvl3pPr>
              <a:buNone/>
              <a:defRPr sz="2250" b="0">
                <a:solidFill>
                  <a:srgbClr val="A8CFBE"/>
                </a:solidFill>
                <a:latin typeface="DejaVu Sans"/>
                <a:ea typeface="DejaVu Sans"/>
                <a:cs typeface="DejaVu Sans"/>
              </a:defRPr>
            </a:lvl3pPr>
            <a:lvl4pPr>
              <a:buNone/>
              <a:defRPr sz="2250" b="0">
                <a:solidFill>
                  <a:srgbClr val="A8CFBE"/>
                </a:solidFill>
                <a:latin typeface="DejaVu Sans"/>
                <a:ea typeface="DejaVu Sans"/>
                <a:cs typeface="DejaVu Sans"/>
              </a:defRPr>
            </a:lvl4pPr>
            <a:lvl5pPr>
              <a:buNone/>
              <a:defRPr sz="2250" b="0">
                <a:solidFill>
                  <a:srgbClr val="A8CFBE"/>
                </a:solidFill>
                <a:latin typeface="DejaVu Sans"/>
                <a:ea typeface="DejaVu Sans"/>
                <a:cs typeface="DejaVu Sans"/>
              </a:defRPr>
            </a:lvl5pPr>
            <a:lvl6pPr>
              <a:buNone/>
              <a:defRPr sz="2250" b="0">
                <a:solidFill>
                  <a:srgbClr val="A8CFBE"/>
                </a:solidFill>
                <a:latin typeface="DejaVu Sans"/>
                <a:ea typeface="DejaVu Sans"/>
                <a:cs typeface="DejaVu Sans"/>
              </a:defRPr>
            </a:lvl6pPr>
            <a:lvl7pPr>
              <a:buNone/>
              <a:defRPr sz="2250" b="0">
                <a:solidFill>
                  <a:srgbClr val="A8CFBE"/>
                </a:solidFill>
                <a:latin typeface="DejaVu Sans"/>
                <a:ea typeface="DejaVu Sans"/>
                <a:cs typeface="DejaVu Sans"/>
              </a:defRPr>
            </a:lvl7pPr>
            <a:lvl8pPr>
              <a:buNone/>
              <a:defRPr sz="2250" b="0">
                <a:solidFill>
                  <a:srgbClr val="A8CFBE"/>
                </a:solidFill>
                <a:latin typeface="DejaVu Sans"/>
                <a:ea typeface="DejaVu Sans"/>
                <a:cs typeface="DejaVu Sans"/>
              </a:defRPr>
            </a:lvl8pPr>
            <a:lvl9pPr>
              <a:buNone/>
              <a:defRPr sz="2250" b="0">
                <a:solidFill>
                  <a:srgbClr val="A8CFBE"/>
                </a:solidFill>
                <a:latin typeface="DejaVu Sans"/>
                <a:ea typeface="DejaVu Sans"/>
                <a:cs typeface="DejaVu Sans"/>
              </a:defRPr>
            </a:lvl9pPr>
          </a:lstStyle>
          <a:p xmlns:a="http://schemas.openxmlformats.org/drawingml/2006/main">
            <a:pPr>
              <a:buNone/>
              <a:defRPr sz="2250" b="0">
                <a:solidFill>
                  <a:srgbClr val="A8CFBE"/>
                </a:solidFill>
                <a:latin typeface="DejaVu Sans"/>
                <a:ea typeface="DejaVu Sans"/>
                <a:cs typeface="DejaVu Sans"/>
              </a:defRPr>
            </a:pPr>
            <a:r>
              <a:rPr sz="2250" b="0">
                <a:solidFill>
                  <a:srgbClr val="A8CFBE"/>
                </a:solidFill>
                <a:latin typeface="DejaVu Sans"/>
                <a:ea typeface="DejaVu Sans"/>
                <a:cs typeface="DejaVu Sans"/>
              </a:rPr>
              <a:t>Version 1.1.7 · harharhari · GPL-3.0-only</a:t>
            </a:r>
          </a:p>
        </p:txBody>
      </p:sp>
    </p:spTree>
    <p:extLst>
      <p:ext uri="{BB962C8B-B14F-4D97-AF65-F5344CB8AC3E}">
        <p14:creationId xmlns:p14="http://schemas.microsoft.com/office/powerpoint/2010/main" val="1331259362"/>
      </p:ext>
    </p:extLst>
  </p:cSld>
</p:sld>
</file>

<file path=ppt/slides/slide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198D6A-A653-4026-9CAD-00C06D1E9745}"/>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monthly calendar</a:t>
            </a:r>
          </a:p>
        </p:txBody>
      </p:sp>
      <p:sp>
        <p:nvSpPr>
          <p:cNvPr id="2" name="">
            <a:extLst xmlns:a="http://schemas.openxmlformats.org/drawingml/2006/main">
              <a:ext uri="{FF2B5EF4-FFF2-40B4-BE49-F238E27FC236}">
                <a16:creationId xmlns:a16="http://schemas.microsoft.com/office/drawing/2014/main" id="{C12A7BB9-52E4-4A8C-B455-4C412B13372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named calendar for every enabled habit.</a:t>
            </a:r>
          </a:p>
        </p:txBody>
      </p:sp>
      <p:sp>
        <p:nvSpPr>
          <p:cNvPr id="3" name="">
            <a:extLst xmlns:a="http://schemas.openxmlformats.org/drawingml/2006/main">
              <a:ext uri="{FF2B5EF4-FFF2-40B4-BE49-F238E27FC236}">
                <a16:creationId xmlns:a16="http://schemas.microsoft.com/office/drawing/2014/main" id="{BE126F11-FA07-46D8-B047-E36EA90E7B4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Monday starts the week. Earlier dates in the current month remain editable.</a:t>
            </a:r>
          </a:p>
        </p:txBody>
      </p:sp>
      <p:sp>
        <p:nvSpPr>
          <p:cNvPr id="4" name="">
            <a:extLst xmlns:a="http://schemas.openxmlformats.org/drawingml/2006/main">
              <a:ext uri="{FF2B5EF4-FFF2-40B4-BE49-F238E27FC236}">
                <a16:creationId xmlns:a16="http://schemas.microsoft.com/office/drawing/2014/main" id="{FB406436-5FAD-4AFE-BDA8-AE431D91A5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Click or tap a date to cycle unmarked, green, pink, then unmarked.</a:t>
            </a:r>
          </a:p>
        </p:txBody>
      </p:sp>
      <p:sp>
        <p:nvSpPr>
          <p:cNvPr id="5" name="">
            <a:extLst xmlns:a="http://schemas.openxmlformats.org/drawingml/2006/main">
              <a:ext uri="{FF2B5EF4-FFF2-40B4-BE49-F238E27FC236}">
                <a16:creationId xmlns:a16="http://schemas.microsoft.com/office/drawing/2014/main" id="{55539EB7-6081-46AD-B965-FE0B5A45A7FB}"/>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Schedules are not part of this version. You choose every mark manually.</a:t>
            </a:r>
          </a:p>
        </p:txBody>
      </p:sp>
      <p:sp>
        <p:nvSpPr>
          <p:cNvPr id="6" name="">
            <a:extLst xmlns:a="http://schemas.openxmlformats.org/drawingml/2006/main">
              <a:ext uri="{FF2B5EF4-FFF2-40B4-BE49-F238E27FC236}">
                <a16:creationId xmlns:a16="http://schemas.microsoft.com/office/drawing/2014/main" id="{5402BC51-3A7A-49AA-8F71-40ACCDAAFE1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EDE99E28-48DC-4942-ADB3-D884ECC8635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02</a:t>
            </a:r>
          </a:p>
        </p:txBody>
      </p:sp>
    </p:spTree>
    <p:extLst>
      <p:ext uri="{BB962C8B-B14F-4D97-AF65-F5344CB8AC3E}">
        <p14:creationId xmlns:p14="http://schemas.microsoft.com/office/powerpoint/2010/main" val="2147455251"/>
      </p:ext>
    </p:extLst>
  </p:cSld>
</p:sld>
</file>

<file path=ppt/slides/slide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FC0EE3-27D7-436D-A88E-F9EDBFD6E74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Desktop layout</a:t>
            </a:r>
          </a:p>
        </p:txBody>
      </p:sp>
      <p:pic>
        <p:nvPicPr>
          <p:cNvPr id="2" name="">
            <a:extLst xmlns:a="http://schemas.openxmlformats.org/drawingml/2006/main">
              <a:ext uri="{FF2B5EF4-FFF2-40B4-BE49-F238E27FC236}">
                <a16:creationId xmlns:a16="http://schemas.microsoft.com/office/drawing/2014/main" id="{4645CE52-15AF-4419-9101-A744426E94D5}"/>
              </a:ext>
            </a:extLst>
          </p:cNvPr>
          <p:cNvPicPr>
            <a:picLocks xmlns:a="http://schemas.openxmlformats.org/drawingml/2006/main" noChangeAspect="1"/>
          </p:cNvPicPr>
          <p:nvPr/>
        </p:nvPicPr>
        <p:blipFill>
          <a:blip xmlns:r="http://schemas.openxmlformats.org/officeDocument/2006/relationships" xmlns:a="http://schemas.openxmlformats.org/drawingml/2006/main" r:embed="Raf0d8eb249944aea"/>
          <a:stretch xmlns:a="http://schemas.openxmlformats.org/drawingml/2006/main"/>
        </p:blipFill>
        <p:spPr>
          <a:xfrm xmlns:a="http://schemas.openxmlformats.org/drawingml/2006/main">
            <a:off x="672465" y="1447800"/>
            <a:ext cx="7284720" cy="45529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07D64A1-AF53-4E4D-A9E2-679C2B87D1F5}"/>
              </a:ext>
            </a:extLst>
          </p:cNvPr>
          <p:cNvSpPr>
            <a:spLocks xmlns:a="http://schemas.openxmlformats.org/drawingml/2006/main" noGrp="1"/>
          </p:cNvSpPr>
          <p:nvPr/>
        </p:nvSpPr>
        <p:spPr>
          <a:xfrm xmlns:a="http://schemas.openxmlformats.org/drawingml/2006/main">
            <a:off x="8477250" y="161925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Wide desktop views show six calendars per row.</a:t>
            </a:r>
          </a:p>
        </p:txBody>
      </p:sp>
      <p:sp>
        <p:nvSpPr>
          <p:cNvPr id="4" name="">
            <a:extLst xmlns:a="http://schemas.openxmlformats.org/drawingml/2006/main">
              <a:ext uri="{FF2B5EF4-FFF2-40B4-BE49-F238E27FC236}">
                <a16:creationId xmlns:a16="http://schemas.microsoft.com/office/drawing/2014/main" id="{F3810FD8-7B34-4E31-9A14-66D4D4AE929E}"/>
              </a:ext>
            </a:extLst>
          </p:cNvPr>
          <p:cNvSpPr>
            <a:spLocks xmlns:a="http://schemas.openxmlformats.org/drawingml/2006/main" noGrp="1"/>
          </p:cNvSpPr>
          <p:nvPr/>
        </p:nvSpPr>
        <p:spPr>
          <a:xfrm xmlns:a="http://schemas.openxmlformats.org/drawingml/2006/main">
            <a:off x="8477250" y="2809875"/>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Search filters the visible habit names.</a:t>
            </a:r>
          </a:p>
        </p:txBody>
      </p:sp>
      <p:sp>
        <p:nvSpPr>
          <p:cNvPr id="5" name="">
            <a:extLst xmlns:a="http://schemas.openxmlformats.org/drawingml/2006/main">
              <a:ext uri="{FF2B5EF4-FFF2-40B4-BE49-F238E27FC236}">
                <a16:creationId xmlns:a16="http://schemas.microsoft.com/office/drawing/2014/main" id="{0B7C7E43-29F1-4FEC-8249-C658FCFF8940}"/>
              </a:ext>
            </a:extLst>
          </p:cNvPr>
          <p:cNvSpPr>
            <a:spLocks xmlns:a="http://schemas.openxmlformats.org/drawingml/2006/main" noGrp="1"/>
          </p:cNvSpPr>
          <p:nvPr/>
        </p:nvSpPr>
        <p:spPr>
          <a:xfrm xmlns:a="http://schemas.openxmlformats.org/drawingml/2006/main">
            <a:off x="8477250" y="400050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Previous, Choose month and Next open monthly views.</a:t>
            </a:r>
          </a:p>
        </p:txBody>
      </p:sp>
      <p:sp>
        <p:nvSpPr>
          <p:cNvPr id="6" name="">
            <a:extLst xmlns:a="http://schemas.openxmlformats.org/drawingml/2006/main">
              <a:ext uri="{FF2B5EF4-FFF2-40B4-BE49-F238E27FC236}">
                <a16:creationId xmlns:a16="http://schemas.microsoft.com/office/drawing/2014/main" id="{4A31345D-852E-43D3-BFDE-C2D76552C2F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7" name="">
            <a:extLst xmlns:a="http://schemas.openxmlformats.org/drawingml/2006/main">
              <a:ext uri="{FF2B5EF4-FFF2-40B4-BE49-F238E27FC236}">
                <a16:creationId xmlns:a16="http://schemas.microsoft.com/office/drawing/2014/main" id="{848B168D-B283-40A3-8097-78940FD5F862}"/>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03</a:t>
            </a:r>
          </a:p>
        </p:txBody>
      </p:sp>
    </p:spTree>
    <p:extLst>
      <p:ext uri="{BB962C8B-B14F-4D97-AF65-F5344CB8AC3E}">
        <p14:creationId xmlns:p14="http://schemas.microsoft.com/office/powerpoint/2010/main" val="913623309"/>
      </p:ext>
    </p:extLst>
  </p:cSld>
</p:sld>
</file>

<file path=ppt/slides/slide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3B0DB2-A314-4CF0-B73D-F6C0BB21C70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Phone and tablet layout</a:t>
            </a:r>
          </a:p>
        </p:txBody>
      </p:sp>
      <p:pic>
        <p:nvPicPr>
          <p:cNvPr id="2" name="">
            <a:extLst xmlns:a="http://schemas.openxmlformats.org/drawingml/2006/main">
              <a:ext uri="{FF2B5EF4-FFF2-40B4-BE49-F238E27FC236}">
                <a16:creationId xmlns:a16="http://schemas.microsoft.com/office/drawing/2014/main" id="{6B561AF1-B24F-4736-8D86-191ADC848A19}"/>
              </a:ext>
            </a:extLst>
          </p:cNvPr>
          <p:cNvPicPr>
            <a:picLocks xmlns:a="http://schemas.openxmlformats.org/drawingml/2006/main" noChangeAspect="1"/>
          </p:cNvPicPr>
          <p:nvPr/>
        </p:nvPicPr>
        <p:blipFill>
          <a:blip xmlns:r="http://schemas.openxmlformats.org/officeDocument/2006/relationships" xmlns:a="http://schemas.openxmlformats.org/drawingml/2006/main" r:embed="R99965a40d6b14424"/>
          <a:stretch xmlns:a="http://schemas.openxmlformats.org/drawingml/2006/main"/>
        </p:blipFill>
        <p:spPr>
          <a:xfrm xmlns:a="http://schemas.openxmlformats.org/drawingml/2006/main">
            <a:off x="8403322" y="1371600"/>
            <a:ext cx="2243356" cy="48577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3F1FAFA-C9F9-4E6F-A429-C4045041896A}"/>
              </a:ext>
            </a:extLst>
          </p:cNvPr>
          <p:cNvSpPr>
            <a:spLocks xmlns:a="http://schemas.openxmlformats.org/drawingml/2006/main" noGrp="1"/>
          </p:cNvSpPr>
          <p:nvPr/>
        </p:nvSpPr>
        <p:spPr>
          <a:xfrm xmlns:a="http://schemas.openxmlformats.org/drawingml/2006/main">
            <a:off x="647700" y="16573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calendar per row.</a:t>
            </a:r>
          </a:p>
        </p:txBody>
      </p:sp>
      <p:sp>
        <p:nvSpPr>
          <p:cNvPr id="4" name="">
            <a:extLst xmlns:a="http://schemas.openxmlformats.org/drawingml/2006/main">
              <a:ext uri="{FF2B5EF4-FFF2-40B4-BE49-F238E27FC236}">
                <a16:creationId xmlns:a16="http://schemas.microsoft.com/office/drawing/2014/main" id="{F36E2888-7A87-42FE-BBC0-6915D1C9EC81}"/>
              </a:ext>
            </a:extLst>
          </p:cNvPr>
          <p:cNvSpPr>
            <a:spLocks xmlns:a="http://schemas.openxmlformats.org/drawingml/2006/main" noGrp="1"/>
          </p:cNvSpPr>
          <p:nvPr/>
        </p:nvSpPr>
        <p:spPr>
          <a:xfrm xmlns:a="http://schemas.openxmlformats.org/drawingml/2006/main">
            <a:off x="647700" y="27051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Includes iPad in landscape.</a:t>
            </a:r>
          </a:p>
        </p:txBody>
      </p:sp>
      <p:sp>
        <p:nvSpPr>
          <p:cNvPr id="5" name="">
            <a:extLst xmlns:a="http://schemas.openxmlformats.org/drawingml/2006/main">
              <a:ext uri="{FF2B5EF4-FFF2-40B4-BE49-F238E27FC236}">
                <a16:creationId xmlns:a16="http://schemas.microsoft.com/office/drawing/2014/main" id="{D3289F8D-BAF7-48AE-831A-E01AA175BC00}"/>
              </a:ext>
            </a:extLst>
          </p:cNvPr>
          <p:cNvSpPr>
            <a:spLocks xmlns:a="http://schemas.openxmlformats.org/drawingml/2006/main" noGrp="1"/>
          </p:cNvSpPr>
          <p:nvPr/>
        </p:nvSpPr>
        <p:spPr>
          <a:xfrm xmlns:a="http://schemas.openxmlformats.org/drawingml/2006/main">
            <a:off x="647700" y="37528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day to change its mark.</a:t>
            </a:r>
          </a:p>
        </p:txBody>
      </p:sp>
      <p:sp>
        <p:nvSpPr>
          <p:cNvPr id="6" name="">
            <a:extLst xmlns:a="http://schemas.openxmlformats.org/drawingml/2006/main">
              <a:ext uri="{FF2B5EF4-FFF2-40B4-BE49-F238E27FC236}">
                <a16:creationId xmlns:a16="http://schemas.microsoft.com/office/drawing/2014/main" id="{CD95C8E3-4D03-4B6F-90C8-688C991443DD}"/>
              </a:ext>
            </a:extLst>
          </p:cNvPr>
          <p:cNvSpPr>
            <a:spLocks xmlns:a="http://schemas.openxmlformats.org/drawingml/2006/main" noGrp="1"/>
          </p:cNvSpPr>
          <p:nvPr/>
        </p:nvSpPr>
        <p:spPr>
          <a:xfrm xmlns:a="http://schemas.openxmlformats.org/drawingml/2006/main">
            <a:off x="647700" y="48006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Scroll vertically through all habits.</a:t>
            </a:r>
          </a:p>
        </p:txBody>
      </p:sp>
      <p:sp>
        <p:nvSpPr>
          <p:cNvPr id="7" name="">
            <a:extLst xmlns:a="http://schemas.openxmlformats.org/drawingml/2006/main">
              <a:ext uri="{FF2B5EF4-FFF2-40B4-BE49-F238E27FC236}">
                <a16:creationId xmlns:a16="http://schemas.microsoft.com/office/drawing/2014/main" id="{7A779D75-4030-4E75-A622-6175C81389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8" name="">
            <a:extLst xmlns:a="http://schemas.openxmlformats.org/drawingml/2006/main">
              <a:ext uri="{FF2B5EF4-FFF2-40B4-BE49-F238E27FC236}">
                <a16:creationId xmlns:a16="http://schemas.microsoft.com/office/drawing/2014/main" id="{61E96537-A482-4522-93FD-71FCAC05E53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04</a:t>
            </a:r>
          </a:p>
        </p:txBody>
      </p:sp>
    </p:spTree>
    <p:extLst>
      <p:ext uri="{BB962C8B-B14F-4D97-AF65-F5344CB8AC3E}">
        <p14:creationId xmlns:p14="http://schemas.microsoft.com/office/powerpoint/2010/main" val="2017110114"/>
      </p:ext>
    </p:extLst>
  </p:cSld>
</p:sld>
</file>

<file path=ppt/slides/slide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1BA218-737E-49D7-AC64-CEB86BA7803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Requirements and test vault</a:t>
            </a:r>
          </a:p>
        </p:txBody>
      </p:sp>
      <p:sp>
        <p:nvSpPr>
          <p:cNvPr id="2" name="">
            <a:extLst xmlns:a="http://schemas.openxmlformats.org/drawingml/2006/main">
              <a:ext uri="{FF2B5EF4-FFF2-40B4-BE49-F238E27FC236}">
                <a16:creationId xmlns:a16="http://schemas.microsoft.com/office/drawing/2014/main" id="{049C8C91-9E9E-4E44-91B3-F3F18CB7211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Install Obsidian and create rsn-test-vault for first-use exercises.</a:t>
            </a:r>
          </a:p>
        </p:txBody>
      </p:sp>
      <p:sp>
        <p:nvSpPr>
          <p:cNvPr id="3" name="">
            <a:extLst xmlns:a="http://schemas.openxmlformats.org/drawingml/2006/main">
              <a:ext uri="{FF2B5EF4-FFF2-40B4-BE49-F238E27FC236}">
                <a16:creationId xmlns:a16="http://schemas.microsoft.com/office/drawing/2014/main" id="{A85EF0AF-1B64-4CAB-9B78-0C9406EC44E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Targets: Windows 11, Ubuntu 24.04.3 and current Apple/Android systems.</a:t>
            </a:r>
          </a:p>
        </p:txBody>
      </p:sp>
      <p:sp>
        <p:nvSpPr>
          <p:cNvPr id="4" name="">
            <a:extLst xmlns:a="http://schemas.openxmlformats.org/drawingml/2006/main">
              <a:ext uri="{FF2B5EF4-FFF2-40B4-BE49-F238E27FC236}">
                <a16:creationId xmlns:a16="http://schemas.microsoft.com/office/drawing/2014/main" id="{1789FD55-202A-4403-8323-50D278CC9EB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Manual Android setup needs an accessible vault and a file manager with hidden files.</a:t>
            </a:r>
          </a:p>
        </p:txBody>
      </p:sp>
      <p:sp>
        <p:nvSpPr>
          <p:cNvPr id="5" name="">
            <a:extLst xmlns:a="http://schemas.openxmlformats.org/drawingml/2006/main">
              <a:ext uri="{FF2B5EF4-FFF2-40B4-BE49-F238E27FC236}">
                <a16:creationId xmlns:a16="http://schemas.microsoft.com/office/drawing/2014/main" id="{D55EBFC3-05B0-4D96-BD0A-A379E6DBD6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Normal use needs no Node.js or Python. Obsidian Sync is optional.</a:t>
            </a:r>
          </a:p>
        </p:txBody>
      </p:sp>
      <p:sp>
        <p:nvSpPr>
          <p:cNvPr id="6" name="">
            <a:extLst xmlns:a="http://schemas.openxmlformats.org/drawingml/2006/main">
              <a:ext uri="{FF2B5EF4-FFF2-40B4-BE49-F238E27FC236}">
                <a16:creationId xmlns:a16="http://schemas.microsoft.com/office/drawing/2014/main" id="{C4B612E7-7E1A-4C10-9566-F1860293BAB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5DD66439-C5BB-431E-B9A0-31C30D46E5D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05</a:t>
            </a:r>
          </a:p>
        </p:txBody>
      </p:sp>
    </p:spTree>
    <p:extLst>
      <p:ext uri="{BB962C8B-B14F-4D97-AF65-F5344CB8AC3E}">
        <p14:creationId xmlns:p14="http://schemas.microsoft.com/office/powerpoint/2010/main" val="475616675"/>
      </p:ext>
    </p:extLst>
  </p:cSld>
</p:sld>
</file>

<file path=ppt/slides/slide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A4A631-B6AD-4432-82DE-B108A497757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GitHub release downloads</a:t>
            </a:r>
          </a:p>
        </p:txBody>
      </p:sp>
      <p:sp>
        <p:nvSpPr>
          <p:cNvPr id="2" name="">
            <a:extLst xmlns:a="http://schemas.openxmlformats.org/drawingml/2006/main">
              <a:ext uri="{FF2B5EF4-FFF2-40B4-BE49-F238E27FC236}">
                <a16:creationId xmlns:a16="http://schemas.microsoft.com/office/drawing/2014/main" id="{22169782-A26F-4F59-81AC-E2AA72FC399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harharhari/rsn-habit-tracker-obsidian-plugin on GitHub, then Releases.</a:t>
            </a:r>
          </a:p>
        </p:txBody>
      </p:sp>
      <p:sp>
        <p:nvSpPr>
          <p:cNvPr id="3" name="">
            <a:extLst xmlns:a="http://schemas.openxmlformats.org/drawingml/2006/main">
              <a:ext uri="{FF2B5EF4-FFF2-40B4-BE49-F238E27FC236}">
                <a16:creationId xmlns:a16="http://schemas.microsoft.com/office/drawing/2014/main" id="{ED349A8F-5577-4F75-B934-6342B0EFB29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release tag 1.1.7 and expand Assets.</a:t>
            </a:r>
          </a:p>
        </p:txBody>
      </p:sp>
      <p:sp>
        <p:nvSpPr>
          <p:cNvPr id="4" name="">
            <a:extLst xmlns:a="http://schemas.openxmlformats.org/drawingml/2006/main">
              <a:ext uri="{FF2B5EF4-FFF2-40B4-BE49-F238E27FC236}">
                <a16:creationId xmlns:a16="http://schemas.microsoft.com/office/drawing/2014/main" id="{88FEB46C-A9CA-46F7-9A51-1A29034E984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Download main.js, manifest.json and styles.css into one folder.</a:t>
            </a:r>
          </a:p>
        </p:txBody>
      </p:sp>
      <p:sp>
        <p:nvSpPr>
          <p:cNvPr id="5" name="">
            <a:extLst xmlns:a="http://schemas.openxmlformats.org/drawingml/2006/main">
              <a:ext uri="{FF2B5EF4-FFF2-40B4-BE49-F238E27FC236}">
                <a16:creationId xmlns:a16="http://schemas.microsoft.com/office/drawing/2014/main" id="{F535ECBA-C6B4-45C8-980A-44019DF44D4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color starter is embedded. Source code ZIP links require a developer build.</a:t>
            </a:r>
          </a:p>
        </p:txBody>
      </p:sp>
      <p:sp>
        <p:nvSpPr>
          <p:cNvPr id="6" name="">
            <a:extLst xmlns:a="http://schemas.openxmlformats.org/drawingml/2006/main">
              <a:ext uri="{FF2B5EF4-FFF2-40B4-BE49-F238E27FC236}">
                <a16:creationId xmlns:a16="http://schemas.microsoft.com/office/drawing/2014/main" id="{49CFCB37-4531-4EE8-9A05-9D6ABBBB9F2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41303526-D347-4CC4-A41D-03A2A8FC017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06</a:t>
            </a:r>
          </a:p>
        </p:txBody>
      </p:sp>
    </p:spTree>
    <p:extLst>
      <p:ext uri="{BB962C8B-B14F-4D97-AF65-F5344CB8AC3E}">
        <p14:creationId xmlns:p14="http://schemas.microsoft.com/office/powerpoint/2010/main" val="1368981099"/>
      </p:ext>
    </p:extLst>
  </p:cSld>
</p:sld>
</file>

<file path=ppt/slides/slide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302D56-1A1F-450E-8CD6-371C366AA79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Download provenance</a:t>
            </a:r>
          </a:p>
        </p:txBody>
      </p:sp>
      <p:sp>
        <p:nvSpPr>
          <p:cNvPr id="2" name="">
            <a:extLst xmlns:a="http://schemas.openxmlformats.org/drawingml/2006/main">
              <a:ext uri="{FF2B5EF4-FFF2-40B4-BE49-F238E27FC236}">
                <a16:creationId xmlns:a16="http://schemas.microsoft.com/office/drawing/2014/main" id="{C90E453B-3D59-483E-92BD-E51269F53EF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maintainer workflow attests the files built from the reviewed tag.</a:t>
            </a:r>
          </a:p>
        </p:txBody>
      </p:sp>
      <p:sp>
        <p:nvSpPr>
          <p:cNvPr id="3" name="">
            <a:extLst xmlns:a="http://schemas.openxmlformats.org/drawingml/2006/main">
              <a:ext uri="{FF2B5EF4-FFF2-40B4-BE49-F238E27FC236}">
                <a16:creationId xmlns:a16="http://schemas.microsoft.com/office/drawing/2014/main" id="{A46161F6-DD00-4C55-BEB5-46C8B055271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GitHub CLI, verify each downloaded file against the repository.</a:t>
            </a:r>
          </a:p>
        </p:txBody>
      </p:sp>
      <p:sp>
        <p:nvSpPr>
          <p:cNvPr id="4" name="">
            <a:extLst xmlns:a="http://schemas.openxmlformats.org/drawingml/2006/main">
              <a:ext uri="{FF2B5EF4-FFF2-40B4-BE49-F238E27FC236}">
                <a16:creationId xmlns:a16="http://schemas.microsoft.com/office/drawing/2014/main" id="{674E68EE-1F2C-418F-8939-9855683C03B2}"/>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Check the verification result’s source commit and workflow.</a:t>
            </a:r>
          </a:p>
        </p:txBody>
      </p:sp>
      <p:sp>
        <p:nvSpPr>
          <p:cNvPr id="5" name="">
            <a:extLst xmlns:a="http://schemas.openxmlformats.org/drawingml/2006/main">
              <a:ext uri="{FF2B5EF4-FFF2-40B4-BE49-F238E27FC236}">
                <a16:creationId xmlns:a16="http://schemas.microsoft.com/office/drawing/2014/main" id="{8904CB2A-2292-4F1F-AC27-27CA35ED3BD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Local handoff files have checksums; they are not described as attested.</a:t>
            </a:r>
          </a:p>
        </p:txBody>
      </p:sp>
      <p:sp>
        <p:nvSpPr>
          <p:cNvPr id="6" name="">
            <a:extLst xmlns:a="http://schemas.openxmlformats.org/drawingml/2006/main">
              <a:ext uri="{FF2B5EF4-FFF2-40B4-BE49-F238E27FC236}">
                <a16:creationId xmlns:a16="http://schemas.microsoft.com/office/drawing/2014/main" id="{8D498089-4ACE-4939-B551-878765B82C0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FF16F759-6FB7-4740-9EFF-38BF4EC57B6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07</a:t>
            </a:r>
          </a:p>
        </p:txBody>
      </p:sp>
    </p:spTree>
    <p:extLst>
      <p:ext uri="{BB962C8B-B14F-4D97-AF65-F5344CB8AC3E}">
        <p14:creationId xmlns:p14="http://schemas.microsoft.com/office/powerpoint/2010/main" val="1830379072"/>
      </p:ext>
    </p:extLst>
  </p:cSld>
</p:sld>
</file>

<file path=ppt/slides/slide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563D151-DE20-42D2-BE6B-C2CB73B3A02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Checksum verification</a:t>
            </a:r>
          </a:p>
        </p:txBody>
      </p:sp>
      <p:sp>
        <p:nvSpPr>
          <p:cNvPr id="2" name="">
            <a:extLst xmlns:a="http://schemas.openxmlformats.org/drawingml/2006/main">
              <a:ext uri="{FF2B5EF4-FFF2-40B4-BE49-F238E27FC236}">
                <a16:creationId xmlns:a16="http://schemas.microsoft.com/office/drawing/2014/main" id="{F37A68DA-3427-4578-9AC1-7178A087A62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docs/RELEASE-ASSET-SHA256SUMS from the exact version tag.</a:t>
            </a:r>
          </a:p>
        </p:txBody>
      </p:sp>
      <p:sp>
        <p:nvSpPr>
          <p:cNvPr id="3" name="">
            <a:extLst xmlns:a="http://schemas.openxmlformats.org/drawingml/2006/main">
              <a:ext uri="{FF2B5EF4-FFF2-40B4-BE49-F238E27FC236}">
                <a16:creationId xmlns:a16="http://schemas.microsoft.com/office/drawing/2014/main" id="{64F316B3-141B-4E87-9CF2-5D54C84290F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Ubuntu: sha256sum -c RELEASE-ASSET-SHA256SUMS</a:t>
            </a:r>
          </a:p>
        </p:txBody>
      </p:sp>
      <p:sp>
        <p:nvSpPr>
          <p:cNvPr id="4" name="">
            <a:extLst xmlns:a="http://schemas.openxmlformats.org/drawingml/2006/main">
              <a:ext uri="{FF2B5EF4-FFF2-40B4-BE49-F238E27FC236}">
                <a16:creationId xmlns:a16="http://schemas.microsoft.com/office/drawing/2014/main" id="{0C6515C7-3AF7-4C9E-AD41-9ABB440556FB}"/>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Mac: shasum -a 256 -c RELEASE-ASSET-SHA256SUMS</a:t>
            </a:r>
          </a:p>
        </p:txBody>
      </p:sp>
      <p:sp>
        <p:nvSpPr>
          <p:cNvPr id="5" name="">
            <a:extLst xmlns:a="http://schemas.openxmlformats.org/drawingml/2006/main">
              <a:ext uri="{FF2B5EF4-FFF2-40B4-BE49-F238E27FC236}">
                <a16:creationId xmlns:a16="http://schemas.microsoft.com/office/drawing/2014/main" id="{E545C97B-91A3-4CA4-964E-F323728C67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Windows: use the PowerShell loop in docs/CHECKSUMS.md.</a:t>
            </a:r>
          </a:p>
        </p:txBody>
      </p:sp>
      <p:sp>
        <p:nvSpPr>
          <p:cNvPr id="6" name="">
            <a:extLst xmlns:a="http://schemas.openxmlformats.org/drawingml/2006/main">
              <a:ext uri="{FF2B5EF4-FFF2-40B4-BE49-F238E27FC236}">
                <a16:creationId xmlns:a16="http://schemas.microsoft.com/office/drawing/2014/main" id="{026D6412-B0F9-4072-9729-022794FF5C4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5CDAF044-D0EA-4689-8070-B591B6E78B5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08</a:t>
            </a:r>
          </a:p>
        </p:txBody>
      </p:sp>
    </p:spTree>
    <p:extLst>
      <p:ext uri="{BB962C8B-B14F-4D97-AF65-F5344CB8AC3E}">
        <p14:creationId xmlns:p14="http://schemas.microsoft.com/office/powerpoint/2010/main" val="710706009"/>
      </p:ext>
    </p:extLst>
  </p:cSld>
</p:sld>
</file>

<file path=ppt/slides/slide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1AB162-3FF1-4263-8EFC-D1D3B601C86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plugin files</a:t>
            </a:r>
          </a:p>
        </p:txBody>
      </p:sp>
      <p:sp>
        <p:nvSpPr>
          <p:cNvPr id="2" name="">
            <a:extLst xmlns:a="http://schemas.openxmlformats.org/drawingml/2006/main">
              <a:ext uri="{FF2B5EF4-FFF2-40B4-BE49-F238E27FC236}">
                <a16:creationId xmlns:a16="http://schemas.microsoft.com/office/drawing/2014/main" id="{C581371B-3E79-49F2-B43B-9BD1A8AA9C9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close Obsidian.</a:t>
            </a:r>
          </a:p>
        </p:txBody>
      </p:sp>
      <p:sp>
        <p:nvSpPr>
          <p:cNvPr id="3" name="">
            <a:extLst xmlns:a="http://schemas.openxmlformats.org/drawingml/2006/main">
              <a:ext uri="{FF2B5EF4-FFF2-40B4-BE49-F238E27FC236}">
                <a16:creationId xmlns:a16="http://schemas.microsoft.com/office/drawing/2014/main" id="{27065130-D423-4F60-89E3-7FD732CBF07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 Explorer, enable Hidden items and File name extensions.</a:t>
            </a:r>
          </a:p>
        </p:txBody>
      </p:sp>
      <p:sp>
        <p:nvSpPr>
          <p:cNvPr id="4" name="">
            <a:extLst xmlns:a="http://schemas.openxmlformats.org/drawingml/2006/main">
              <a:ext uri="{FF2B5EF4-FFF2-40B4-BE49-F238E27FC236}">
                <a16:creationId xmlns:a16="http://schemas.microsoft.com/office/drawing/2014/main" id="{52F886D8-1320-4D4F-AE8C-C764C3657D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.obsidian/plugins/rsn-habit-calendar-one-b/ inside the vault.</a:t>
            </a:r>
          </a:p>
        </p:txBody>
      </p:sp>
      <p:sp>
        <p:nvSpPr>
          <p:cNvPr id="5" name="">
            <a:extLst xmlns:a="http://schemas.openxmlformats.org/drawingml/2006/main">
              <a:ext uri="{FF2B5EF4-FFF2-40B4-BE49-F238E27FC236}">
                <a16:creationId xmlns:a16="http://schemas.microsoft.com/office/drawing/2014/main" id="{03978F37-9529-4506-9C55-8383946FE1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main.js, manifest.json and styles.css directly into that folder.</a:t>
            </a:r>
          </a:p>
        </p:txBody>
      </p:sp>
      <p:sp>
        <p:nvSpPr>
          <p:cNvPr id="6" name="">
            <a:extLst xmlns:a="http://schemas.openxmlformats.org/drawingml/2006/main">
              <a:ext uri="{FF2B5EF4-FFF2-40B4-BE49-F238E27FC236}">
                <a16:creationId xmlns:a16="http://schemas.microsoft.com/office/drawing/2014/main" id="{8361FF5B-A976-487C-A587-D42F2E4089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A1A81FA9-04B6-4224-9778-91929AE4CFC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09</a:t>
            </a:r>
          </a:p>
        </p:txBody>
      </p:sp>
    </p:spTree>
    <p:extLst>
      <p:ext uri="{BB962C8B-B14F-4D97-AF65-F5344CB8AC3E}">
        <p14:creationId xmlns:p14="http://schemas.microsoft.com/office/powerpoint/2010/main" val="1593458384"/>
      </p:ext>
    </p:extLst>
  </p:cSld>
</p:sld>
</file>

<file path=ppt/slides/slide1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14C88E-1716-459A-B691-B3C7ACBF274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first opening</a:t>
            </a:r>
          </a:p>
        </p:txBody>
      </p:sp>
      <p:sp>
        <p:nvSpPr>
          <p:cNvPr id="2" name="">
            <a:extLst xmlns:a="http://schemas.openxmlformats.org/drawingml/2006/main">
              <a:ext uri="{FF2B5EF4-FFF2-40B4-BE49-F238E27FC236}">
                <a16:creationId xmlns:a16="http://schemas.microsoft.com/office/drawing/2014/main" id="{497644C1-ACE3-494F-97FB-38D28163C8D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rsn-test-vault in Obsidian.</a:t>
            </a:r>
          </a:p>
        </p:txBody>
      </p:sp>
      <p:sp>
        <p:nvSpPr>
          <p:cNvPr id="3" name="">
            <a:extLst xmlns:a="http://schemas.openxmlformats.org/drawingml/2006/main">
              <a:ext uri="{FF2B5EF4-FFF2-40B4-BE49-F238E27FC236}">
                <a16:creationId xmlns:a16="http://schemas.microsoft.com/office/drawing/2014/main" id="{1DBE2D49-B278-47C9-AD64-20D43A1A28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Under Settings, Community plugins, enable rsn habit calendar one b.</a:t>
            </a:r>
          </a:p>
        </p:txBody>
      </p:sp>
      <p:sp>
        <p:nvSpPr>
          <p:cNvPr id="4" name="">
            <a:extLst xmlns:a="http://schemas.openxmlformats.org/drawingml/2006/main">
              <a:ext uri="{FF2B5EF4-FFF2-40B4-BE49-F238E27FC236}">
                <a16:creationId xmlns:a16="http://schemas.microsoft.com/office/drawing/2014/main" id="{3651F853-197A-4644-B3F4-2188B438B06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Verify version 1.1.7. Press Ctrl+P and run Open current month.</a:t>
            </a:r>
          </a:p>
        </p:txBody>
      </p:sp>
      <p:sp>
        <p:nvSpPr>
          <p:cNvPr id="5" name="">
            <a:extLst xmlns:a="http://schemas.openxmlformats.org/drawingml/2006/main">
              <a:ext uri="{FF2B5EF4-FFF2-40B4-BE49-F238E27FC236}">
                <a16:creationId xmlns:a16="http://schemas.microsoft.com/office/drawing/2014/main" id="{BC18746C-2F3D-4058-B112-2B16D450AA5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Add generic habits using the later practice exercise. Wide panes show six calendars per row.</a:t>
            </a:r>
          </a:p>
        </p:txBody>
      </p:sp>
      <p:sp>
        <p:nvSpPr>
          <p:cNvPr id="6" name="">
            <a:extLst xmlns:a="http://schemas.openxmlformats.org/drawingml/2006/main">
              <a:ext uri="{FF2B5EF4-FFF2-40B4-BE49-F238E27FC236}">
                <a16:creationId xmlns:a16="http://schemas.microsoft.com/office/drawing/2014/main" id="{FFAEA162-B4D2-4744-94C4-8B6939F9892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39D16D75-9E50-4FA5-B55A-E76279F69B8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10</a:t>
            </a:r>
          </a:p>
        </p:txBody>
      </p:sp>
    </p:spTree>
    <p:extLst>
      <p:ext uri="{BB962C8B-B14F-4D97-AF65-F5344CB8AC3E}">
        <p14:creationId xmlns:p14="http://schemas.microsoft.com/office/powerpoint/2010/main" val="6819817"/>
      </p:ext>
    </p:extLst>
  </p:cSld>
</p:sld>
</file>

<file path=ppt/slides/slide1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541B3B4-D258-4899-BA2D-F6CEC663527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files</a:t>
            </a:r>
          </a:p>
        </p:txBody>
      </p:sp>
      <p:sp>
        <p:nvSpPr>
          <p:cNvPr id="2" name="">
            <a:extLst xmlns:a="http://schemas.openxmlformats.org/drawingml/2006/main">
              <a:ext uri="{FF2B5EF4-FFF2-40B4-BE49-F238E27FC236}">
                <a16:creationId xmlns:a16="http://schemas.microsoft.com/office/drawing/2014/main" id="{8BF1B1FF-21FD-4C8D-B930-63E31BDB934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in Obsidian, then close the app.</a:t>
            </a:r>
          </a:p>
        </p:txBody>
      </p:sp>
      <p:sp>
        <p:nvSpPr>
          <p:cNvPr id="3" name="">
            <a:extLst xmlns:a="http://schemas.openxmlformats.org/drawingml/2006/main">
              <a:ext uri="{FF2B5EF4-FFF2-40B4-BE49-F238E27FC236}">
                <a16:creationId xmlns:a16="http://schemas.microsoft.com/office/drawing/2014/main" id="{BBFDE196-9162-44A8-A53C-95D03965706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Files, press Ctrl+H to show hidden files. Open the vault’s .obsidian folder.</a:t>
            </a:r>
          </a:p>
        </p:txBody>
      </p:sp>
      <p:sp>
        <p:nvSpPr>
          <p:cNvPr id="4" name="">
            <a:extLst xmlns:a="http://schemas.openxmlformats.org/drawingml/2006/main">
              <a:ext uri="{FF2B5EF4-FFF2-40B4-BE49-F238E27FC236}">
                <a16:creationId xmlns:a16="http://schemas.microsoft.com/office/drawing/2014/main" id="{55FA51A2-D991-45CA-B13F-EFE5AA7E44A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plugins/rsn-habit-calendar-one-b/ if needed.</a:t>
            </a:r>
          </a:p>
        </p:txBody>
      </p:sp>
      <p:sp>
        <p:nvSpPr>
          <p:cNvPr id="5" name="">
            <a:extLst xmlns:a="http://schemas.openxmlformats.org/drawingml/2006/main">
              <a:ext uri="{FF2B5EF4-FFF2-40B4-BE49-F238E27FC236}">
                <a16:creationId xmlns:a16="http://schemas.microsoft.com/office/drawing/2014/main" id="{47ECDFC4-DF97-4A02-971B-BA20AC56D7A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the three downloaded plugin files directly into that folder.</a:t>
            </a:r>
          </a:p>
        </p:txBody>
      </p:sp>
      <p:sp>
        <p:nvSpPr>
          <p:cNvPr id="6" name="">
            <a:extLst xmlns:a="http://schemas.openxmlformats.org/drawingml/2006/main">
              <a:ext uri="{FF2B5EF4-FFF2-40B4-BE49-F238E27FC236}">
                <a16:creationId xmlns:a16="http://schemas.microsoft.com/office/drawing/2014/main" id="{FF084F78-B6FD-4156-976E-BC485133271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3EEF7305-BA13-4BED-93C3-08B3BD28DDB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11</a:t>
            </a:r>
          </a:p>
        </p:txBody>
      </p:sp>
    </p:spTree>
    <p:extLst>
      <p:ext uri="{BB962C8B-B14F-4D97-AF65-F5344CB8AC3E}">
        <p14:creationId xmlns:p14="http://schemas.microsoft.com/office/powerpoint/2010/main" val="736176942"/>
      </p:ext>
    </p:extLst>
  </p:cSld>
</p:sld>
</file>

<file path=ppt/slides/slide1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51E964-E625-413F-9B72-F6B2DCC595F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first opening</a:t>
            </a:r>
          </a:p>
        </p:txBody>
      </p:sp>
      <p:sp>
        <p:nvSpPr>
          <p:cNvPr id="2" name="">
            <a:extLst xmlns:a="http://schemas.openxmlformats.org/drawingml/2006/main">
              <a:ext uri="{FF2B5EF4-FFF2-40B4-BE49-F238E27FC236}">
                <a16:creationId xmlns:a16="http://schemas.microsoft.com/office/drawing/2014/main" id="{F0019085-F0E3-4D11-AAD1-56341210BE0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correct vault in Obsidian.</a:t>
            </a:r>
          </a:p>
        </p:txBody>
      </p:sp>
      <p:sp>
        <p:nvSpPr>
          <p:cNvPr id="3" name="">
            <a:extLst xmlns:a="http://schemas.openxmlformats.org/drawingml/2006/main">
              <a:ext uri="{FF2B5EF4-FFF2-40B4-BE49-F238E27FC236}">
                <a16:creationId xmlns:a16="http://schemas.microsoft.com/office/drawing/2014/main" id="{00AE1274-3D37-4718-87EF-E40AAEFDD95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Open Settings, then Community plugins. Allow community plugins.</a:t>
            </a:r>
          </a:p>
        </p:txBody>
      </p:sp>
      <p:sp>
        <p:nvSpPr>
          <p:cNvPr id="4" name="">
            <a:extLst xmlns:a="http://schemas.openxmlformats.org/drawingml/2006/main">
              <a:ext uri="{FF2B5EF4-FFF2-40B4-BE49-F238E27FC236}">
                <a16:creationId xmlns:a16="http://schemas.microsoft.com/office/drawing/2014/main" id="{45833DA5-F538-4A11-B78D-5FBFFE7C1CC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rsn habit calendar one b and verify version 1.1.7.</a:t>
            </a:r>
          </a:p>
        </p:txBody>
      </p:sp>
      <p:sp>
        <p:nvSpPr>
          <p:cNvPr id="5" name="">
            <a:extLst xmlns:a="http://schemas.openxmlformats.org/drawingml/2006/main">
              <a:ext uri="{FF2B5EF4-FFF2-40B4-BE49-F238E27FC236}">
                <a16:creationId xmlns:a16="http://schemas.microsoft.com/office/drawing/2014/main" id="{74F6CBB6-9775-40AD-9C8D-3454D355029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Press Ctrl+P. Run rsn habit calendar one b: Open current month.</a:t>
            </a:r>
          </a:p>
        </p:txBody>
      </p:sp>
      <p:sp>
        <p:nvSpPr>
          <p:cNvPr id="6" name="">
            <a:extLst xmlns:a="http://schemas.openxmlformats.org/drawingml/2006/main">
              <a:ext uri="{FF2B5EF4-FFF2-40B4-BE49-F238E27FC236}">
                <a16:creationId xmlns:a16="http://schemas.microsoft.com/office/drawing/2014/main" id="{0CD60739-67B3-4680-A351-6393D8F622D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1AE7AC84-14EB-43F2-9917-55396AD5388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12</a:t>
            </a:r>
          </a:p>
        </p:txBody>
      </p:sp>
    </p:spTree>
    <p:extLst>
      <p:ext uri="{BB962C8B-B14F-4D97-AF65-F5344CB8AC3E}">
        <p14:creationId xmlns:p14="http://schemas.microsoft.com/office/powerpoint/2010/main" val="1582797616"/>
      </p:ext>
    </p:extLst>
  </p:cSld>
</p:sld>
</file>

<file path=ppt/slides/slide1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98C0B6-90DC-4FAE-8BD2-818A202B25B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plugin files</a:t>
            </a:r>
          </a:p>
        </p:txBody>
      </p:sp>
      <p:sp>
        <p:nvSpPr>
          <p:cNvPr id="2" name="">
            <a:extLst xmlns:a="http://schemas.openxmlformats.org/drawingml/2006/main">
              <a:ext uri="{FF2B5EF4-FFF2-40B4-BE49-F238E27FC236}">
                <a16:creationId xmlns:a16="http://schemas.microsoft.com/office/drawing/2014/main" id="{A9699BA8-574C-4B74-9365-94F3A94C6EE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quit Obsidian.</a:t>
            </a:r>
          </a:p>
        </p:txBody>
      </p:sp>
      <p:sp>
        <p:nvSpPr>
          <p:cNvPr id="3" name="">
            <a:extLst xmlns:a="http://schemas.openxmlformats.org/drawingml/2006/main">
              <a:ext uri="{FF2B5EF4-FFF2-40B4-BE49-F238E27FC236}">
                <a16:creationId xmlns:a16="http://schemas.microsoft.com/office/drawing/2014/main" id="{92A93A49-E9A0-447C-BE9D-FBE34CA144C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Finder, press Command+Shift+period to reveal hidden files.</a:t>
            </a:r>
          </a:p>
        </p:txBody>
      </p:sp>
      <p:sp>
        <p:nvSpPr>
          <p:cNvPr id="4" name="">
            <a:extLst xmlns:a="http://schemas.openxmlformats.org/drawingml/2006/main">
              <a:ext uri="{FF2B5EF4-FFF2-40B4-BE49-F238E27FC236}">
                <a16:creationId xmlns:a16="http://schemas.microsoft.com/office/drawing/2014/main" id="{2232B9F3-5DA9-4A56-B971-6C5575F064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.obsidian/plugins/rsn-habit-calendar-one-b/ inside the vault.</a:t>
            </a:r>
          </a:p>
        </p:txBody>
      </p:sp>
      <p:sp>
        <p:nvSpPr>
          <p:cNvPr id="5" name="">
            <a:extLst xmlns:a="http://schemas.openxmlformats.org/drawingml/2006/main">
              <a:ext uri="{FF2B5EF4-FFF2-40B4-BE49-F238E27FC236}">
                <a16:creationId xmlns:a16="http://schemas.microsoft.com/office/drawing/2014/main" id="{D0C83A28-9F72-4853-B32E-03E4C1AAED1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main.js, manifest.json and styles.css directly into that folder.</a:t>
            </a:r>
          </a:p>
        </p:txBody>
      </p:sp>
      <p:sp>
        <p:nvSpPr>
          <p:cNvPr id="6" name="">
            <a:extLst xmlns:a="http://schemas.openxmlformats.org/drawingml/2006/main">
              <a:ext uri="{FF2B5EF4-FFF2-40B4-BE49-F238E27FC236}">
                <a16:creationId xmlns:a16="http://schemas.microsoft.com/office/drawing/2014/main" id="{4059CEA3-153D-4D95-9807-89761ACA06B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916EAAD0-4758-464E-B6F3-CD9305C9A0D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13</a:t>
            </a:r>
          </a:p>
        </p:txBody>
      </p:sp>
    </p:spTree>
    <p:extLst>
      <p:ext uri="{BB962C8B-B14F-4D97-AF65-F5344CB8AC3E}">
        <p14:creationId xmlns:p14="http://schemas.microsoft.com/office/powerpoint/2010/main" val="1278278692"/>
      </p:ext>
    </p:extLst>
  </p:cSld>
</p:sld>
</file>

<file path=ppt/slides/slide1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538F11-CF83-40FB-A679-824379FF05C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first opening</a:t>
            </a:r>
          </a:p>
        </p:txBody>
      </p:sp>
      <p:sp>
        <p:nvSpPr>
          <p:cNvPr id="2" name="">
            <a:extLst xmlns:a="http://schemas.openxmlformats.org/drawingml/2006/main">
              <a:ext uri="{FF2B5EF4-FFF2-40B4-BE49-F238E27FC236}">
                <a16:creationId xmlns:a16="http://schemas.microsoft.com/office/drawing/2014/main" id="{EC55CD4F-559D-4931-BF0C-B80EDF660806}"/>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same vault. Enable rsn habit calendar one b under Community plugins.</a:t>
            </a:r>
          </a:p>
        </p:txBody>
      </p:sp>
      <p:sp>
        <p:nvSpPr>
          <p:cNvPr id="3" name="">
            <a:extLst xmlns:a="http://schemas.openxmlformats.org/drawingml/2006/main">
              <a:ext uri="{FF2B5EF4-FFF2-40B4-BE49-F238E27FC236}">
                <a16:creationId xmlns:a16="http://schemas.microsoft.com/office/drawing/2014/main" id="{E1058CFC-79E3-40F0-8184-F1DE9A0E51C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Confirm version 1.1.7. Press Command+P to open the command palette.</a:t>
            </a:r>
          </a:p>
        </p:txBody>
      </p:sp>
      <p:sp>
        <p:nvSpPr>
          <p:cNvPr id="4" name="">
            <a:extLst xmlns:a="http://schemas.openxmlformats.org/drawingml/2006/main">
              <a:ext uri="{FF2B5EF4-FFF2-40B4-BE49-F238E27FC236}">
                <a16:creationId xmlns:a16="http://schemas.microsoft.com/office/drawing/2014/main" id="{343FB0EE-5E7C-449B-A434-305AD587987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Run rsn habit calendar one b: Open current month.</a:t>
            </a:r>
          </a:p>
        </p:txBody>
      </p:sp>
      <p:sp>
        <p:nvSpPr>
          <p:cNvPr id="5" name="">
            <a:extLst xmlns:a="http://schemas.openxmlformats.org/drawingml/2006/main">
              <a:ext uri="{FF2B5EF4-FFF2-40B4-BE49-F238E27FC236}">
                <a16:creationId xmlns:a16="http://schemas.microsoft.com/office/drawing/2014/main" id="{D5345230-8B69-4391-B306-4A9E61F12115}"/>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Test marking, restart and a narrow split pane before using personal data.</a:t>
            </a:r>
          </a:p>
        </p:txBody>
      </p:sp>
      <p:sp>
        <p:nvSpPr>
          <p:cNvPr id="6" name="">
            <a:extLst xmlns:a="http://schemas.openxmlformats.org/drawingml/2006/main">
              <a:ext uri="{FF2B5EF4-FFF2-40B4-BE49-F238E27FC236}">
                <a16:creationId xmlns:a16="http://schemas.microsoft.com/office/drawing/2014/main" id="{07E672DF-2135-40E2-8B9D-AE6D30F48DC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7F1C6112-873C-4D2D-9D25-201448F2046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14</a:t>
            </a:r>
          </a:p>
        </p:txBody>
      </p:sp>
    </p:spTree>
    <p:extLst>
      <p:ext uri="{BB962C8B-B14F-4D97-AF65-F5344CB8AC3E}">
        <p14:creationId xmlns:p14="http://schemas.microsoft.com/office/powerpoint/2010/main" val="960552169"/>
      </p:ext>
    </p:extLst>
  </p:cSld>
</p:sld>
</file>

<file path=ppt/slides/slide1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5273891-9129-41F2-83DD-104AB8EF508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vault location</a:t>
            </a:r>
          </a:p>
        </p:txBody>
      </p:sp>
      <p:sp>
        <p:nvSpPr>
          <p:cNvPr id="2" name="">
            <a:extLst xmlns:a="http://schemas.openxmlformats.org/drawingml/2006/main">
              <a:ext uri="{FF2B5EF4-FFF2-40B4-BE49-F238E27FC236}">
                <a16:creationId xmlns:a16="http://schemas.microsoft.com/office/drawing/2014/main" id="{23992636-A6FA-414A-B731-80B0B099D71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create or open rsn-test-vault.</a:t>
            </a:r>
          </a:p>
        </p:txBody>
      </p:sp>
      <p:sp>
        <p:nvSpPr>
          <p:cNvPr id="3" name="">
            <a:extLst xmlns:a="http://schemas.openxmlformats.org/drawingml/2006/main">
              <a:ext uri="{FF2B5EF4-FFF2-40B4-BE49-F238E27FC236}">
                <a16:creationId xmlns:a16="http://schemas.microsoft.com/office/drawing/2014/main" id="{A93F0109-216E-4E41-A2D9-BD5405D2192E}"/>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For manual file copying, choose device storage and note the real folder location.</a:t>
            </a:r>
          </a:p>
        </p:txBody>
      </p:sp>
      <p:sp>
        <p:nvSpPr>
          <p:cNvPr id="4" name="">
            <a:extLst xmlns:a="http://schemas.openxmlformats.org/drawingml/2006/main">
              <a:ext uri="{FF2B5EF4-FFF2-40B4-BE49-F238E27FC236}">
                <a16:creationId xmlns:a16="http://schemas.microsoft.com/office/drawing/2014/main" id="{B35AE66D-1E40-44BC-B33A-A7C344661E4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Open the vault once. Force-stop Obsidian using Android Settings.</a:t>
            </a:r>
          </a:p>
        </p:txBody>
      </p:sp>
      <p:sp>
        <p:nvSpPr>
          <p:cNvPr id="5" name="">
            <a:extLst xmlns:a="http://schemas.openxmlformats.org/drawingml/2006/main">
              <a:ext uri="{FF2B5EF4-FFF2-40B4-BE49-F238E27FC236}">
                <a16:creationId xmlns:a16="http://schemas.microsoft.com/office/drawing/2014/main" id="{0008389E-CF5E-4B88-9E2D-46F8C2C1081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Transfer verified files from Ubuntu, or download the same release on the phone.</a:t>
            </a:r>
          </a:p>
        </p:txBody>
      </p:sp>
      <p:sp>
        <p:nvSpPr>
          <p:cNvPr id="6" name="">
            <a:extLst xmlns:a="http://schemas.openxmlformats.org/drawingml/2006/main">
              <a:ext uri="{FF2B5EF4-FFF2-40B4-BE49-F238E27FC236}">
                <a16:creationId xmlns:a16="http://schemas.microsoft.com/office/drawing/2014/main" id="{FDBEAA13-127F-4FE0-85B0-8A11708CED7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574A62E6-74AD-41AC-9704-FF52F89948D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15</a:t>
            </a:r>
          </a:p>
        </p:txBody>
      </p:sp>
    </p:spTree>
    <p:extLst>
      <p:ext uri="{BB962C8B-B14F-4D97-AF65-F5344CB8AC3E}">
        <p14:creationId xmlns:p14="http://schemas.microsoft.com/office/powerpoint/2010/main" val="2108830735"/>
      </p:ext>
    </p:extLst>
  </p:cSld>
</p:sld>
</file>

<file path=ppt/slides/slide1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BE388D-14BC-41B2-9EBE-5A3E18EA8DB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plugin files</a:t>
            </a:r>
          </a:p>
        </p:txBody>
      </p:sp>
      <p:sp>
        <p:nvSpPr>
          <p:cNvPr id="2" name="">
            <a:extLst xmlns:a="http://schemas.openxmlformats.org/drawingml/2006/main">
              <a:ext uri="{FF2B5EF4-FFF2-40B4-BE49-F238E27FC236}">
                <a16:creationId xmlns:a16="http://schemas.microsoft.com/office/drawing/2014/main" id="{A6FBFDE2-22F7-4F1D-A467-3960F32A09D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Enable Show hidden files in your file manager.</a:t>
            </a:r>
          </a:p>
        </p:txBody>
      </p:sp>
      <p:sp>
        <p:nvSpPr>
          <p:cNvPr id="3" name="">
            <a:extLst xmlns:a="http://schemas.openxmlformats.org/drawingml/2006/main">
              <a:ext uri="{FF2B5EF4-FFF2-40B4-BE49-F238E27FC236}">
                <a16:creationId xmlns:a16="http://schemas.microsoft.com/office/drawing/2014/main" id="{F008F0FC-CAF7-47E7-99F5-2089ED14B18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Inside the vault, create .obsidian/plugins/rsn-habit-calendar-one-b/.</a:t>
            </a:r>
          </a:p>
        </p:txBody>
      </p:sp>
      <p:sp>
        <p:nvSpPr>
          <p:cNvPr id="4" name="">
            <a:extLst xmlns:a="http://schemas.openxmlformats.org/drawingml/2006/main">
              <a:ext uri="{FF2B5EF4-FFF2-40B4-BE49-F238E27FC236}">
                <a16:creationId xmlns:a16="http://schemas.microsoft.com/office/drawing/2014/main" id="{4B4605F3-93FB-4C69-BBB3-531D6CAC470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Copy main.js, manifest.json and styles.css directly into it.</a:t>
            </a:r>
          </a:p>
        </p:txBody>
      </p:sp>
      <p:sp>
        <p:nvSpPr>
          <p:cNvPr id="5" name="">
            <a:extLst xmlns:a="http://schemas.openxmlformats.org/drawingml/2006/main">
              <a:ext uri="{FF2B5EF4-FFF2-40B4-BE49-F238E27FC236}">
                <a16:creationId xmlns:a16="http://schemas.microsoft.com/office/drawing/2014/main" id="{5ED7A5D1-4CFD-463E-977B-7001F9BFD67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Reopen Obsidian, allow community plugins and enable rsn habit calendar one b.</a:t>
            </a:r>
          </a:p>
        </p:txBody>
      </p:sp>
      <p:sp>
        <p:nvSpPr>
          <p:cNvPr id="6" name="">
            <a:extLst xmlns:a="http://schemas.openxmlformats.org/drawingml/2006/main">
              <a:ext uri="{FF2B5EF4-FFF2-40B4-BE49-F238E27FC236}">
                <a16:creationId xmlns:a16="http://schemas.microsoft.com/office/drawing/2014/main" id="{FC5AF531-FF7E-45DB-BE16-98AEF8B3939F}"/>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C51E06EB-D76E-4CD3-ACAC-C51B9E92BD5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16</a:t>
            </a:r>
          </a:p>
        </p:txBody>
      </p:sp>
    </p:spTree>
    <p:extLst>
      <p:ext uri="{BB962C8B-B14F-4D97-AF65-F5344CB8AC3E}">
        <p14:creationId xmlns:p14="http://schemas.microsoft.com/office/powerpoint/2010/main" val="1835774108"/>
      </p:ext>
    </p:extLst>
  </p:cSld>
</p:sld>
</file>

<file path=ppt/slides/slide1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231E953-F531-4F2B-9ABB-0E2CB3FF47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first opening</a:t>
            </a:r>
          </a:p>
        </p:txBody>
      </p:sp>
      <p:sp>
        <p:nvSpPr>
          <p:cNvPr id="2" name="">
            <a:extLst xmlns:a="http://schemas.openxmlformats.org/drawingml/2006/main">
              <a:ext uri="{FF2B5EF4-FFF2-40B4-BE49-F238E27FC236}">
                <a16:creationId xmlns:a16="http://schemas.microsoft.com/office/drawing/2014/main" id="{1FD9EA94-A0FA-493E-9CE4-6DE966F87A5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the command palette from the mobile ribbon or menu.</a:t>
            </a:r>
          </a:p>
        </p:txBody>
      </p:sp>
      <p:sp>
        <p:nvSpPr>
          <p:cNvPr id="3" name="">
            <a:extLst xmlns:a="http://schemas.openxmlformats.org/drawingml/2006/main">
              <a:ext uri="{FF2B5EF4-FFF2-40B4-BE49-F238E27FC236}">
                <a16:creationId xmlns:a16="http://schemas.microsoft.com/office/drawing/2014/main" id="{0EBDE102-AF8A-4BB0-BA69-37CA50D22FA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rsn habit calendar one b: Open current month.</a:t>
            </a:r>
          </a:p>
        </p:txBody>
      </p:sp>
      <p:sp>
        <p:nvSpPr>
          <p:cNvPr id="4" name="">
            <a:extLst xmlns:a="http://schemas.openxmlformats.org/drawingml/2006/main">
              <a:ext uri="{FF2B5EF4-FFF2-40B4-BE49-F238E27FC236}">
                <a16:creationId xmlns:a16="http://schemas.microsoft.com/office/drawing/2014/main" id="{D77C7487-13F7-4D53-8304-178F76AC79D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Expect a title such as 2026-10 October 2026.</a:t>
            </a:r>
          </a:p>
        </p:txBody>
      </p:sp>
      <p:sp>
        <p:nvSpPr>
          <p:cNvPr id="5" name="">
            <a:extLst xmlns:a="http://schemas.openxmlformats.org/drawingml/2006/main">
              <a:ext uri="{FF2B5EF4-FFF2-40B4-BE49-F238E27FC236}">
                <a16:creationId xmlns:a16="http://schemas.microsoft.com/office/drawing/2014/main" id="{DBE43BC6-2F2B-4EAF-BD79-4729613D51D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monthly Markdown note renders its calendar in Reading view; Source mode shows code.</a:t>
            </a:r>
          </a:p>
        </p:txBody>
      </p:sp>
      <p:sp>
        <p:nvSpPr>
          <p:cNvPr id="6" name="">
            <a:extLst xmlns:a="http://schemas.openxmlformats.org/drawingml/2006/main">
              <a:ext uri="{FF2B5EF4-FFF2-40B4-BE49-F238E27FC236}">
                <a16:creationId xmlns:a16="http://schemas.microsoft.com/office/drawing/2014/main" id="{221CC4BC-FDDD-4BF9-9817-CFC03B4E76C3}"/>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13C65B99-80A9-43D2-B896-27A2D1B63C1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17</a:t>
            </a:r>
          </a:p>
        </p:txBody>
      </p:sp>
    </p:spTree>
    <p:extLst>
      <p:ext uri="{BB962C8B-B14F-4D97-AF65-F5344CB8AC3E}">
        <p14:creationId xmlns:p14="http://schemas.microsoft.com/office/powerpoint/2010/main" val="2083362008"/>
      </p:ext>
    </p:extLst>
  </p:cSld>
</p:sld>
</file>

<file path=ppt/slides/slide1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449F3B6-B6BD-4E0F-9F2B-D33119AF635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preparation</a:t>
            </a:r>
          </a:p>
        </p:txBody>
      </p:sp>
      <p:sp>
        <p:nvSpPr>
          <p:cNvPr id="2" name="">
            <a:extLst xmlns:a="http://schemas.openxmlformats.org/drawingml/2006/main">
              <a:ext uri="{FF2B5EF4-FFF2-40B4-BE49-F238E27FC236}">
                <a16:creationId xmlns:a16="http://schemas.microsoft.com/office/drawing/2014/main" id="{7295E308-3B1B-4E5F-B497-73642819CF2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1.1.7 in the desktop rsn-test-vault and confirm it works.</a:t>
            </a:r>
          </a:p>
        </p:txBody>
      </p:sp>
      <p:sp>
        <p:nvSpPr>
          <p:cNvPr id="3" name="">
            <a:extLst xmlns:a="http://schemas.openxmlformats.org/drawingml/2006/main">
              <a:ext uri="{FF2B5EF4-FFF2-40B4-BE49-F238E27FC236}">
                <a16:creationId xmlns:a16="http://schemas.microsoft.com/office/drawing/2014/main" id="{BCA953AD-C82B-49A4-BF2B-758BEA1142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Connect that local vault to an Obsidian Sync remote vault.</a:t>
            </a:r>
          </a:p>
        </p:txBody>
      </p:sp>
      <p:sp>
        <p:nvSpPr>
          <p:cNvPr id="4" name="">
            <a:extLst xmlns:a="http://schemas.openxmlformats.org/drawingml/2006/main">
              <a:ext uri="{FF2B5EF4-FFF2-40B4-BE49-F238E27FC236}">
                <a16:creationId xmlns:a16="http://schemas.microsoft.com/office/drawing/2014/main" id="{59298707-C38D-45AC-98F1-A013D4849B4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installed and active community plugin sync, plus plugin settings if wanted.</a:t>
            </a:r>
          </a:p>
        </p:txBody>
      </p:sp>
      <p:sp>
        <p:nvSpPr>
          <p:cNvPr id="5" name="">
            <a:extLst xmlns:a="http://schemas.openxmlformats.org/drawingml/2006/main">
              <a:ext uri="{FF2B5EF4-FFF2-40B4-BE49-F238E27FC236}">
                <a16:creationId xmlns:a16="http://schemas.microsoft.com/office/drawing/2014/main" id="{C5A392A1-C6C3-4491-85A2-4F692E4C02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Wait for upload completion. Keep this vault outside iCloud Drive.</a:t>
            </a:r>
          </a:p>
        </p:txBody>
      </p:sp>
      <p:sp>
        <p:nvSpPr>
          <p:cNvPr id="6" name="">
            <a:extLst xmlns:a="http://schemas.openxmlformats.org/drawingml/2006/main">
              <a:ext uri="{FF2B5EF4-FFF2-40B4-BE49-F238E27FC236}">
                <a16:creationId xmlns:a16="http://schemas.microsoft.com/office/drawing/2014/main" id="{FE4B625E-4CCE-43F8-B160-4489D26172C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31452A2E-AA1C-4249-85B0-CE031B50028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18</a:t>
            </a:r>
          </a:p>
        </p:txBody>
      </p:sp>
    </p:spTree>
    <p:extLst>
      <p:ext uri="{BB962C8B-B14F-4D97-AF65-F5344CB8AC3E}">
        <p14:creationId xmlns:p14="http://schemas.microsoft.com/office/powerpoint/2010/main" val="80303331"/>
      </p:ext>
    </p:extLst>
  </p:cSld>
</p:sld>
</file>

<file path=ppt/slides/slide1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25D35A-9E59-48EC-9D27-8150128596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opening</a:t>
            </a:r>
          </a:p>
        </p:txBody>
      </p:sp>
      <p:sp>
        <p:nvSpPr>
          <p:cNvPr id="2" name="">
            <a:extLst xmlns:a="http://schemas.openxmlformats.org/drawingml/2006/main">
              <a:ext uri="{FF2B5EF4-FFF2-40B4-BE49-F238E27FC236}">
                <a16:creationId xmlns:a16="http://schemas.microsoft.com/office/drawing/2014/main" id="{0BD1A214-B645-4CA2-8F19-D567EEB17C9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sign in. Choose the same remote Sync vault.</a:t>
            </a:r>
          </a:p>
        </p:txBody>
      </p:sp>
      <p:sp>
        <p:nvSpPr>
          <p:cNvPr id="3" name="">
            <a:extLst xmlns:a="http://schemas.openxmlformats.org/drawingml/2006/main">
              <a:ext uri="{FF2B5EF4-FFF2-40B4-BE49-F238E27FC236}">
                <a16:creationId xmlns:a16="http://schemas.microsoft.com/office/drawing/2014/main" id="{FD43C55F-F6C4-4EC7-B4B7-467FA621B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Enable the matching plugin sync options on this device. Allow community plugins.</a:t>
            </a:r>
          </a:p>
        </p:txBody>
      </p:sp>
      <p:sp>
        <p:nvSpPr>
          <p:cNvPr id="4" name="">
            <a:extLst xmlns:a="http://schemas.openxmlformats.org/drawingml/2006/main">
              <a:ext uri="{FF2B5EF4-FFF2-40B4-BE49-F238E27FC236}">
                <a16:creationId xmlns:a16="http://schemas.microsoft.com/office/drawing/2014/main" id="{033FCFD4-BE77-4B1C-ADF7-EAF93584D33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files to arrive, restart Obsidian, and enable rsn habit calendar one b.</a:t>
            </a:r>
          </a:p>
        </p:txBody>
      </p:sp>
      <p:sp>
        <p:nvSpPr>
          <p:cNvPr id="5" name="">
            <a:extLst xmlns:a="http://schemas.openxmlformats.org/drawingml/2006/main">
              <a:ext uri="{FF2B5EF4-FFF2-40B4-BE49-F238E27FC236}">
                <a16:creationId xmlns:a16="http://schemas.microsoft.com/office/drawing/2014/main" id="{7B83EEDE-4B91-48B3-8DC5-3ACC547A781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1.1.7 and run Open current month. Expect one calendar per row, even on iPad.</a:t>
            </a:r>
          </a:p>
        </p:txBody>
      </p:sp>
      <p:sp>
        <p:nvSpPr>
          <p:cNvPr id="6" name="">
            <a:extLst xmlns:a="http://schemas.openxmlformats.org/drawingml/2006/main">
              <a:ext uri="{FF2B5EF4-FFF2-40B4-BE49-F238E27FC236}">
                <a16:creationId xmlns:a16="http://schemas.microsoft.com/office/drawing/2014/main" id="{A9E8EAB0-88F8-488A-89EC-A7993A4E57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07B51D5E-ABAA-479E-9828-9FE601B7318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19</a:t>
            </a:r>
          </a:p>
        </p:txBody>
      </p:sp>
    </p:spTree>
    <p:extLst>
      <p:ext uri="{BB962C8B-B14F-4D97-AF65-F5344CB8AC3E}">
        <p14:creationId xmlns:p14="http://schemas.microsoft.com/office/powerpoint/2010/main" val="1132382461"/>
      </p:ext>
    </p:extLst>
  </p:cSld>
</p:sld>
</file>

<file path=ppt/slides/slide2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2EA105-2E0C-4323-AD4E-9D52A5F4004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iCloud setup</a:t>
            </a:r>
          </a:p>
        </p:txBody>
      </p:sp>
      <p:sp>
        <p:nvSpPr>
          <p:cNvPr id="2" name="">
            <a:extLst xmlns:a="http://schemas.openxmlformats.org/drawingml/2006/main">
              <a:ext uri="{FF2B5EF4-FFF2-40B4-BE49-F238E27FC236}">
                <a16:creationId xmlns:a16="http://schemas.microsoft.com/office/drawing/2014/main" id="{FEA9BCA9-BF59-4E64-AF62-BB9CEC10F01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iPhone or iPad, create rsn-test-vault in Obsidian with Store in iCloud enabled.</a:t>
            </a:r>
          </a:p>
        </p:txBody>
      </p:sp>
      <p:sp>
        <p:nvSpPr>
          <p:cNvPr id="3" name="">
            <a:extLst xmlns:a="http://schemas.openxmlformats.org/drawingml/2006/main">
              <a:ext uri="{FF2B5EF4-FFF2-40B4-BE49-F238E27FC236}">
                <a16:creationId xmlns:a16="http://schemas.microsoft.com/office/drawing/2014/main" id="{4A9A6041-CFEB-47AA-A785-5D9FD5FAAE9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On a Mac with the same Apple Account, locate iCloud Drive/Obsidian/rsn-test-vault.</a:t>
            </a:r>
          </a:p>
        </p:txBody>
      </p:sp>
      <p:sp>
        <p:nvSpPr>
          <p:cNvPr id="4" name="">
            <a:extLst xmlns:a="http://schemas.openxmlformats.org/drawingml/2006/main">
              <a:ext uri="{FF2B5EF4-FFF2-40B4-BE49-F238E27FC236}">
                <a16:creationId xmlns:a16="http://schemas.microsoft.com/office/drawing/2014/main" id="{54109B3D-0CC2-4C13-9937-EBBBBFA9141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Keep that folder downloaded and open it as a vault in Obsidian on the Mac.</a:t>
            </a:r>
          </a:p>
        </p:txBody>
      </p:sp>
      <p:sp>
        <p:nvSpPr>
          <p:cNvPr id="5" name="">
            <a:extLst xmlns:a="http://schemas.openxmlformats.org/drawingml/2006/main">
              <a:ext uri="{FF2B5EF4-FFF2-40B4-BE49-F238E27FC236}">
                <a16:creationId xmlns:a16="http://schemas.microsoft.com/office/drawing/2014/main" id="{0EA096FA-0308-4C43-AC86-DBD323D0255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Close Obsidian before copying plugin files into this vault.</a:t>
            </a:r>
          </a:p>
        </p:txBody>
      </p:sp>
      <p:sp>
        <p:nvSpPr>
          <p:cNvPr id="6" name="">
            <a:extLst xmlns:a="http://schemas.openxmlformats.org/drawingml/2006/main">
              <a:ext uri="{FF2B5EF4-FFF2-40B4-BE49-F238E27FC236}">
                <a16:creationId xmlns:a16="http://schemas.microsoft.com/office/drawing/2014/main" id="{54EEC1D5-97F9-4D39-8BC3-F699C52F563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C2D94A7F-2D10-4D92-92A5-E0DD96DFD90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20</a:t>
            </a:r>
          </a:p>
        </p:txBody>
      </p:sp>
    </p:spTree>
    <p:extLst>
      <p:ext uri="{BB962C8B-B14F-4D97-AF65-F5344CB8AC3E}">
        <p14:creationId xmlns:p14="http://schemas.microsoft.com/office/powerpoint/2010/main" val="1152377605"/>
      </p:ext>
    </p:extLst>
  </p:cSld>
</p:sld>
</file>

<file path=ppt/slides/slide2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99C7DE-F302-4A13-AE9C-E48E1B874F1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manual plugin copy</a:t>
            </a:r>
          </a:p>
        </p:txBody>
      </p:sp>
      <p:sp>
        <p:nvSpPr>
          <p:cNvPr id="2" name="">
            <a:extLst xmlns:a="http://schemas.openxmlformats.org/drawingml/2006/main">
              <a:ext uri="{FF2B5EF4-FFF2-40B4-BE49-F238E27FC236}">
                <a16:creationId xmlns:a16="http://schemas.microsoft.com/office/drawing/2014/main" id="{6EAAF19D-FA58-4293-952C-D1EE115790ED}"/>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the Mac, reveal hidden files with Command+Shift+period.</a:t>
            </a:r>
          </a:p>
        </p:txBody>
      </p:sp>
      <p:sp>
        <p:nvSpPr>
          <p:cNvPr id="3" name="">
            <a:extLst xmlns:a="http://schemas.openxmlformats.org/drawingml/2006/main">
              <a:ext uri="{FF2B5EF4-FFF2-40B4-BE49-F238E27FC236}">
                <a16:creationId xmlns:a16="http://schemas.microsoft.com/office/drawing/2014/main" id="{49579A54-7C5D-4F8F-A3B5-352F3C3B045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Copy the three plugin files into the iCloud vault’s matching plugin folder.</a:t>
            </a:r>
          </a:p>
        </p:txBody>
      </p:sp>
      <p:sp>
        <p:nvSpPr>
          <p:cNvPr id="4" name="">
            <a:extLst xmlns:a="http://schemas.openxmlformats.org/drawingml/2006/main">
              <a:ext uri="{FF2B5EF4-FFF2-40B4-BE49-F238E27FC236}">
                <a16:creationId xmlns:a16="http://schemas.microsoft.com/office/drawing/2014/main" id="{228D2461-ED77-411F-9D21-0E66C19E7627}"/>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iCloud transfer. Reopen Obsidian on each Apple device and enable it.</a:t>
            </a:r>
          </a:p>
        </p:txBody>
      </p:sp>
      <p:sp>
        <p:nvSpPr>
          <p:cNvPr id="5" name="">
            <a:extLst xmlns:a="http://schemas.openxmlformats.org/drawingml/2006/main">
              <a:ext uri="{FF2B5EF4-FFF2-40B4-BE49-F238E27FC236}">
                <a16:creationId xmlns:a16="http://schemas.microsoft.com/office/drawing/2014/main" id="{1AAB3266-6D7E-4373-9970-786ADEC47A2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1.1.7 and persistence. Keep this vault separate from Obsidian Sync.</a:t>
            </a:r>
          </a:p>
        </p:txBody>
      </p:sp>
      <p:sp>
        <p:nvSpPr>
          <p:cNvPr id="6" name="">
            <a:extLst xmlns:a="http://schemas.openxmlformats.org/drawingml/2006/main">
              <a:ext uri="{FF2B5EF4-FFF2-40B4-BE49-F238E27FC236}">
                <a16:creationId xmlns:a16="http://schemas.microsoft.com/office/drawing/2014/main" id="{8E1E699D-ABA7-4A69-B14F-B6626CE469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89982A05-79C2-4948-A215-E749FDA4024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21</a:t>
            </a:r>
          </a:p>
        </p:txBody>
      </p:sp>
    </p:spTree>
    <p:extLst>
      <p:ext uri="{BB962C8B-B14F-4D97-AF65-F5344CB8AC3E}">
        <p14:creationId xmlns:p14="http://schemas.microsoft.com/office/powerpoint/2010/main" val="197244440"/>
      </p:ext>
    </p:extLst>
  </p:cSld>
</p:sld>
</file>

<file path=ppt/slides/slide2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0ED357-1DDD-4908-B276-3531C4F23CD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habit editor</a:t>
            </a:r>
          </a:p>
        </p:txBody>
      </p:sp>
      <p:sp>
        <p:nvSpPr>
          <p:cNvPr id="2" name="">
            <a:extLst xmlns:a="http://schemas.openxmlformats.org/drawingml/2006/main">
              <a:ext uri="{FF2B5EF4-FFF2-40B4-BE49-F238E27FC236}">
                <a16:creationId xmlns:a16="http://schemas.microsoft.com/office/drawing/2014/main" id="{27A52794-6F03-4672-9132-52531D1CE73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the calendar, open Details, then Habit list.</a:t>
            </a:r>
          </a:p>
        </p:txBody>
      </p:sp>
      <p:sp>
        <p:nvSpPr>
          <p:cNvPr id="3" name="">
            <a:extLst xmlns:a="http://schemas.openxmlformats.org/drawingml/2006/main">
              <a:ext uri="{FF2B5EF4-FFF2-40B4-BE49-F238E27FC236}">
                <a16:creationId xmlns:a16="http://schemas.microsoft.com/office/drawing/2014/main" id="{9C9AC20C-D9C5-42E8-B019-522693DE217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Walking with Y and #90EE90. Add Reading with Y and #ADD8E6.</a:t>
            </a:r>
          </a:p>
        </p:txBody>
      </p:sp>
      <p:sp>
        <p:nvSpPr>
          <p:cNvPr id="4" name="">
            <a:extLst xmlns:a="http://schemas.openxmlformats.org/drawingml/2006/main">
              <a:ext uri="{FF2B5EF4-FFF2-40B4-BE49-F238E27FC236}">
                <a16:creationId xmlns:a16="http://schemas.microsoft.com/office/drawing/2014/main" id="{E288B4F9-5146-46DF-B0AE-0DA69EF13239}"/>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Yoga with N and #FFDAB9. Generate calendar offers only Y or N.</a:t>
            </a:r>
          </a:p>
        </p:txBody>
      </p:sp>
      <p:sp>
        <p:nvSpPr>
          <p:cNvPr id="5" name="">
            <a:extLst xmlns:a="http://schemas.openxmlformats.org/drawingml/2006/main">
              <a:ext uri="{FF2B5EF4-FFF2-40B4-BE49-F238E27FC236}">
                <a16:creationId xmlns:a16="http://schemas.microsoft.com/office/drawing/2014/main" id="{7F1EE60D-6C32-4E8D-AAA0-358577CF9F2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habit list writes the file and offers the current-month confirmation.</a:t>
            </a:r>
          </a:p>
        </p:txBody>
      </p:sp>
      <p:sp>
        <p:nvSpPr>
          <p:cNvPr id="6" name="">
            <a:extLst xmlns:a="http://schemas.openxmlformats.org/drawingml/2006/main">
              <a:ext uri="{FF2B5EF4-FFF2-40B4-BE49-F238E27FC236}">
                <a16:creationId xmlns:a16="http://schemas.microsoft.com/office/drawing/2014/main" id="{3A81F1D3-80C5-4997-BCB6-4E044C6E324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85679262-2431-4834-818C-9F57BDBAABE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22</a:t>
            </a:r>
          </a:p>
        </p:txBody>
      </p:sp>
    </p:spTree>
    <p:extLst>
      <p:ext uri="{BB962C8B-B14F-4D97-AF65-F5344CB8AC3E}">
        <p14:creationId xmlns:p14="http://schemas.microsoft.com/office/powerpoint/2010/main" val="80150058"/>
      </p:ext>
    </p:extLst>
  </p:cSld>
</p:sld>
</file>

<file path=ppt/slides/slide2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3B876F-CCC6-435F-9B45-0BED6D75615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 calendar and Details</a:t>
            </a:r>
          </a:p>
        </p:txBody>
      </p:sp>
      <p:sp>
        <p:nvSpPr>
          <p:cNvPr id="2" name="">
            <a:extLst xmlns:a="http://schemas.openxmlformats.org/drawingml/2006/main">
              <a:ext uri="{FF2B5EF4-FFF2-40B4-BE49-F238E27FC236}">
                <a16:creationId xmlns:a16="http://schemas.microsoft.com/office/drawing/2014/main" id="{F36D46AA-C011-4751-A368-D16333890F86}"/>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main toolbar has Previous, Choose month, Next and Details. Search stays.</a:t>
            </a:r>
          </a:p>
        </p:txBody>
      </p:sp>
      <p:sp>
        <p:nvSpPr>
          <p:cNvPr id="3" name="">
            <a:extLst xmlns:a="http://schemas.openxmlformats.org/drawingml/2006/main">
              <a:ext uri="{FF2B5EF4-FFF2-40B4-BE49-F238E27FC236}">
                <a16:creationId xmlns:a16="http://schemas.microsoft.com/office/drawing/2014/main" id="{B1CD8B35-7633-4EC9-B61D-30238B34353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Details contains Habit list, Color reference, Apply habit list and Statistics.</a:t>
            </a:r>
          </a:p>
        </p:txBody>
      </p:sp>
      <p:sp>
        <p:nvSpPr>
          <p:cNvPr id="4" name="">
            <a:extLst xmlns:a="http://schemas.openxmlformats.org/drawingml/2006/main">
              <a:ext uri="{FF2B5EF4-FFF2-40B4-BE49-F238E27FC236}">
                <a16:creationId xmlns:a16="http://schemas.microsoft.com/office/drawing/2014/main" id="{3A3660F9-BED2-43C0-B8F7-65A8B476DFA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Statistics and Back to calendars use the month displayed on Details.</a:t>
            </a:r>
          </a:p>
        </p:txBody>
      </p:sp>
      <p:sp>
        <p:nvSpPr>
          <p:cNvPr id="5" name="">
            <a:extLst xmlns:a="http://schemas.openxmlformats.org/drawingml/2006/main">
              <a:ext uri="{FF2B5EF4-FFF2-40B4-BE49-F238E27FC236}">
                <a16:creationId xmlns:a16="http://schemas.microsoft.com/office/drawing/2014/main" id="{B5E0E8FE-39F2-4C21-B26B-1831FF70A11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Apply habit list always targets the actual current month, with Yes/No approval.</a:t>
            </a:r>
          </a:p>
        </p:txBody>
      </p:sp>
      <p:sp>
        <p:nvSpPr>
          <p:cNvPr id="6" name="">
            <a:extLst xmlns:a="http://schemas.openxmlformats.org/drawingml/2006/main">
              <a:ext uri="{FF2B5EF4-FFF2-40B4-BE49-F238E27FC236}">
                <a16:creationId xmlns:a16="http://schemas.microsoft.com/office/drawing/2014/main" id="{C6DDCF7B-3A8B-4505-B4CE-8C9F2B3BD99C}"/>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F23288FA-2FC7-42C0-B162-B2629A664E5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23</a:t>
            </a:r>
          </a:p>
        </p:txBody>
      </p:sp>
    </p:spTree>
    <p:extLst>
      <p:ext uri="{BB962C8B-B14F-4D97-AF65-F5344CB8AC3E}">
        <p14:creationId xmlns:p14="http://schemas.microsoft.com/office/powerpoint/2010/main" val="1836873396"/>
      </p:ext>
    </p:extLst>
  </p:cSld>
</p:sld>
</file>

<file path=ppt/slides/slide2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DEC3175-B520-4274-8682-01B51E7D3E27}"/>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 simpler Habit Tracker sidebar</a:t>
            </a:r>
          </a:p>
        </p:txBody>
      </p:sp>
      <p:sp>
        <p:nvSpPr>
          <p:cNvPr id="2" name="">
            <a:extLst xmlns:a="http://schemas.openxmlformats.org/drawingml/2006/main">
              <a:ext uri="{FF2B5EF4-FFF2-40B4-BE49-F238E27FC236}">
                <a16:creationId xmlns:a16="http://schemas.microsoft.com/office/drawing/2014/main" id="{6AE231DF-A798-48B3-9CAB-729F19B56CA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Months stays visible in the file explorer. Unrelated folders stay visible too.</a:t>
            </a:r>
          </a:p>
        </p:txBody>
      </p:sp>
      <p:sp>
        <p:nvSpPr>
          <p:cNvPr id="3" name="">
            <a:extLst xmlns:a="http://schemas.openxmlformats.org/drawingml/2006/main">
              <a:ext uri="{FF2B5EF4-FFF2-40B4-BE49-F238E27FC236}">
                <a16:creationId xmlns:a16="http://schemas.microsoft.com/office/drawing/2014/main" id="{2A527120-613A-41A9-8B2D-6C47A3086A9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Records, Statistics, System and the two reference notes are hidden there.</a:t>
            </a:r>
          </a:p>
        </p:txBody>
      </p:sp>
      <p:sp>
        <p:nvSpPr>
          <p:cNvPr id="4" name="">
            <a:extLst xmlns:a="http://schemas.openxmlformats.org/drawingml/2006/main">
              <a:ext uri="{FF2B5EF4-FFF2-40B4-BE49-F238E27FC236}">
                <a16:creationId xmlns:a16="http://schemas.microsoft.com/office/drawing/2014/main" id="{745CBFAF-E897-4282-ADA8-E7E0DE10F7C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Details still opens those files. Keep all of them in your backups and sync.</a:t>
            </a:r>
          </a:p>
        </p:txBody>
      </p:sp>
      <p:sp>
        <p:nvSpPr>
          <p:cNvPr id="5" name="">
            <a:extLst xmlns:a="http://schemas.openxmlformats.org/drawingml/2006/main">
              <a:ext uri="{FF2B5EF4-FFF2-40B4-BE49-F238E27FC236}">
                <a16:creationId xmlns:a16="http://schemas.microsoft.com/office/drawing/2014/main" id="{07FED7E1-1E6F-4815-BC5B-0F74728B354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Disabling the plugin restores their visibility when its stylesheet unloads.</a:t>
            </a:r>
          </a:p>
        </p:txBody>
      </p:sp>
      <p:sp>
        <p:nvSpPr>
          <p:cNvPr id="6" name="">
            <a:extLst xmlns:a="http://schemas.openxmlformats.org/drawingml/2006/main">
              <a:ext uri="{FF2B5EF4-FFF2-40B4-BE49-F238E27FC236}">
                <a16:creationId xmlns:a16="http://schemas.microsoft.com/office/drawing/2014/main" id="{FCF203A3-3CA2-4F50-A2B3-01898F88C5C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0A7659C7-40F5-4203-92A3-33C1A7CC4CC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24</a:t>
            </a:r>
          </a:p>
        </p:txBody>
      </p:sp>
    </p:spTree>
    <p:extLst>
      <p:ext uri="{BB962C8B-B14F-4D97-AF65-F5344CB8AC3E}">
        <p14:creationId xmlns:p14="http://schemas.microsoft.com/office/powerpoint/2010/main" val="2129464627"/>
      </p:ext>
    </p:extLst>
  </p:cSld>
</p:sld>
</file>

<file path=ppt/slides/slide2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CC33C2D-FBEF-4F3C-A96D-ED19AF89974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Habit editor on desktop and mobile</a:t>
            </a:r>
          </a:p>
        </p:txBody>
      </p:sp>
      <p:sp>
        <p:nvSpPr>
          <p:cNvPr id="2" name="">
            <a:extLst xmlns:a="http://schemas.openxmlformats.org/drawingml/2006/main">
              <a:ext uri="{FF2B5EF4-FFF2-40B4-BE49-F238E27FC236}">
                <a16:creationId xmlns:a16="http://schemas.microsoft.com/office/drawing/2014/main" id="{0E4483DF-C354-43C9-94D2-31D879D6431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Names, Y/N choices and colors are editable in one page.</a:t>
            </a:r>
          </a:p>
        </p:txBody>
      </p:sp>
      <p:sp>
        <p:nvSpPr>
          <p:cNvPr id="3" name="">
            <a:extLst xmlns:a="http://schemas.openxmlformats.org/drawingml/2006/main">
              <a:ext uri="{FF2B5EF4-FFF2-40B4-BE49-F238E27FC236}">
                <a16:creationId xmlns:a16="http://schemas.microsoft.com/office/drawing/2014/main" id="{4530FA6E-12D7-4E14-B6AA-747CF17BEC1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editor stacks controls vertically on phones, tablets and narrow panes.</a:t>
            </a:r>
          </a:p>
        </p:txBody>
      </p:sp>
      <p:sp>
        <p:nvSpPr>
          <p:cNvPr id="4" name="">
            <a:extLst xmlns:a="http://schemas.openxmlformats.org/drawingml/2006/main">
              <a:ext uri="{FF2B5EF4-FFF2-40B4-BE49-F238E27FC236}">
                <a16:creationId xmlns:a16="http://schemas.microsoft.com/office/drawing/2014/main" id="{47FD5FB3-C2E4-416F-A05E-CCF76282D1F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color displays name, hex and shade. Direct hex entry stays available.</a:t>
            </a:r>
          </a:p>
        </p:txBody>
      </p:sp>
      <p:sp>
        <p:nvSpPr>
          <p:cNvPr id="5" name="">
            <a:extLst xmlns:a="http://schemas.openxmlformats.org/drawingml/2006/main">
              <a:ext uri="{FF2B5EF4-FFF2-40B4-BE49-F238E27FC236}">
                <a16:creationId xmlns:a16="http://schemas.microsoft.com/office/drawing/2014/main" id="{DA1827A8-AC7C-48BA-A7A3-5FA1BC582F0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before closing. Open Markdown file provides access to the underlying table.</a:t>
            </a:r>
          </a:p>
        </p:txBody>
      </p:sp>
      <p:sp>
        <p:nvSpPr>
          <p:cNvPr id="6" name="">
            <a:extLst xmlns:a="http://schemas.openxmlformats.org/drawingml/2006/main">
              <a:ext uri="{FF2B5EF4-FFF2-40B4-BE49-F238E27FC236}">
                <a16:creationId xmlns:a16="http://schemas.microsoft.com/office/drawing/2014/main" id="{73E23D6B-F47E-456F-9241-B5A59E8DD661}"/>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06CE44C3-A3E8-46A7-B0CA-D7C248EF858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25</a:t>
            </a:r>
          </a:p>
        </p:txBody>
      </p:sp>
    </p:spTree>
    <p:extLst>
      <p:ext uri="{BB962C8B-B14F-4D97-AF65-F5344CB8AC3E}">
        <p14:creationId xmlns:p14="http://schemas.microsoft.com/office/powerpoint/2010/main" val="1964491230"/>
      </p:ext>
    </p:extLst>
  </p:cSld>
</p:sld>
</file>

<file path=ppt/slides/slide2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DF7696-8006-46A7-B722-412E020F16F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Saving and sync conflicts</a:t>
            </a:r>
          </a:p>
        </p:txBody>
      </p:sp>
      <p:sp>
        <p:nvSpPr>
          <p:cNvPr id="2" name="">
            <a:extLst xmlns:a="http://schemas.openxmlformats.org/drawingml/2006/main">
              <a:ext uri="{FF2B5EF4-FFF2-40B4-BE49-F238E27FC236}">
                <a16:creationId xmlns:a16="http://schemas.microsoft.com/office/drawing/2014/main" id="{87698E3D-EE20-4405-93BF-FB2AA13D5EB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habit list validates all rows before writing any changes.</a:t>
            </a:r>
          </a:p>
        </p:txBody>
      </p:sp>
      <p:sp>
        <p:nvSpPr>
          <p:cNvPr id="3" name="">
            <a:extLst xmlns:a="http://schemas.openxmlformats.org/drawingml/2006/main">
              <a:ext uri="{FF2B5EF4-FFF2-40B4-BE49-F238E27FC236}">
                <a16:creationId xmlns:a16="http://schemas.microsoft.com/office/drawing/2014/main" id="{F5C19499-A181-4D7D-9A5D-458E612D787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meaningful change immediately offers the existing Yes/No reset confirmation.</a:t>
            </a:r>
          </a:p>
        </p:txBody>
      </p:sp>
      <p:sp>
        <p:nvSpPr>
          <p:cNvPr id="4" name="">
            <a:extLst xmlns:a="http://schemas.openxmlformats.org/drawingml/2006/main">
              <a:ext uri="{FF2B5EF4-FFF2-40B4-BE49-F238E27FC236}">
                <a16:creationId xmlns:a16="http://schemas.microsoft.com/office/drawing/2014/main" id="{F9747206-F531-4F94-B4CF-47E8AE09878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If sync changed the list while you edited, Save refuses to overwrite that newer file.</a:t>
            </a:r>
          </a:p>
        </p:txBody>
      </p:sp>
      <p:sp>
        <p:nvSpPr>
          <p:cNvPr id="5" name="">
            <a:extLst xmlns:a="http://schemas.openxmlformats.org/drawingml/2006/main">
              <a:ext uri="{FF2B5EF4-FFF2-40B4-BE49-F238E27FC236}">
                <a16:creationId xmlns:a16="http://schemas.microsoft.com/office/drawing/2014/main" id="{5B9B0D10-4C32-4781-A645-E5FBD2D1EFB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Copy your edits, reopen the editor and apply them to the latest list.</a:t>
            </a:r>
          </a:p>
        </p:txBody>
      </p:sp>
      <p:sp>
        <p:nvSpPr>
          <p:cNvPr id="6" name="">
            <a:extLst xmlns:a="http://schemas.openxmlformats.org/drawingml/2006/main">
              <a:ext uri="{FF2B5EF4-FFF2-40B4-BE49-F238E27FC236}">
                <a16:creationId xmlns:a16="http://schemas.microsoft.com/office/drawing/2014/main" id="{DF6C6A55-AEEE-4D15-A102-96215A7FD41E}"/>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25195D3A-4553-4B78-9B58-300BFD0AA45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26</a:t>
            </a:r>
          </a:p>
        </p:txBody>
      </p:sp>
    </p:spTree>
    <p:extLst>
      <p:ext uri="{BB962C8B-B14F-4D97-AF65-F5344CB8AC3E}">
        <p14:creationId xmlns:p14="http://schemas.microsoft.com/office/powerpoint/2010/main" val="2012977631"/>
      </p:ext>
    </p:extLst>
  </p:cSld>
</p:sld>
</file>

<file path=ppt/slides/slide2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7C5C2B-8EB8-4E89-AF2B-F3FF715EC22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replacement warning</a:t>
            </a:r>
          </a:p>
        </p:txBody>
      </p:sp>
      <p:sp>
        <p:nvSpPr>
          <p:cNvPr id="2" name="">
            <a:extLst xmlns:a="http://schemas.openxmlformats.org/drawingml/2006/main">
              <a:ext uri="{FF2B5EF4-FFF2-40B4-BE49-F238E27FC236}">
                <a16:creationId xmlns:a16="http://schemas.microsoft.com/office/drawing/2014/main" id="{E79B531F-D1B2-4DF3-9311-1E4DD11210A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warning appears after a meaningful saved habit-list change.</a:t>
            </a:r>
          </a:p>
        </p:txBody>
      </p:sp>
      <p:sp>
        <p:nvSpPr>
          <p:cNvPr id="3" name="">
            <a:extLst xmlns:a="http://schemas.openxmlformats.org/drawingml/2006/main">
              <a:ext uri="{FF2B5EF4-FFF2-40B4-BE49-F238E27FC236}">
                <a16:creationId xmlns:a16="http://schemas.microsoft.com/office/drawing/2014/main" id="{1E46310C-9DF3-4F19-9BC2-11AC6FB78BB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Yes clears every current-month mark and applies the new list.</a:t>
            </a:r>
          </a:p>
        </p:txBody>
      </p:sp>
      <p:sp>
        <p:nvSpPr>
          <p:cNvPr id="4" name="">
            <a:extLst xmlns:a="http://schemas.openxmlformats.org/drawingml/2006/main">
              <a:ext uri="{FF2B5EF4-FFF2-40B4-BE49-F238E27FC236}">
                <a16:creationId xmlns:a16="http://schemas.microsoft.com/office/drawing/2014/main" id="{00703BAA-7E27-4532-9EDE-63F8CD5C203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 preserves displayed calendars and marks. Your edited list remains saved.</a:t>
            </a:r>
          </a:p>
        </p:txBody>
      </p:sp>
      <p:sp>
        <p:nvSpPr>
          <p:cNvPr id="5" name="">
            <a:extLst xmlns:a="http://schemas.openxmlformats.org/drawingml/2006/main">
              <a:ext uri="{FF2B5EF4-FFF2-40B4-BE49-F238E27FC236}">
                <a16:creationId xmlns:a16="http://schemas.microsoft.com/office/drawing/2014/main" id="{AB638F9E-5CAA-4D41-BCA4-BE66B9B4EB8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Details, use Apply habit list to reconsider a change previously declined.</a:t>
            </a:r>
          </a:p>
        </p:txBody>
      </p:sp>
      <p:sp>
        <p:nvSpPr>
          <p:cNvPr id="6" name="">
            <a:extLst xmlns:a="http://schemas.openxmlformats.org/drawingml/2006/main">
              <a:ext uri="{FF2B5EF4-FFF2-40B4-BE49-F238E27FC236}">
                <a16:creationId xmlns:a16="http://schemas.microsoft.com/office/drawing/2014/main" id="{01A93F06-79DA-4E04-AB50-F0D49424626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42962C69-AA78-4641-AF32-6BF58DEC894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27</a:t>
            </a:r>
          </a:p>
        </p:txBody>
      </p:sp>
    </p:spTree>
    <p:extLst>
      <p:ext uri="{BB962C8B-B14F-4D97-AF65-F5344CB8AC3E}">
        <p14:creationId xmlns:p14="http://schemas.microsoft.com/office/powerpoint/2010/main" val="1867211310"/>
      </p:ext>
    </p:extLst>
  </p:cSld>
</p:sld>
</file>

<file path=ppt/slides/slide2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0017B6-68B9-40FA-A848-A12F8A9E7B6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Daily marking exercise</a:t>
            </a:r>
          </a:p>
        </p:txBody>
      </p:sp>
      <p:sp>
        <p:nvSpPr>
          <p:cNvPr id="2" name="">
            <a:extLst xmlns:a="http://schemas.openxmlformats.org/drawingml/2006/main">
              <a:ext uri="{FF2B5EF4-FFF2-40B4-BE49-F238E27FC236}">
                <a16:creationId xmlns:a16="http://schemas.microsoft.com/office/drawing/2014/main" id="{2271BF7E-7857-4DC3-9E5E-27CDCD9FA79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today in Walking once: green means activity completed.</a:t>
            </a:r>
          </a:p>
        </p:txBody>
      </p:sp>
      <p:sp>
        <p:nvSpPr>
          <p:cNvPr id="3" name="">
            <a:extLst xmlns:a="http://schemas.openxmlformats.org/drawingml/2006/main">
              <a:ext uri="{FF2B5EF4-FFF2-40B4-BE49-F238E27FC236}">
                <a16:creationId xmlns:a16="http://schemas.microsoft.com/office/drawing/2014/main" id="{38E140E1-03D8-43FF-9940-A7144202090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again: pink is your manual not-done mark.</a:t>
            </a:r>
          </a:p>
        </p:txBody>
      </p:sp>
      <p:sp>
        <p:nvSpPr>
          <p:cNvPr id="4" name="">
            <a:extLst xmlns:a="http://schemas.openxmlformats.org/drawingml/2006/main">
              <a:ext uri="{FF2B5EF4-FFF2-40B4-BE49-F238E27FC236}">
                <a16:creationId xmlns:a16="http://schemas.microsoft.com/office/drawing/2014/main" id="{6BF125A1-7F6D-4472-8B3F-E01ACE7BF64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third time: the date has no color.</a:t>
            </a:r>
          </a:p>
        </p:txBody>
      </p:sp>
      <p:sp>
        <p:nvSpPr>
          <p:cNvPr id="5" name="">
            <a:extLst xmlns:a="http://schemas.openxmlformats.org/drawingml/2006/main">
              <a:ext uri="{FF2B5EF4-FFF2-40B4-BE49-F238E27FC236}">
                <a16:creationId xmlns:a16="http://schemas.microsoft.com/office/drawing/2014/main" id="{DE57F77A-A0E3-46F8-B879-17391566759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Mark an earlier current-month date, restart Obsidian and confirm the mark persists.</a:t>
            </a:r>
          </a:p>
        </p:txBody>
      </p:sp>
      <p:sp>
        <p:nvSpPr>
          <p:cNvPr id="6" name="">
            <a:extLst xmlns:a="http://schemas.openxmlformats.org/drawingml/2006/main">
              <a:ext uri="{FF2B5EF4-FFF2-40B4-BE49-F238E27FC236}">
                <a16:creationId xmlns:a16="http://schemas.microsoft.com/office/drawing/2014/main" id="{2C03644C-1687-482C-8B1F-738D54D1975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AA42F33F-46BC-452D-8592-1A4006B1AC9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28</a:t>
            </a:r>
          </a:p>
        </p:txBody>
      </p:sp>
    </p:spTree>
    <p:extLst>
      <p:ext uri="{BB962C8B-B14F-4D97-AF65-F5344CB8AC3E}">
        <p14:creationId xmlns:p14="http://schemas.microsoft.com/office/powerpoint/2010/main" val="810063287"/>
      </p:ext>
    </p:extLst>
  </p:cSld>
</p:sld>
</file>

<file path=ppt/slides/slide2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14612D-877A-4B18-835E-E18C8CF1D93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Header colors</a:t>
            </a:r>
          </a:p>
        </p:txBody>
      </p:sp>
      <p:sp>
        <p:nvSpPr>
          <p:cNvPr id="2" name="">
            <a:extLst xmlns:a="http://schemas.openxmlformats.org/drawingml/2006/main">
              <a:ext uri="{FF2B5EF4-FFF2-40B4-BE49-F238E27FC236}">
                <a16:creationId xmlns:a16="http://schemas.microsoft.com/office/drawing/2014/main" id="{FE9F92D2-190C-4082-ACEB-99BE605C5C9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Details, open Habit list and select Choose color for a habit.</a:t>
            </a:r>
          </a:p>
        </p:txBody>
      </p:sp>
      <p:sp>
        <p:nvSpPr>
          <p:cNvPr id="3" name="">
            <a:extLst xmlns:a="http://schemas.openxmlformats.org/drawingml/2006/main">
              <a:ext uri="{FF2B5EF4-FFF2-40B4-BE49-F238E27FC236}">
                <a16:creationId xmlns:a16="http://schemas.microsoft.com/office/drawing/2014/main" id="{9E867E22-7DAE-463D-9DB0-438C8CB06FF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Search color names or hex codes, then select a row with its actual shade.</a:t>
            </a:r>
          </a:p>
        </p:txBody>
      </p:sp>
      <p:sp>
        <p:nvSpPr>
          <p:cNvPr id="4" name="">
            <a:extLst xmlns:a="http://schemas.openxmlformats.org/drawingml/2006/main">
              <a:ext uri="{FF2B5EF4-FFF2-40B4-BE49-F238E27FC236}">
                <a16:creationId xmlns:a16="http://schemas.microsoft.com/office/drawing/2014/main" id="{A22F3E81-FB3A-4136-BEF9-FA58B033E96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You can also type a custom six-digit code such as #B8A9E8.</a:t>
            </a:r>
          </a:p>
        </p:txBody>
      </p:sp>
      <p:sp>
        <p:nvSpPr>
          <p:cNvPr id="5" name="">
            <a:extLst xmlns:a="http://schemas.openxmlformats.org/drawingml/2006/main">
              <a:ext uri="{FF2B5EF4-FFF2-40B4-BE49-F238E27FC236}">
                <a16:creationId xmlns:a16="http://schemas.microsoft.com/office/drawing/2014/main" id="{C6DBF7CE-2849-4BDB-806C-E0D3D480CBC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Details also has Color reference. Reopen the editor after adding custom rows.</a:t>
            </a:r>
          </a:p>
        </p:txBody>
      </p:sp>
      <p:sp>
        <p:nvSpPr>
          <p:cNvPr id="6" name="">
            <a:extLst xmlns:a="http://schemas.openxmlformats.org/drawingml/2006/main">
              <a:ext uri="{FF2B5EF4-FFF2-40B4-BE49-F238E27FC236}">
                <a16:creationId xmlns:a16="http://schemas.microsoft.com/office/drawing/2014/main" id="{FFD3AF34-A468-4D96-B565-CBEA4B0EC02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4A103488-13DF-4F9F-B3AB-5C8909FF353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29</a:t>
            </a:r>
          </a:p>
        </p:txBody>
      </p:sp>
    </p:spTree>
    <p:extLst>
      <p:ext uri="{BB962C8B-B14F-4D97-AF65-F5344CB8AC3E}">
        <p14:creationId xmlns:p14="http://schemas.microsoft.com/office/powerpoint/2010/main" val="1854032132"/>
      </p:ext>
    </p:extLst>
  </p:cSld>
</p:sld>
</file>

<file path=ppt/slides/slide3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AA0914C-F360-4D58-93AD-06161E8B1A6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Habit maintenance</a:t>
            </a:r>
          </a:p>
        </p:txBody>
      </p:sp>
      <p:sp>
        <p:nvSpPr>
          <p:cNvPr id="2" name="">
            <a:extLst xmlns:a="http://schemas.openxmlformats.org/drawingml/2006/main">
              <a:ext uri="{FF2B5EF4-FFF2-40B4-BE49-F238E27FC236}">
                <a16:creationId xmlns:a16="http://schemas.microsoft.com/office/drawing/2014/main" id="{FF90B09A-4670-456F-AE8C-1C918A3CDB5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Edit a name in the editor while its stable ID stays unchanged.</a:t>
            </a:r>
          </a:p>
        </p:txBody>
      </p:sp>
      <p:sp>
        <p:nvSpPr>
          <p:cNvPr id="3" name="">
            <a:extLst xmlns:a="http://schemas.openxmlformats.org/drawingml/2006/main">
              <a:ext uri="{FF2B5EF4-FFF2-40B4-BE49-F238E27FC236}">
                <a16:creationId xmlns:a16="http://schemas.microsoft.com/office/drawing/2014/main" id="{FB562CF2-C98F-4396-8119-5258A4750BC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habit creates a row. Remove habit removes a draft row.</a:t>
            </a:r>
          </a:p>
        </p:txBody>
      </p:sp>
      <p:sp>
        <p:nvSpPr>
          <p:cNvPr id="4" name="">
            <a:extLst xmlns:a="http://schemas.openxmlformats.org/drawingml/2006/main">
              <a:ext uri="{FF2B5EF4-FFF2-40B4-BE49-F238E27FC236}">
                <a16:creationId xmlns:a16="http://schemas.microsoft.com/office/drawing/2014/main" id="{E2A8C3D0-29C4-4F88-BD4D-4C5C566FD8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Y or N and save. Yes resets all current-month marks; No preserves them.</a:t>
            </a:r>
          </a:p>
        </p:txBody>
      </p:sp>
      <p:sp>
        <p:nvSpPr>
          <p:cNvPr id="5" name="">
            <a:extLst xmlns:a="http://schemas.openxmlformats.org/drawingml/2006/main">
              <a:ext uri="{FF2B5EF4-FFF2-40B4-BE49-F238E27FC236}">
                <a16:creationId xmlns:a16="http://schemas.microsoft.com/office/drawing/2014/main" id="{CC174A51-6472-40AF-B68C-C70DA18FBBB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For reordering, use Open Markdown file and move whole rows with their IDs.</a:t>
            </a:r>
          </a:p>
        </p:txBody>
      </p:sp>
      <p:sp>
        <p:nvSpPr>
          <p:cNvPr id="6" name="">
            <a:extLst xmlns:a="http://schemas.openxmlformats.org/drawingml/2006/main">
              <a:ext uri="{FF2B5EF4-FFF2-40B4-BE49-F238E27FC236}">
                <a16:creationId xmlns:a16="http://schemas.microsoft.com/office/drawing/2014/main" id="{F11801A8-7942-42D3-A2E2-5C8F10347D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D3710A3D-8576-4535-A211-DC7462AF943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30</a:t>
            </a:r>
          </a:p>
        </p:txBody>
      </p:sp>
    </p:spTree>
    <p:extLst>
      <p:ext uri="{BB962C8B-B14F-4D97-AF65-F5344CB8AC3E}">
        <p14:creationId xmlns:p14="http://schemas.microsoft.com/office/powerpoint/2010/main" val="1771761476"/>
      </p:ext>
    </p:extLst>
  </p:cSld>
</p:sld>
</file>

<file path=ppt/slides/slide3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4BC4D2-71D6-4A63-A518-7B35DFF75CF7}"/>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Statistics without schedules</a:t>
            </a:r>
          </a:p>
        </p:txBody>
      </p:sp>
      <p:sp>
        <p:nvSpPr>
          <p:cNvPr id="2" name="">
            <a:extLst xmlns:a="http://schemas.openxmlformats.org/drawingml/2006/main">
              <a:ext uri="{FF2B5EF4-FFF2-40B4-BE49-F238E27FC236}">
                <a16:creationId xmlns:a16="http://schemas.microsoft.com/office/drawing/2014/main" id="{6083BA14-B07C-400A-B87A-F72399983F8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Details from the month you want, then select Statistics.</a:t>
            </a:r>
          </a:p>
        </p:txBody>
      </p:sp>
      <p:sp>
        <p:nvSpPr>
          <p:cNvPr id="3" name="">
            <a:extLst xmlns:a="http://schemas.openxmlformats.org/drawingml/2006/main">
              <a:ext uri="{FF2B5EF4-FFF2-40B4-BE49-F238E27FC236}">
                <a16:creationId xmlns:a16="http://schemas.microsoft.com/office/drawing/2014/main" id="{EC4ACAEE-D897-4CE2-95FC-CB44B0A1F04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Completion is green days divided by elapsed calendar days.</a:t>
            </a:r>
          </a:p>
        </p:txBody>
      </p:sp>
      <p:sp>
        <p:nvSpPr>
          <p:cNvPr id="4" name="">
            <a:extLst xmlns:a="http://schemas.openxmlformats.org/drawingml/2006/main">
              <a:ext uri="{FF2B5EF4-FFF2-40B4-BE49-F238E27FC236}">
                <a16:creationId xmlns:a16="http://schemas.microsoft.com/office/drawing/2014/main" id="{E3E3E2BE-6F3D-4A7A-B6B9-DFF6EC159B1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Pink and blank dates break streaks. Streaks stay within one month.</a:t>
            </a:r>
          </a:p>
        </p:txBody>
      </p:sp>
      <p:sp>
        <p:nvSpPr>
          <p:cNvPr id="5" name="">
            <a:extLst xmlns:a="http://schemas.openxmlformats.org/drawingml/2006/main">
              <a:ext uri="{FF2B5EF4-FFF2-40B4-BE49-F238E27FC236}">
                <a16:creationId xmlns:a16="http://schemas.microsoft.com/office/drawing/2014/main" id="{4A9C979E-EF5B-4334-BAF6-24B6DEA91E5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Historical reports keep their saved as-of date and totals.</a:t>
            </a:r>
          </a:p>
        </p:txBody>
      </p:sp>
      <p:sp>
        <p:nvSpPr>
          <p:cNvPr id="6" name="">
            <a:extLst xmlns:a="http://schemas.openxmlformats.org/drawingml/2006/main">
              <a:ext uri="{FF2B5EF4-FFF2-40B4-BE49-F238E27FC236}">
                <a16:creationId xmlns:a16="http://schemas.microsoft.com/office/drawing/2014/main" id="{C22653BE-D0A1-484F-88DF-8ADEBD44DF8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865A0AD0-A11B-4A24-9DCC-0DD802B62E7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31</a:t>
            </a:r>
          </a:p>
        </p:txBody>
      </p:sp>
    </p:spTree>
    <p:extLst>
      <p:ext uri="{BB962C8B-B14F-4D97-AF65-F5344CB8AC3E}">
        <p14:creationId xmlns:p14="http://schemas.microsoft.com/office/powerpoint/2010/main" val="930045280"/>
      </p:ext>
    </p:extLst>
  </p:cSld>
</p:sld>
</file>

<file path=ppt/slides/slide3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EB89EB-3B5C-4287-85E0-5062CF062B3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New months and frozen history</a:t>
            </a:r>
          </a:p>
        </p:txBody>
      </p:sp>
      <p:sp>
        <p:nvSpPr>
          <p:cNvPr id="2" name="">
            <a:extLst xmlns:a="http://schemas.openxmlformats.org/drawingml/2006/main">
              <a:ext uri="{FF2B5EF4-FFF2-40B4-BE49-F238E27FC236}">
                <a16:creationId xmlns:a16="http://schemas.microsoft.com/office/drawing/2014/main" id="{2CC3ABB4-9143-4BBE-A127-C200C6167C5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new month appears while Obsidian is open or on the next opening.</a:t>
            </a:r>
          </a:p>
        </p:txBody>
      </p:sp>
      <p:sp>
        <p:nvSpPr>
          <p:cNvPr id="3" name="">
            <a:extLst xmlns:a="http://schemas.openxmlformats.org/drawingml/2006/main">
              <a:ext uri="{FF2B5EF4-FFF2-40B4-BE49-F238E27FC236}">
                <a16:creationId xmlns:a16="http://schemas.microsoft.com/office/drawing/2014/main" id="{825CDBDA-0EAE-42ED-A873-FBCFF6681D2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new month uses the current habit list and starts with blank marks.</a:t>
            </a:r>
          </a:p>
        </p:txBody>
      </p:sp>
      <p:sp>
        <p:nvSpPr>
          <p:cNvPr id="4" name="">
            <a:extLst xmlns:a="http://schemas.openxmlformats.org/drawingml/2006/main">
              <a:ext uri="{FF2B5EF4-FFF2-40B4-BE49-F238E27FC236}">
                <a16:creationId xmlns:a16="http://schemas.microsoft.com/office/drawing/2014/main" id="{F82B076E-F8B5-4DC9-94BD-D7A7382FF00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Previous months keep their saved calendars and statistics.</a:t>
            </a:r>
          </a:p>
        </p:txBody>
      </p:sp>
      <p:sp>
        <p:nvSpPr>
          <p:cNvPr id="5" name="">
            <a:extLst xmlns:a="http://schemas.openxmlformats.org/drawingml/2006/main">
              <a:ext uri="{FF2B5EF4-FFF2-40B4-BE49-F238E27FC236}">
                <a16:creationId xmlns:a16="http://schemas.microsoft.com/office/drawing/2014/main" id="{35A46CB7-28DD-45BB-A2AA-84AD7C889A5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Late synced marks remain excluded from frozen history.</a:t>
            </a:r>
          </a:p>
        </p:txBody>
      </p:sp>
      <p:sp>
        <p:nvSpPr>
          <p:cNvPr id="6" name="">
            <a:extLst xmlns:a="http://schemas.openxmlformats.org/drawingml/2006/main">
              <a:ext uri="{FF2B5EF4-FFF2-40B4-BE49-F238E27FC236}">
                <a16:creationId xmlns:a16="http://schemas.microsoft.com/office/drawing/2014/main" id="{2AE3EEA3-AC06-4E6D-863A-E9B62980875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2FA61C9D-FE72-4CBE-B537-77CF094A910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32</a:t>
            </a:r>
          </a:p>
        </p:txBody>
      </p:sp>
    </p:spTree>
    <p:extLst>
      <p:ext uri="{BB962C8B-B14F-4D97-AF65-F5344CB8AC3E}">
        <p14:creationId xmlns:p14="http://schemas.microsoft.com/office/powerpoint/2010/main" val="685441260"/>
      </p:ext>
    </p:extLst>
  </p:cSld>
</p:sld>
</file>

<file path=ppt/slides/slide3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567BED7-7845-4F8C-BAB7-1CE50D33264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Month selection on every platform</a:t>
            </a:r>
          </a:p>
        </p:txBody>
      </p:sp>
      <p:sp>
        <p:nvSpPr>
          <p:cNvPr id="2" name="">
            <a:extLst xmlns:a="http://schemas.openxmlformats.org/drawingml/2006/main">
              <a:ext uri="{FF2B5EF4-FFF2-40B4-BE49-F238E27FC236}">
                <a16:creationId xmlns:a16="http://schemas.microsoft.com/office/drawing/2014/main" id="{8A090893-25A3-4FC8-A691-25B6BB606AE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month opens the same Month dropdown and Year field on all devices.</a:t>
            </a:r>
          </a:p>
        </p:txBody>
      </p:sp>
      <p:sp>
        <p:nvSpPr>
          <p:cNvPr id="3" name="">
            <a:extLst xmlns:a="http://schemas.openxmlformats.org/drawingml/2006/main">
              <a:ext uri="{FF2B5EF4-FFF2-40B4-BE49-F238E27FC236}">
                <a16:creationId xmlns:a16="http://schemas.microsoft.com/office/drawing/2014/main" id="{6DD7C0A2-92CD-4051-9B00-3F6C2D9210D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February and enter 2028 to inspect a leap-year month.</a:t>
            </a:r>
          </a:p>
        </p:txBody>
      </p:sp>
      <p:sp>
        <p:nvSpPr>
          <p:cNvPr id="4" name="">
            <a:extLst xmlns:a="http://schemas.openxmlformats.org/drawingml/2006/main">
              <a:ext uri="{FF2B5EF4-FFF2-40B4-BE49-F238E27FC236}">
                <a16:creationId xmlns:a16="http://schemas.microsoft.com/office/drawing/2014/main" id="{83409E37-0B65-45F3-A161-A8F86AC8BA6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Open, or press Enter in the Year field with a keyboard.</a:t>
            </a:r>
          </a:p>
        </p:txBody>
      </p:sp>
      <p:sp>
        <p:nvSpPr>
          <p:cNvPr id="5" name="">
            <a:extLst xmlns:a="http://schemas.openxmlformats.org/drawingml/2006/main">
              <a:ext uri="{FF2B5EF4-FFF2-40B4-BE49-F238E27FC236}">
                <a16:creationId xmlns:a16="http://schemas.microsoft.com/office/drawing/2014/main" id="{57762F12-541B-4A20-A286-D4720202BB46}"/>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Years must be 1970–9999. Choosing a month never makes historical dates editable.</a:t>
            </a:r>
          </a:p>
        </p:txBody>
      </p:sp>
      <p:sp>
        <p:nvSpPr>
          <p:cNvPr id="6" name="">
            <a:extLst xmlns:a="http://schemas.openxmlformats.org/drawingml/2006/main">
              <a:ext uri="{FF2B5EF4-FFF2-40B4-BE49-F238E27FC236}">
                <a16:creationId xmlns:a16="http://schemas.microsoft.com/office/drawing/2014/main" id="{FF39510A-C3E8-4623-AC9F-4FBBF740A46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55162A19-CFEC-400E-97C1-E88341DF4B38}"/>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33</a:t>
            </a:r>
          </a:p>
        </p:txBody>
      </p:sp>
    </p:spTree>
    <p:extLst>
      <p:ext uri="{BB962C8B-B14F-4D97-AF65-F5344CB8AC3E}">
        <p14:creationId xmlns:p14="http://schemas.microsoft.com/office/powerpoint/2010/main" val="1692503126"/>
      </p:ext>
    </p:extLst>
  </p:cSld>
</p:sld>
</file>

<file path=ppt/slides/slide3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57A1F0-AF91-4EF4-BA85-C860F809714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Optional Obsidian Sync</a:t>
            </a:r>
          </a:p>
        </p:txBody>
      </p:sp>
      <p:sp>
        <p:nvSpPr>
          <p:cNvPr id="2" name="">
            <a:extLst xmlns:a="http://schemas.openxmlformats.org/drawingml/2006/main">
              <a:ext uri="{FF2B5EF4-FFF2-40B4-BE49-F238E27FC236}">
                <a16:creationId xmlns:a16="http://schemas.microsoft.com/office/drawing/2014/main" id="{6A402F38-18BD-48CF-82BF-D56F6BEAD4F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Connect every local vault to the same remote vault. Matching names alone do not connect them.</a:t>
            </a:r>
          </a:p>
        </p:txBody>
      </p:sp>
      <p:sp>
        <p:nvSpPr>
          <p:cNvPr id="3" name="">
            <a:extLst xmlns:a="http://schemas.openxmlformats.org/drawingml/2006/main">
              <a:ext uri="{FF2B5EF4-FFF2-40B4-BE49-F238E27FC236}">
                <a16:creationId xmlns:a16="http://schemas.microsoft.com/office/drawing/2014/main" id="{FBA8ADE5-9730-43CF-A547-1F5497ED23D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enable installed and active community plugin sync options.</a:t>
            </a:r>
          </a:p>
        </p:txBody>
      </p:sp>
      <p:sp>
        <p:nvSpPr>
          <p:cNvPr id="4" name="">
            <a:extLst xmlns:a="http://schemas.openxmlformats.org/drawingml/2006/main">
              <a:ext uri="{FF2B5EF4-FFF2-40B4-BE49-F238E27FC236}">
                <a16:creationId xmlns:a16="http://schemas.microsoft.com/office/drawing/2014/main" id="{70E33F9F-109F-404C-B19F-04D96A2459A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 the entire Habit Tracker folder, including Records, Statistics and System.</a:t>
            </a:r>
          </a:p>
        </p:txBody>
      </p:sp>
      <p:sp>
        <p:nvSpPr>
          <p:cNvPr id="5" name="">
            <a:extLst xmlns:a="http://schemas.openxmlformats.org/drawingml/2006/main">
              <a:ext uri="{FF2B5EF4-FFF2-40B4-BE49-F238E27FC236}">
                <a16:creationId xmlns:a16="http://schemas.microsoft.com/office/drawing/2014/main" id="{052FC262-7D83-440D-AA1A-D46E1FFFAC3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Wait for downloads, then restart Obsidian to load plugin changes.</a:t>
            </a:r>
          </a:p>
        </p:txBody>
      </p:sp>
      <p:sp>
        <p:nvSpPr>
          <p:cNvPr id="6" name="">
            <a:extLst xmlns:a="http://schemas.openxmlformats.org/drawingml/2006/main">
              <a:ext uri="{FF2B5EF4-FFF2-40B4-BE49-F238E27FC236}">
                <a16:creationId xmlns:a16="http://schemas.microsoft.com/office/drawing/2014/main" id="{D8086E17-D29C-4932-87B4-347DD192759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B4633153-877C-400A-840D-130F1C9D441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34</a:t>
            </a:r>
          </a:p>
        </p:txBody>
      </p:sp>
    </p:spTree>
    <p:extLst>
      <p:ext uri="{BB962C8B-B14F-4D97-AF65-F5344CB8AC3E}">
        <p14:creationId xmlns:p14="http://schemas.microsoft.com/office/powerpoint/2010/main" val="786956386"/>
      </p:ext>
    </p:extLst>
  </p:cSld>
</p:sld>
</file>

<file path=ppt/slides/slide3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669D61-6B0B-4239-99E8-AEA08B3360C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Safe work across devices</a:t>
            </a:r>
          </a:p>
        </p:txBody>
      </p:sp>
      <p:sp>
        <p:nvSpPr>
          <p:cNvPr id="2" name="">
            <a:extLst xmlns:a="http://schemas.openxmlformats.org/drawingml/2006/main">
              <a:ext uri="{FF2B5EF4-FFF2-40B4-BE49-F238E27FC236}">
                <a16:creationId xmlns:a16="http://schemas.microsoft.com/office/drawing/2014/main" id="{37EEB8B1-3551-4AD6-B9A8-C1A6164FB23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Finish syncing before a habit-list reset on the primary laptop.</a:t>
            </a:r>
          </a:p>
        </p:txBody>
      </p:sp>
      <p:sp>
        <p:nvSpPr>
          <p:cNvPr id="3" name="">
            <a:extLst xmlns:a="http://schemas.openxmlformats.org/drawingml/2006/main">
              <a:ext uri="{FF2B5EF4-FFF2-40B4-BE49-F238E27FC236}">
                <a16:creationId xmlns:a16="http://schemas.microsoft.com/office/drawing/2014/main" id="{A100CE90-B0EF-4999-95D4-91F0B1AAF7D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Let that reset reach other devices before adding marks there.</a:t>
            </a:r>
          </a:p>
        </p:txBody>
      </p:sp>
      <p:sp>
        <p:nvSpPr>
          <p:cNvPr id="4" name="">
            <a:extLst xmlns:a="http://schemas.openxmlformats.org/drawingml/2006/main">
              <a:ext uri="{FF2B5EF4-FFF2-40B4-BE49-F238E27FC236}">
                <a16:creationId xmlns:a16="http://schemas.microsoft.com/office/drawing/2014/main" id="{A76B460E-72B3-431D-93A8-E56EC99F82E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before month rollover so pending activity reaches the saved report.</a:t>
            </a:r>
          </a:p>
        </p:txBody>
      </p:sp>
      <p:sp>
        <p:nvSpPr>
          <p:cNvPr id="5" name="">
            <a:extLst xmlns:a="http://schemas.openxmlformats.org/drawingml/2006/main">
              <a:ext uri="{FF2B5EF4-FFF2-40B4-BE49-F238E27FC236}">
                <a16:creationId xmlns:a16="http://schemas.microsoft.com/office/drawing/2014/main" id="{20E1E9CA-7304-4B3C-B061-A308C880FB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Avoid simultaneous offline resets. Keep a separate backup.</a:t>
            </a:r>
          </a:p>
        </p:txBody>
      </p:sp>
      <p:sp>
        <p:nvSpPr>
          <p:cNvPr id="6" name="">
            <a:extLst xmlns:a="http://schemas.openxmlformats.org/drawingml/2006/main">
              <a:ext uri="{FF2B5EF4-FFF2-40B4-BE49-F238E27FC236}">
                <a16:creationId xmlns:a16="http://schemas.microsoft.com/office/drawing/2014/main" id="{251EAA0E-ED52-44D4-ADD0-C4FEF2ABD8A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E795C91A-D5C5-491F-A2B4-234D72067D8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35</a:t>
            </a:r>
          </a:p>
        </p:txBody>
      </p:sp>
    </p:spTree>
    <p:extLst>
      <p:ext uri="{BB962C8B-B14F-4D97-AF65-F5344CB8AC3E}">
        <p14:creationId xmlns:p14="http://schemas.microsoft.com/office/powerpoint/2010/main" val="365177639"/>
      </p:ext>
    </p:extLst>
  </p:cSld>
</p:sld>
</file>

<file path=ppt/slides/slide3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56443A-A4DB-44C2-86AF-14A7DEB3A4E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Upgrade to version 1.1.7</a:t>
            </a:r>
          </a:p>
        </p:txBody>
      </p:sp>
      <p:sp>
        <p:nvSpPr>
          <p:cNvPr id="2" name="">
            <a:extLst xmlns:a="http://schemas.openxmlformats.org/drawingml/2006/main">
              <a:ext uri="{FF2B5EF4-FFF2-40B4-BE49-F238E27FC236}">
                <a16:creationId xmlns:a16="http://schemas.microsoft.com/office/drawing/2014/main" id="{26DB71BB-F962-4ECA-AB94-DB73975BF3A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1.1.3–1.1.6, close Obsidian, back up the vault and keep the same folder.</a:t>
            </a:r>
          </a:p>
        </p:txBody>
      </p:sp>
      <p:sp>
        <p:nvSpPr>
          <p:cNvPr id="3" name="">
            <a:extLst xmlns:a="http://schemas.openxmlformats.org/drawingml/2006/main">
              <a:ext uri="{FF2B5EF4-FFF2-40B4-BE49-F238E27FC236}">
                <a16:creationId xmlns:a16="http://schemas.microsoft.com/office/drawing/2014/main" id="{9C388016-A379-49CF-8A27-096687D04FD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Replace main.js, manifest.json and styles.css with matching 1.1.7 files.</a:t>
            </a:r>
          </a:p>
        </p:txBody>
      </p:sp>
      <p:sp>
        <p:nvSpPr>
          <p:cNvPr id="4" name="">
            <a:extLst xmlns:a="http://schemas.openxmlformats.org/drawingml/2006/main">
              <a:ext uri="{FF2B5EF4-FFF2-40B4-BE49-F238E27FC236}">
                <a16:creationId xmlns:a16="http://schemas.microsoft.com/office/drawing/2014/main" id="{648A606A-8B41-4E74-A576-560A65ECFC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Preserve data.json and the entire Habit Tracker folder, including hidden entries.</a:t>
            </a:r>
          </a:p>
        </p:txBody>
      </p:sp>
      <p:sp>
        <p:nvSpPr>
          <p:cNvPr id="5" name="">
            <a:extLst xmlns:a="http://schemas.openxmlformats.org/drawingml/2006/main">
              <a:ext uri="{FF2B5EF4-FFF2-40B4-BE49-F238E27FC236}">
                <a16:creationId xmlns:a16="http://schemas.microsoft.com/office/drawing/2014/main" id="{5A4E16F1-7BA1-4A31-87C6-921E54C691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current month. Use Details for habit editing, colors and statistics.</a:t>
            </a:r>
          </a:p>
        </p:txBody>
      </p:sp>
      <p:sp>
        <p:nvSpPr>
          <p:cNvPr id="6" name="">
            <a:extLst xmlns:a="http://schemas.openxmlformats.org/drawingml/2006/main">
              <a:ext uri="{FF2B5EF4-FFF2-40B4-BE49-F238E27FC236}">
                <a16:creationId xmlns:a16="http://schemas.microsoft.com/office/drawing/2014/main" id="{7D951DC9-FA5E-42BE-8E3C-013EEF1FCD7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79C81EF3-7646-476B-B6EC-2BF010C4147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36</a:t>
            </a:r>
          </a:p>
        </p:txBody>
      </p:sp>
    </p:spTree>
    <p:extLst>
      <p:ext uri="{BB962C8B-B14F-4D97-AF65-F5344CB8AC3E}">
        <p14:creationId xmlns:p14="http://schemas.microsoft.com/office/powerpoint/2010/main" val="1733090487"/>
      </p:ext>
    </p:extLst>
  </p:cSld>
</p:sld>
</file>

<file path=ppt/slides/slide3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A0C2E2-ED7A-4DF1-93A0-4F2AC12515E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activation and checks</a:t>
            </a:r>
          </a:p>
        </p:txBody>
      </p:sp>
      <p:sp>
        <p:nvSpPr>
          <p:cNvPr id="2" name="">
            <a:extLst xmlns:a="http://schemas.openxmlformats.org/drawingml/2006/main">
              <a:ext uri="{FF2B5EF4-FFF2-40B4-BE49-F238E27FC236}">
                <a16:creationId xmlns:a16="http://schemas.microsoft.com/office/drawing/2014/main" id="{BF1CB7FB-F9DA-4BA4-8B8B-E3E82222C77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Enable rsn habit calendar one b and confirm version 1.1.7. Keep the old plugin off.</a:t>
            </a:r>
          </a:p>
        </p:txBody>
      </p:sp>
      <p:sp>
        <p:nvSpPr>
          <p:cNvPr id="3" name="">
            <a:extLst xmlns:a="http://schemas.openxmlformats.org/drawingml/2006/main">
              <a:ext uri="{FF2B5EF4-FFF2-40B4-BE49-F238E27FC236}">
                <a16:creationId xmlns:a16="http://schemas.microsoft.com/office/drawing/2014/main" id="{3D430491-3259-4B36-BBB9-FE794E7AA8B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current month. Compare existing marks, statistics and history with the backup.</a:t>
            </a:r>
          </a:p>
        </p:txBody>
      </p:sp>
      <p:sp>
        <p:nvSpPr>
          <p:cNvPr id="4" name="">
            <a:extLst xmlns:a="http://schemas.openxmlformats.org/drawingml/2006/main">
              <a:ext uri="{FF2B5EF4-FFF2-40B4-BE49-F238E27FC236}">
                <a16:creationId xmlns:a16="http://schemas.microsoft.com/office/drawing/2014/main" id="{E80C26B6-D77A-4845-BC02-BB9A0ABFECB5}"/>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Reassign hotkeys and command shortcuts to the new plugin name.</a:t>
            </a:r>
          </a:p>
        </p:txBody>
      </p:sp>
      <p:sp>
        <p:nvSpPr>
          <p:cNvPr id="5" name="">
            <a:extLst xmlns:a="http://schemas.openxmlformats.org/drawingml/2006/main">
              <a:ext uri="{FF2B5EF4-FFF2-40B4-BE49-F238E27FC236}">
                <a16:creationId xmlns:a16="http://schemas.microsoft.com/office/drawing/2014/main" id="{97C166DF-3302-4F80-A46B-977361790F1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If a pending habit-list edit prompts for replacement, choose No until you intend a reset.</a:t>
            </a:r>
          </a:p>
        </p:txBody>
      </p:sp>
      <p:sp>
        <p:nvSpPr>
          <p:cNvPr id="6" name="">
            <a:extLst xmlns:a="http://schemas.openxmlformats.org/drawingml/2006/main">
              <a:ext uri="{FF2B5EF4-FFF2-40B4-BE49-F238E27FC236}">
                <a16:creationId xmlns:a16="http://schemas.microsoft.com/office/drawing/2014/main" id="{B4296B63-B3BD-46D9-8CBB-DBC689AA9B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1065EB51-2E28-4819-8C80-3B718B79578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37</a:t>
            </a:r>
          </a:p>
        </p:txBody>
      </p:sp>
    </p:spTree>
    <p:extLst>
      <p:ext uri="{BB962C8B-B14F-4D97-AF65-F5344CB8AC3E}">
        <p14:creationId xmlns:p14="http://schemas.microsoft.com/office/powerpoint/2010/main" val="482428774"/>
      </p:ext>
    </p:extLst>
  </p:cSld>
</p:sld>
</file>

<file path=ppt/slides/slide3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798547A-4431-4608-B41D-3A990AA9D41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phones and tablets</a:t>
            </a:r>
          </a:p>
        </p:txBody>
      </p:sp>
      <p:sp>
        <p:nvSpPr>
          <p:cNvPr id="2" name="">
            <a:extLst xmlns:a="http://schemas.openxmlformats.org/drawingml/2006/main">
              <a:ext uri="{FF2B5EF4-FFF2-40B4-BE49-F238E27FC236}">
                <a16:creationId xmlns:a16="http://schemas.microsoft.com/office/drawing/2014/main" id="{0440FEAC-DA74-44BC-8E6F-2CD37201089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Obsidian Sync, finish the desktop migration while other devices are idle.</a:t>
            </a:r>
          </a:p>
        </p:txBody>
      </p:sp>
      <p:sp>
        <p:nvSpPr>
          <p:cNvPr id="3" name="">
            <a:extLst xmlns:a="http://schemas.openxmlformats.org/drawingml/2006/main">
              <a:ext uri="{FF2B5EF4-FFF2-40B4-BE49-F238E27FC236}">
                <a16:creationId xmlns:a16="http://schemas.microsoft.com/office/drawing/2014/main" id="{361DD13C-0C8C-4E7B-AC00-948D6A46A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installed/active plugin lists and plugin settings to transfer data.json.</a:t>
            </a:r>
          </a:p>
        </p:txBody>
      </p:sp>
      <p:sp>
        <p:nvSpPr>
          <p:cNvPr id="4" name="">
            <a:extLst xmlns:a="http://schemas.openxmlformats.org/drawingml/2006/main">
              <a:ext uri="{FF2B5EF4-FFF2-40B4-BE49-F238E27FC236}">
                <a16:creationId xmlns:a16="http://schemas.microsoft.com/office/drawing/2014/main" id="{E61FC035-C152-4FDF-931D-44FBB81018E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wait for transfer, restart, and verify the old plugin is off and 1.1.7 is on.</a:t>
            </a:r>
          </a:p>
        </p:txBody>
      </p:sp>
      <p:sp>
        <p:nvSpPr>
          <p:cNvPr id="5" name="">
            <a:extLst xmlns:a="http://schemas.openxmlformats.org/drawingml/2006/main">
              <a:ext uri="{FF2B5EF4-FFF2-40B4-BE49-F238E27FC236}">
                <a16:creationId xmlns:a16="http://schemas.microsoft.com/office/drawing/2014/main" id="{897F9C73-976A-46D0-891C-99F14508C77C}"/>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iCloud, copy files and settings on the Mac, then verify each Apple device.</a:t>
            </a:r>
          </a:p>
        </p:txBody>
      </p:sp>
      <p:sp>
        <p:nvSpPr>
          <p:cNvPr id="6" name="">
            <a:extLst xmlns:a="http://schemas.openxmlformats.org/drawingml/2006/main">
              <a:ext uri="{FF2B5EF4-FFF2-40B4-BE49-F238E27FC236}">
                <a16:creationId xmlns:a16="http://schemas.microsoft.com/office/drawing/2014/main" id="{2295DC1A-CB85-475B-9C01-B92F24621FB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AE1C4F83-BFD8-4EF6-BD10-200449A32D9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38</a:t>
            </a:r>
          </a:p>
        </p:txBody>
      </p:sp>
    </p:spTree>
    <p:extLst>
      <p:ext uri="{BB962C8B-B14F-4D97-AF65-F5344CB8AC3E}">
        <p14:creationId xmlns:p14="http://schemas.microsoft.com/office/powerpoint/2010/main" val="1767922385"/>
      </p:ext>
    </p:extLst>
  </p:cSld>
</p:sld>
</file>

<file path=ppt/slides/slide3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F92E051-3271-45CA-A864-1E2137E0648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Troubleshooting</a:t>
            </a:r>
          </a:p>
        </p:txBody>
      </p:sp>
      <p:sp>
        <p:nvSpPr>
          <p:cNvPr id="2" name="">
            <a:extLst xmlns:a="http://schemas.openxmlformats.org/drawingml/2006/main">
              <a:ext uri="{FF2B5EF4-FFF2-40B4-BE49-F238E27FC236}">
                <a16:creationId xmlns:a16="http://schemas.microsoft.com/office/drawing/2014/main" id="{6BA89E72-43DE-4F5D-9B30-59FE1029578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Plugin missing: check vault, directory nesting and exact filenames.</a:t>
            </a:r>
          </a:p>
        </p:txBody>
      </p:sp>
      <p:sp>
        <p:nvSpPr>
          <p:cNvPr id="3" name="">
            <a:extLst xmlns:a="http://schemas.openxmlformats.org/drawingml/2006/main">
              <a:ext uri="{FF2B5EF4-FFF2-40B4-BE49-F238E27FC236}">
                <a16:creationId xmlns:a16="http://schemas.microsoft.com/office/drawing/2014/main" id="{8CD508DD-F2E1-419D-802E-7063B1AF2E6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Controls visible but no calendars: check Y rows and whether list changes were declined.</a:t>
            </a:r>
          </a:p>
        </p:txBody>
      </p:sp>
      <p:sp>
        <p:nvSpPr>
          <p:cNvPr id="4" name="">
            <a:extLst xmlns:a="http://schemas.openxmlformats.org/drawingml/2006/main">
              <a:ext uri="{FF2B5EF4-FFF2-40B4-BE49-F238E27FC236}">
                <a16:creationId xmlns:a16="http://schemas.microsoft.com/office/drawing/2014/main" id="{39144E2E-A9BA-427C-ABD9-EEC462E0949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Blank view: run Open current month and try the note in Reading view.</a:t>
            </a:r>
          </a:p>
        </p:txBody>
      </p:sp>
      <p:sp>
        <p:nvSpPr>
          <p:cNvPr id="5" name="">
            <a:extLst xmlns:a="http://schemas.openxmlformats.org/drawingml/2006/main">
              <a:ext uri="{FF2B5EF4-FFF2-40B4-BE49-F238E27FC236}">
                <a16:creationId xmlns:a16="http://schemas.microsoft.com/office/drawing/2014/main" id="{E4855899-9F88-49D7-9E63-FFF04749F6E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Report the app version, plugin version, phone/OS, steps and exact error text.</a:t>
            </a:r>
          </a:p>
        </p:txBody>
      </p:sp>
      <p:sp>
        <p:nvSpPr>
          <p:cNvPr id="6" name="">
            <a:extLst xmlns:a="http://schemas.openxmlformats.org/drawingml/2006/main">
              <a:ext uri="{FF2B5EF4-FFF2-40B4-BE49-F238E27FC236}">
                <a16:creationId xmlns:a16="http://schemas.microsoft.com/office/drawing/2014/main" id="{C5F7D7FB-6BA2-4363-B914-EA14713B7CE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7B5899B0-F394-420B-8408-A240FF3F030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39</a:t>
            </a:r>
          </a:p>
        </p:txBody>
      </p:sp>
    </p:spTree>
    <p:extLst>
      <p:ext uri="{BB962C8B-B14F-4D97-AF65-F5344CB8AC3E}">
        <p14:creationId xmlns:p14="http://schemas.microsoft.com/office/powerpoint/2010/main" val="1641408293"/>
      </p:ext>
    </p:extLst>
  </p:cSld>
</p:sld>
</file>

<file path=ppt/slides/slide4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C40C2D-0918-4846-9F03-8A1D3C350FC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source and release files</a:t>
            </a:r>
          </a:p>
        </p:txBody>
      </p:sp>
      <p:sp>
        <p:nvSpPr>
          <p:cNvPr id="2" name="">
            <a:extLst xmlns:a="http://schemas.openxmlformats.org/drawingml/2006/main">
              <a:ext uri="{FF2B5EF4-FFF2-40B4-BE49-F238E27FC236}">
                <a16:creationId xmlns:a16="http://schemas.microsoft.com/office/drawing/2014/main" id="{7EA2AEA9-E7CB-4E7D-BACA-ABF16638713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Upload repository/ contents at the GitHub root, including hidden .github files.</a:t>
            </a:r>
          </a:p>
        </p:txBody>
      </p:sp>
      <p:sp>
        <p:nvSpPr>
          <p:cNvPr id="3" name="">
            <a:extLst xmlns:a="http://schemas.openxmlformats.org/drawingml/2006/main">
              <a:ext uri="{FF2B5EF4-FFF2-40B4-BE49-F238E27FC236}">
                <a16:creationId xmlns:a16="http://schemas.microsoft.com/office/drawing/2014/main" id="{AB941E87-DBA6-419E-9AC5-A171E82CD30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Delete old src/core.js and src/plugin-source.js. Upload the .ts replacements.</a:t>
            </a:r>
          </a:p>
        </p:txBody>
      </p:sp>
      <p:sp>
        <p:nvSpPr>
          <p:cNvPr id="4" name="">
            <a:extLst xmlns:a="http://schemas.openxmlformats.org/drawingml/2006/main">
              <a:ext uri="{FF2B5EF4-FFF2-40B4-BE49-F238E27FC236}">
                <a16:creationId xmlns:a16="http://schemas.microsoft.com/office/drawing/2014/main" id="{9335952C-09DB-430E-B65C-612FCF049F9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only main.js, manifest.json and styles.css as release attachments.</a:t>
            </a:r>
          </a:p>
        </p:txBody>
      </p:sp>
      <p:sp>
        <p:nvSpPr>
          <p:cNvPr id="5" name="">
            <a:extLst xmlns:a="http://schemas.openxmlformats.org/drawingml/2006/main">
              <a:ext uri="{FF2B5EF4-FFF2-40B4-BE49-F238E27FC236}">
                <a16:creationId xmlns:a16="http://schemas.microsoft.com/office/drawing/2014/main" id="{14E3083E-E789-4C62-974F-246F41D58CF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optional ZIP, color file and checksums stay in the separate manual kit.</a:t>
            </a:r>
          </a:p>
        </p:txBody>
      </p:sp>
      <p:sp>
        <p:nvSpPr>
          <p:cNvPr id="6" name="">
            <a:extLst xmlns:a="http://schemas.openxmlformats.org/drawingml/2006/main">
              <a:ext uri="{FF2B5EF4-FFF2-40B4-BE49-F238E27FC236}">
                <a16:creationId xmlns:a16="http://schemas.microsoft.com/office/drawing/2014/main" id="{DA43C288-7589-4AC9-A044-9D842C4DD30E}"/>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7D99D835-3676-4671-90F9-64CCE7AAE81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40</a:t>
            </a:r>
          </a:p>
        </p:txBody>
      </p:sp>
    </p:spTree>
    <p:extLst>
      <p:ext uri="{BB962C8B-B14F-4D97-AF65-F5344CB8AC3E}">
        <p14:creationId xmlns:p14="http://schemas.microsoft.com/office/powerpoint/2010/main" val="109499648"/>
      </p:ext>
    </p:extLst>
  </p:cSld>
</p:sld>
</file>

<file path=ppt/slides/slide4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2F8E3B-7A58-40BD-9738-25BFF0214E4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Update the existing GitHub repository</a:t>
            </a:r>
          </a:p>
        </p:txBody>
      </p:sp>
      <p:sp>
        <p:nvSpPr>
          <p:cNvPr id="2" name="">
            <a:extLst xmlns:a="http://schemas.openxmlformats.org/drawingml/2006/main">
              <a:ext uri="{FF2B5EF4-FFF2-40B4-BE49-F238E27FC236}">
                <a16:creationId xmlns:a16="http://schemas.microsoft.com/office/drawing/2014/main" id="{ECA63C7F-F30D-4C4C-9F29-BA3EA5F90F3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repository, history, tags and previous releases. Do not delete everything.</a:t>
            </a:r>
          </a:p>
        </p:txBody>
      </p:sp>
      <p:sp>
        <p:nvSpPr>
          <p:cNvPr id="3" name="">
            <a:extLst xmlns:a="http://schemas.openxmlformats.org/drawingml/2006/main">
              <a:ext uri="{FF2B5EF4-FFF2-40B4-BE49-F238E27FC236}">
                <a16:creationId xmlns:a16="http://schemas.microsoft.com/office/drawing/2014/main" id="{656619A2-2F92-4150-9002-4715EF18203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Copy repository/ contents into the source root, including hidden .github files.</a:t>
            </a:r>
          </a:p>
        </p:txBody>
      </p:sp>
      <p:sp>
        <p:nvSpPr>
          <p:cNvPr id="4" name="">
            <a:extLst xmlns:a="http://schemas.openxmlformats.org/drawingml/2006/main">
              <a:ext uri="{FF2B5EF4-FFF2-40B4-BE49-F238E27FC236}">
                <a16:creationId xmlns:a16="http://schemas.microsoft.com/office/drawing/2014/main" id="{E87C7AA2-1FFC-4BD4-B174-7290C638888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Delete only the superseded src/core.js and src/plugin-source.js source files.</a:t>
            </a:r>
          </a:p>
        </p:txBody>
      </p:sp>
      <p:sp>
        <p:nvSpPr>
          <p:cNvPr id="5" name="">
            <a:extLst xmlns:a="http://schemas.openxmlformats.org/drawingml/2006/main">
              <a:ext uri="{FF2B5EF4-FFF2-40B4-BE49-F238E27FC236}">
                <a16:creationId xmlns:a16="http://schemas.microsoft.com/office/drawing/2014/main" id="{FF3D0051-4852-40FF-B24D-F0F7DEED938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Review a branch/PR, run all three OS checks, then merge the complete update.</a:t>
            </a:r>
          </a:p>
        </p:txBody>
      </p:sp>
      <p:sp>
        <p:nvSpPr>
          <p:cNvPr id="6" name="">
            <a:extLst xmlns:a="http://schemas.openxmlformats.org/drawingml/2006/main">
              <a:ext uri="{FF2B5EF4-FFF2-40B4-BE49-F238E27FC236}">
                <a16:creationId xmlns:a16="http://schemas.microsoft.com/office/drawing/2014/main" id="{06467542-16CB-4AF9-910B-CCC63427F9A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1A2588D1-41F0-42B6-8FF8-C4A019276EF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41</a:t>
            </a:r>
          </a:p>
        </p:txBody>
      </p:sp>
    </p:spTree>
    <p:extLst>
      <p:ext uri="{BB962C8B-B14F-4D97-AF65-F5344CB8AC3E}">
        <p14:creationId xmlns:p14="http://schemas.microsoft.com/office/powerpoint/2010/main" val="1914632812"/>
      </p:ext>
    </p:extLst>
  </p:cSld>
</p:sld>
</file>

<file path=ppt/slides/slide4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DDE105E-02D1-420D-B98D-2C2C2E90473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Manual kit: GitHub Actions artifacts</a:t>
            </a:r>
          </a:p>
        </p:txBody>
      </p:sp>
      <p:sp>
        <p:nvSpPr>
          <p:cNvPr id="2" name="">
            <a:extLst xmlns:a="http://schemas.openxmlformats.org/drawingml/2006/main">
              <a:ext uri="{FF2B5EF4-FFF2-40B4-BE49-F238E27FC236}">
                <a16:creationId xmlns:a16="http://schemas.microsoft.com/office/drawing/2014/main" id="{60AA2628-8826-427F-A6C2-175094EB238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workflow uploads the kit automatically; do not commit manual-downloads/.</a:t>
            </a:r>
          </a:p>
        </p:txBody>
      </p:sp>
      <p:sp>
        <p:nvSpPr>
          <p:cNvPr id="3" name="">
            <a:extLst xmlns:a="http://schemas.openxmlformats.org/drawingml/2006/main">
              <a:ext uri="{FF2B5EF4-FFF2-40B4-BE49-F238E27FC236}">
                <a16:creationId xmlns:a16="http://schemas.microsoft.com/office/drawing/2014/main" id="{89E8ABD7-CC72-4AF5-9806-E6443C92930D}"/>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Actions → Build and review → the successful run for your intended commit.</a:t>
            </a:r>
          </a:p>
        </p:txBody>
      </p:sp>
      <p:sp>
        <p:nvSpPr>
          <p:cNvPr id="4" name="">
            <a:extLst xmlns:a="http://schemas.openxmlformats.org/drawingml/2006/main">
              <a:ext uri="{FF2B5EF4-FFF2-40B4-BE49-F238E27FC236}">
                <a16:creationId xmlns:a16="http://schemas.microsoft.com/office/drawing/2014/main" id="{6E94B584-9093-42D5-ADD8-5C22E51EC4A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Under Artifacts, download habit-calendar-test-kit-Linux and extract it.</a:t>
            </a:r>
          </a:p>
        </p:txBody>
      </p:sp>
      <p:sp>
        <p:nvSpPr>
          <p:cNvPr id="5" name="">
            <a:extLst xmlns:a="http://schemas.openxmlformats.org/drawingml/2006/main">
              <a:ext uri="{FF2B5EF4-FFF2-40B4-BE49-F238E27FC236}">
                <a16:creationId xmlns:a16="http://schemas.microsoft.com/office/drawing/2014/main" id="{EBFA09BB-1666-48CF-8A4D-1D006D02C61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Verify SHA256SUMS. Extract the inner plugin ZIP or copy the three program files.</a:t>
            </a:r>
          </a:p>
        </p:txBody>
      </p:sp>
      <p:sp>
        <p:nvSpPr>
          <p:cNvPr id="6" name="">
            <a:extLst xmlns:a="http://schemas.openxmlformats.org/drawingml/2006/main">
              <a:ext uri="{FF2B5EF4-FFF2-40B4-BE49-F238E27FC236}">
                <a16:creationId xmlns:a16="http://schemas.microsoft.com/office/drawing/2014/main" id="{05E754DF-C038-4D6E-AA9F-D01840D9671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514D7B09-387B-4E03-9757-075DC9F9898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42</a:t>
            </a:r>
          </a:p>
        </p:txBody>
      </p:sp>
    </p:spTree>
    <p:extLst>
      <p:ext uri="{BB962C8B-B14F-4D97-AF65-F5344CB8AC3E}">
        <p14:creationId xmlns:p14="http://schemas.microsoft.com/office/powerpoint/2010/main" val="1674005716"/>
      </p:ext>
    </p:extLst>
  </p:cSld>
</p:sld>
</file>

<file path=ppt/slides/slide4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10C1D1E-900C-4FE0-9250-8BECE362E7A5}"/>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Optional permanent manual downloads</a:t>
            </a:r>
          </a:p>
        </p:txBody>
      </p:sp>
      <p:sp>
        <p:nvSpPr>
          <p:cNvPr id="2" name="">
            <a:extLst xmlns:a="http://schemas.openxmlformats.org/drawingml/2006/main">
              <a:ext uri="{FF2B5EF4-FFF2-40B4-BE49-F238E27FC236}">
                <a16:creationId xmlns:a16="http://schemas.microsoft.com/office/drawing/2014/main" id="{D0192BC5-CCB6-4335-A572-7FE6588AC20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Most users need only the three plugin release files or the Community installer.</a:t>
            </a:r>
          </a:p>
        </p:txBody>
      </p:sp>
      <p:sp>
        <p:nvSpPr>
          <p:cNvPr id="3" name="">
            <a:extLst xmlns:a="http://schemas.openxmlformats.org/drawingml/2006/main">
              <a:ext uri="{FF2B5EF4-FFF2-40B4-BE49-F238E27FC236}">
                <a16:creationId xmlns:a16="http://schemas.microsoft.com/office/drawing/2014/main" id="{7D849ADD-0615-459A-A910-4046DB46F91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For a permanent full kit, optionally create a separate downloads-only repository.</a:t>
            </a:r>
          </a:p>
        </p:txBody>
      </p:sp>
      <p:sp>
        <p:nvSpPr>
          <p:cNvPr id="4" name="">
            <a:extLst xmlns:a="http://schemas.openxmlformats.org/drawingml/2006/main">
              <a:ext uri="{FF2B5EF4-FFF2-40B4-BE49-F238E27FC236}">
                <a16:creationId xmlns:a16="http://schemas.microsoft.com/office/drawing/2014/main" id="{4D66FB73-11C1-4981-9BEC-E0400124D515}"/>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Attach the six verified kit files to its manual-kit-1.1.7 release; link the source/license.</a:t>
            </a:r>
          </a:p>
        </p:txBody>
      </p:sp>
      <p:sp>
        <p:nvSpPr>
          <p:cNvPr id="5" name="">
            <a:extLst xmlns:a="http://schemas.openxmlformats.org/drawingml/2006/main">
              <a:ext uri="{FF2B5EF4-FFF2-40B4-BE49-F238E27FC236}">
                <a16:creationId xmlns:a16="http://schemas.microsoft.com/office/drawing/2014/main" id="{EA4F86B3-6393-4CB7-B067-712F29C70AA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plugin’s own Community release limited to its three supported files.</a:t>
            </a:r>
          </a:p>
        </p:txBody>
      </p:sp>
      <p:sp>
        <p:nvSpPr>
          <p:cNvPr id="6" name="">
            <a:extLst xmlns:a="http://schemas.openxmlformats.org/drawingml/2006/main">
              <a:ext uri="{FF2B5EF4-FFF2-40B4-BE49-F238E27FC236}">
                <a16:creationId xmlns:a16="http://schemas.microsoft.com/office/drawing/2014/main" id="{0C243B7C-8CB2-4031-9F20-0DEE8B9E146C}"/>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718902C9-8CF2-42F2-A2E5-DB1C1AD4C4D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43</a:t>
            </a:r>
          </a:p>
        </p:txBody>
      </p:sp>
    </p:spTree>
    <p:extLst>
      <p:ext uri="{BB962C8B-B14F-4D97-AF65-F5344CB8AC3E}">
        <p14:creationId xmlns:p14="http://schemas.microsoft.com/office/powerpoint/2010/main" val="1013240923"/>
      </p:ext>
    </p:extLst>
  </p:cSld>
</p:sld>
</file>

<file path=ppt/slides/slide4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89086D-14EA-4A91-BB4A-08B2C2B7AE7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build and device tests</a:t>
            </a:r>
          </a:p>
        </p:txBody>
      </p:sp>
      <p:sp>
        <p:nvSpPr>
          <p:cNvPr id="2" name="">
            <a:extLst xmlns:a="http://schemas.openxmlformats.org/drawingml/2006/main">
              <a:ext uri="{FF2B5EF4-FFF2-40B4-BE49-F238E27FC236}">
                <a16:creationId xmlns:a16="http://schemas.microsoft.com/office/drawing/2014/main" id="{13182906-30DD-4469-85B9-223B0288498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npm ci --ignore-scripts, npm run check and npm run test:helper.</a:t>
            </a:r>
          </a:p>
        </p:txBody>
      </p:sp>
      <p:sp>
        <p:nvSpPr>
          <p:cNvPr id="3" name="">
            <a:extLst xmlns:a="http://schemas.openxmlformats.org/drawingml/2006/main">
              <a:ext uri="{FF2B5EF4-FFF2-40B4-BE49-F238E27FC236}">
                <a16:creationId xmlns:a16="http://schemas.microsoft.com/office/drawing/2014/main" id="{C3E663D3-3EAA-492E-A9F9-7BF48F9FA30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Check four main buttons, Details month context and all management actions.</a:t>
            </a:r>
          </a:p>
        </p:txBody>
      </p:sp>
      <p:sp>
        <p:nvSpPr>
          <p:cNvPr id="4" name="">
            <a:extLst xmlns:a="http://schemas.openxmlformats.org/drawingml/2006/main">
              <a:ext uri="{FF2B5EF4-FFF2-40B4-BE49-F238E27FC236}">
                <a16:creationId xmlns:a16="http://schemas.microsoft.com/office/drawing/2014/main" id="{A9FD5195-9234-4CE7-BCB9-D46AF18DF4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Test the five hidden explorer entries with your actual app and theme.</a:t>
            </a:r>
          </a:p>
        </p:txBody>
      </p:sp>
      <p:sp>
        <p:nvSpPr>
          <p:cNvPr id="5" name="">
            <a:extLst xmlns:a="http://schemas.openxmlformats.org/drawingml/2006/main">
              <a:ext uri="{FF2B5EF4-FFF2-40B4-BE49-F238E27FC236}">
                <a16:creationId xmlns:a16="http://schemas.microsoft.com/office/drawing/2014/main" id="{41DE0717-2035-49AA-9F39-A172F65B24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all three GitHub OS jobs and native tests before publishing.</a:t>
            </a:r>
          </a:p>
        </p:txBody>
      </p:sp>
      <p:sp>
        <p:nvSpPr>
          <p:cNvPr id="6" name="">
            <a:extLst xmlns:a="http://schemas.openxmlformats.org/drawingml/2006/main">
              <a:ext uri="{FF2B5EF4-FFF2-40B4-BE49-F238E27FC236}">
                <a16:creationId xmlns:a16="http://schemas.microsoft.com/office/drawing/2014/main" id="{CF609F5A-85D7-47F7-912F-A976A34CCC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38018F1F-8748-4D4F-8094-E40585F22D5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44</a:t>
            </a:r>
          </a:p>
        </p:txBody>
      </p:sp>
    </p:spTree>
    <p:extLst>
      <p:ext uri="{BB962C8B-B14F-4D97-AF65-F5344CB8AC3E}">
        <p14:creationId xmlns:p14="http://schemas.microsoft.com/office/powerpoint/2010/main" val="870038696"/>
      </p:ext>
    </p:extLst>
  </p:cSld>
</p:sld>
</file>

<file path=ppt/slides/slide4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A777C3-A4AE-42E4-BDED-1FA6F0B32E5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Community review</a:t>
            </a:r>
          </a:p>
        </p:txBody>
      </p:sp>
      <p:sp>
        <p:nvSpPr>
          <p:cNvPr id="2" name="">
            <a:extLst xmlns:a="http://schemas.openxmlformats.org/drawingml/2006/main">
              <a:ext uri="{FF2B5EF4-FFF2-40B4-BE49-F238E27FC236}">
                <a16:creationId xmlns:a16="http://schemas.microsoft.com/office/drawing/2014/main" id="{85A30F59-6564-4FB1-8311-5503FE592CD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Commit the 1.1.7 manifest on the default branch and keep the same plugin ID.</a:t>
            </a:r>
          </a:p>
        </p:txBody>
      </p:sp>
      <p:sp>
        <p:nvSpPr>
          <p:cNvPr id="3" name="">
            <a:extLst xmlns:a="http://schemas.openxmlformats.org/drawingml/2006/main">
              <a:ext uri="{FF2B5EF4-FFF2-40B4-BE49-F238E27FC236}">
                <a16:creationId xmlns:a16="http://schemas.microsoft.com/office/drawing/2014/main" id="{512FE2D3-903F-4239-9660-7847F589953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Publish the tested, attested 1.1.7 release with exactly three attachments.</a:t>
            </a:r>
          </a:p>
        </p:txBody>
      </p:sp>
      <p:sp>
        <p:nvSpPr>
          <p:cNvPr id="4" name="">
            <a:extLst xmlns:a="http://schemas.openxmlformats.org/drawingml/2006/main">
              <a:ext uri="{FF2B5EF4-FFF2-40B4-BE49-F238E27FC236}">
                <a16:creationId xmlns:a16="http://schemas.microsoft.com/office/drawing/2014/main" id="{276C6C1D-24EB-4C45-A7F0-118C7C02849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Return to the existing Community entry and check for the new review.</a:t>
            </a:r>
          </a:p>
        </p:txBody>
      </p:sp>
      <p:sp>
        <p:nvSpPr>
          <p:cNvPr id="5" name="">
            <a:extLst xmlns:a="http://schemas.openxmlformats.org/drawingml/2006/main">
              <a:ext uri="{FF2B5EF4-FFF2-40B4-BE49-F238E27FC236}">
                <a16:creationId xmlns:a16="http://schemas.microsoft.com/office/drawing/2014/main" id="{3E550686-513E-4E5E-A1F2-A7930E2A937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Resolve findings, publish when ready and test installation from Community plugins.</a:t>
            </a:r>
          </a:p>
        </p:txBody>
      </p:sp>
      <p:sp>
        <p:nvSpPr>
          <p:cNvPr id="6" name="">
            <a:extLst xmlns:a="http://schemas.openxmlformats.org/drawingml/2006/main">
              <a:ext uri="{FF2B5EF4-FFF2-40B4-BE49-F238E27FC236}">
                <a16:creationId xmlns:a16="http://schemas.microsoft.com/office/drawing/2014/main" id="{D4E281EE-2599-4DA4-BC7C-66A58034E45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157A1A35-8F75-4155-A265-0E75177ACC3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45</a:t>
            </a:r>
          </a:p>
        </p:txBody>
      </p:sp>
    </p:spTree>
    <p:extLst>
      <p:ext uri="{BB962C8B-B14F-4D97-AF65-F5344CB8AC3E}">
        <p14:creationId xmlns:p14="http://schemas.microsoft.com/office/powerpoint/2010/main" val="1623824042"/>
      </p:ext>
    </p:extLst>
  </p:cSld>
</p:sld>
</file>

<file path=ppt/slides/slide4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4F0C14D-AC50-4823-B7A9-05FEA26744A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attested draft release</a:t>
            </a:r>
          </a:p>
        </p:txBody>
      </p:sp>
      <p:sp>
        <p:nvSpPr>
          <p:cNvPr id="2" name="">
            <a:extLst xmlns:a="http://schemas.openxmlformats.org/drawingml/2006/main">
              <a:ext uri="{FF2B5EF4-FFF2-40B4-BE49-F238E27FC236}">
                <a16:creationId xmlns:a16="http://schemas.microsoft.com/office/drawing/2014/main" id="{2710934A-2E9A-4126-BAF6-FE419870A962}"/>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Create tag 1.1.7 on the reviewed commit; do not create its release manually yet.</a:t>
            </a:r>
          </a:p>
        </p:txBody>
      </p:sp>
      <p:sp>
        <p:nvSpPr>
          <p:cNvPr id="3" name="">
            <a:extLst xmlns:a="http://schemas.openxmlformats.org/drawingml/2006/main">
              <a:ext uri="{FF2B5EF4-FFF2-40B4-BE49-F238E27FC236}">
                <a16:creationId xmlns:a16="http://schemas.microsoft.com/office/drawing/2014/main" id="{7F001E33-58F3-4960-A4B2-4FA86B42CA7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Actions → Prepare attested release with tag 1.1.7.</a:t>
            </a:r>
          </a:p>
        </p:txBody>
      </p:sp>
      <p:sp>
        <p:nvSpPr>
          <p:cNvPr id="4" name="">
            <a:extLst xmlns:a="http://schemas.openxmlformats.org/drawingml/2006/main">
              <a:ext uri="{FF2B5EF4-FFF2-40B4-BE49-F238E27FC236}">
                <a16:creationId xmlns:a16="http://schemas.microsoft.com/office/drawing/2014/main" id="{206F3415-1E64-495C-914C-3B102142F58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workflow checks all three OSs, builds, attests and creates a draft release.</a:t>
            </a:r>
          </a:p>
        </p:txBody>
      </p:sp>
      <p:sp>
        <p:nvSpPr>
          <p:cNvPr id="5" name="">
            <a:extLst xmlns:a="http://schemas.openxmlformats.org/drawingml/2006/main">
              <a:ext uri="{FF2B5EF4-FFF2-40B4-BE49-F238E27FC236}">
                <a16:creationId xmlns:a16="http://schemas.microsoft.com/office/drawing/2014/main" id="{06EA9581-9CC6-4DA8-895B-7CB3E28725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Download and test its files, then publish. Do not replace the attested bytes.</a:t>
            </a:r>
          </a:p>
        </p:txBody>
      </p:sp>
      <p:sp>
        <p:nvSpPr>
          <p:cNvPr id="6" name="">
            <a:extLst xmlns:a="http://schemas.openxmlformats.org/drawingml/2006/main">
              <a:ext uri="{FF2B5EF4-FFF2-40B4-BE49-F238E27FC236}">
                <a16:creationId xmlns:a16="http://schemas.microsoft.com/office/drawing/2014/main" id="{0DF54007-CB05-4977-A0D5-82A86551F48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A6268A78-1966-4FA3-BBC3-2DF0529BC9E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46</a:t>
            </a:r>
          </a:p>
        </p:txBody>
      </p:sp>
    </p:spTree>
    <p:extLst>
      <p:ext uri="{BB962C8B-B14F-4D97-AF65-F5344CB8AC3E}">
        <p14:creationId xmlns:p14="http://schemas.microsoft.com/office/powerpoint/2010/main" val="1387818242"/>
      </p:ext>
    </p:extLst>
  </p:cSld>
</p:sld>
</file>

<file path=ppt/slides/slide4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2EFAC1-7839-436A-9A4C-54BABB017259}"/>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Reference files</a:t>
            </a:r>
          </a:p>
        </p:txBody>
      </p:sp>
      <p:sp>
        <p:nvSpPr>
          <p:cNvPr id="2" name="">
            <a:extLst xmlns:a="http://schemas.openxmlformats.org/drawingml/2006/main">
              <a:ext uri="{FF2B5EF4-FFF2-40B4-BE49-F238E27FC236}">
                <a16:creationId xmlns:a16="http://schemas.microsoft.com/office/drawing/2014/main" id="{37BCEE62-9B03-4A95-8034-C5C5EE7D562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docs/INSTALL-DOWNLOAD.md: installation on every target platform.</a:t>
            </a:r>
          </a:p>
        </p:txBody>
      </p:sp>
      <p:sp>
        <p:nvSpPr>
          <p:cNvPr id="3" name="">
            <a:extLst xmlns:a="http://schemas.openxmlformats.org/drawingml/2006/main">
              <a:ext uri="{FF2B5EF4-FFF2-40B4-BE49-F238E27FC236}">
                <a16:creationId xmlns:a16="http://schemas.microsoft.com/office/drawing/2014/main" id="{28071F0C-E3F9-4AA2-8540-5EE38AC0E16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docs/DEPLOYMENT-UPDATE-GUIDE.md: cleanup and manual-kit distribution.</a:t>
            </a:r>
          </a:p>
        </p:txBody>
      </p:sp>
      <p:sp>
        <p:nvSpPr>
          <p:cNvPr id="4" name="">
            <a:extLst xmlns:a="http://schemas.openxmlformats.org/drawingml/2006/main">
              <a:ext uri="{FF2B5EF4-FFF2-40B4-BE49-F238E27FC236}">
                <a16:creationId xmlns:a16="http://schemas.microsoft.com/office/drawing/2014/main" id="{917CFD41-94AA-4DDB-AE7C-5C10191ACB1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docs/GITHUB-AND-COMMUNITY-RELEASE.md: testing and submission.</a:t>
            </a:r>
          </a:p>
        </p:txBody>
      </p:sp>
      <p:sp>
        <p:nvSpPr>
          <p:cNvPr id="5" name="">
            <a:extLst xmlns:a="http://schemas.openxmlformats.org/drawingml/2006/main">
              <a:ext uri="{FF2B5EF4-FFF2-40B4-BE49-F238E27FC236}">
                <a16:creationId xmlns:a16="http://schemas.microsoft.com/office/drawing/2014/main" id="{65BDBBAE-99C3-489E-BB1D-CDDD178D630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docs/DESIGN-DECISIONS.md: questions, answers and final design.</a:t>
            </a:r>
          </a:p>
        </p:txBody>
      </p:sp>
      <p:sp>
        <p:nvSpPr>
          <p:cNvPr id="6" name="">
            <a:extLst xmlns:a="http://schemas.openxmlformats.org/drawingml/2006/main">
              <a:ext uri="{FF2B5EF4-FFF2-40B4-BE49-F238E27FC236}">
                <a16:creationId xmlns:a16="http://schemas.microsoft.com/office/drawing/2014/main" id="{3188D099-E19B-472E-B859-47E4E86BFF4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1.1.7</a:t>
            </a:r>
          </a:p>
        </p:txBody>
      </p:sp>
      <p:sp>
        <p:nvSpPr>
          <p:cNvPr id="7" name="">
            <a:extLst xmlns:a="http://schemas.openxmlformats.org/drawingml/2006/main">
              <a:ext uri="{FF2B5EF4-FFF2-40B4-BE49-F238E27FC236}">
                <a16:creationId xmlns:a16="http://schemas.microsoft.com/office/drawing/2014/main" id="{B85461A2-8364-44C1-A271-F6128655B14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47</a:t>
            </a:r>
          </a:p>
        </p:txBody>
      </p:sp>
    </p:spTree>
    <p:extLst>
      <p:ext uri="{BB962C8B-B14F-4D97-AF65-F5344CB8AC3E}">
        <p14:creationId xmlns:p14="http://schemas.microsoft.com/office/powerpoint/2010/main" val="10081743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2026-10-26T18:24:17.7150000Z</dcterms:created>
  <dcterms:modified xsi:type="dcterms:W3CDTF">2026-10-26T18:24:17.7150000Z</dcterms:modified>
</coreProperties>
</file>