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92c66c493324448" /><Relationship Type="http://schemas.openxmlformats.org/officeDocument/2006/relationships/extended-properties" Target="/docProps/app.xml" Id="R2699234aa9ed4b20" /><Relationship Type="http://schemas.openxmlformats.org/officeDocument/2006/relationships/officeDocument" Target="/ppt/presentation.xml" Id="Rf27a744164ca418f" /></Relationships>
</file>

<file path=ppt/presentation.xml><?xml version="1.0" encoding="utf-8"?>
<p:presentation xmlns:p="http://schemas.openxmlformats.org/presentationml/2006/main">
  <p:sldMasterIdLst>
    <p:sldMasterId xmlns:r="http://schemas.openxmlformats.org/officeDocument/2006/relationships" id="2147483648" r:id="R152dced48de14253"/>
  </p:sldMasterIdLst>
  <p:notesMasterIdLst>
    <p:notesMasterId xmlns:r="http://schemas.openxmlformats.org/officeDocument/2006/relationships" r:id="Rd97e88508d2043e0"/>
  </p:notesMasterIdLst>
  <p:sldIdLst>
    <p:sldId xmlns:r="http://schemas.openxmlformats.org/officeDocument/2006/relationships" id="256" r:id="R6dcdb8e70fff4e81"/>
    <p:sldId xmlns:r="http://schemas.openxmlformats.org/officeDocument/2006/relationships" id="257" r:id="Ra9647ebe9cb546ec"/>
    <p:sldId xmlns:r="http://schemas.openxmlformats.org/officeDocument/2006/relationships" id="258" r:id="Refd3cd6702c44f71"/>
    <p:sldId xmlns:r="http://schemas.openxmlformats.org/officeDocument/2006/relationships" id="259" r:id="R159085ff625b48dd"/>
    <p:sldId xmlns:r="http://schemas.openxmlformats.org/officeDocument/2006/relationships" id="260" r:id="R9a6c64faaab540b1"/>
    <p:sldId xmlns:r="http://schemas.openxmlformats.org/officeDocument/2006/relationships" id="261" r:id="Rbef2967967dd4690"/>
    <p:sldId xmlns:r="http://schemas.openxmlformats.org/officeDocument/2006/relationships" id="262" r:id="R168a782d8ce94619"/>
    <p:sldId xmlns:r="http://schemas.openxmlformats.org/officeDocument/2006/relationships" id="263" r:id="Rcd389f0205b54d7c"/>
    <p:sldId xmlns:r="http://schemas.openxmlformats.org/officeDocument/2006/relationships" id="264" r:id="R7ef902f1fc514c62"/>
    <p:sldId xmlns:r="http://schemas.openxmlformats.org/officeDocument/2006/relationships" id="265" r:id="R0c5a1b98872d4bba"/>
    <p:sldId xmlns:r="http://schemas.openxmlformats.org/officeDocument/2006/relationships" id="266" r:id="R8fbd0832c4974a50"/>
    <p:sldId xmlns:r="http://schemas.openxmlformats.org/officeDocument/2006/relationships" id="267" r:id="R07f4c36b41024918"/>
    <p:sldId xmlns:r="http://schemas.openxmlformats.org/officeDocument/2006/relationships" id="268" r:id="R079599b2bded46a5"/>
    <p:sldId xmlns:r="http://schemas.openxmlformats.org/officeDocument/2006/relationships" id="269" r:id="Rcc9633e3f4a64b08"/>
    <p:sldId xmlns:r="http://schemas.openxmlformats.org/officeDocument/2006/relationships" id="270" r:id="Red62422f746f4052"/>
    <p:sldId xmlns:r="http://schemas.openxmlformats.org/officeDocument/2006/relationships" id="271" r:id="R4dc8f24d11034b13"/>
    <p:sldId xmlns:r="http://schemas.openxmlformats.org/officeDocument/2006/relationships" id="272" r:id="Rab3b5bd7101f4b4f"/>
    <p:sldId xmlns:r="http://schemas.openxmlformats.org/officeDocument/2006/relationships" id="273" r:id="R28a99cfb6dce465b"/>
    <p:sldId xmlns:r="http://schemas.openxmlformats.org/officeDocument/2006/relationships" id="274" r:id="Rcdac0526c4c247b4"/>
    <p:sldId xmlns:r="http://schemas.openxmlformats.org/officeDocument/2006/relationships" id="275" r:id="Rd6bae619ca744803"/>
    <p:sldId xmlns:r="http://schemas.openxmlformats.org/officeDocument/2006/relationships" id="276" r:id="R96c83a46927c4cfe"/>
    <p:sldId xmlns:r="http://schemas.openxmlformats.org/officeDocument/2006/relationships" id="277" r:id="Ra76111aa0419443b"/>
    <p:sldId xmlns:r="http://schemas.openxmlformats.org/officeDocument/2006/relationships" id="278" r:id="Rfa08b9a37f564fb6"/>
    <p:sldId xmlns:r="http://schemas.openxmlformats.org/officeDocument/2006/relationships" id="279" r:id="R7eefddae22cd4222"/>
    <p:sldId xmlns:r="http://schemas.openxmlformats.org/officeDocument/2006/relationships" id="280" r:id="Rab3859ede6024c26"/>
    <p:sldId xmlns:r="http://schemas.openxmlformats.org/officeDocument/2006/relationships" id="281" r:id="Rb7788ae4d56247a2"/>
    <p:sldId xmlns:r="http://schemas.openxmlformats.org/officeDocument/2006/relationships" id="282" r:id="Rae246cc362454d9c"/>
    <p:sldId xmlns:r="http://schemas.openxmlformats.org/officeDocument/2006/relationships" id="283" r:id="Rf071d91b376e465c"/>
    <p:sldId xmlns:r="http://schemas.openxmlformats.org/officeDocument/2006/relationships" id="284" r:id="R8891eca8933a4cca"/>
    <p:sldId xmlns:r="http://schemas.openxmlformats.org/officeDocument/2006/relationships" id="285" r:id="R595da9fdb89b473c"/>
    <p:sldId xmlns:r="http://schemas.openxmlformats.org/officeDocument/2006/relationships" id="286" r:id="R8f28bf4c8e1449bd"/>
    <p:sldId xmlns:r="http://schemas.openxmlformats.org/officeDocument/2006/relationships" id="287" r:id="Rdc4c0a6816884f93"/>
    <p:sldId xmlns:r="http://schemas.openxmlformats.org/officeDocument/2006/relationships" id="288" r:id="Rf3ce7e9c88864bf5"/>
    <p:sldId xmlns:r="http://schemas.openxmlformats.org/officeDocument/2006/relationships" id="289" r:id="Re318fdcbd1684d15"/>
    <p:sldId xmlns:r="http://schemas.openxmlformats.org/officeDocument/2006/relationships" id="290" r:id="R9b611f7971404018"/>
    <p:sldId xmlns:r="http://schemas.openxmlformats.org/officeDocument/2006/relationships" id="291" r:id="R2b73f9f2152c4ba7"/>
    <p:sldId xmlns:r="http://schemas.openxmlformats.org/officeDocument/2006/relationships" id="292" r:id="R53be2d88343c457e"/>
    <p:sldId xmlns:r="http://schemas.openxmlformats.org/officeDocument/2006/relationships" id="293" r:id="Rc7279d339aa3493d"/>
    <p:sldId xmlns:r="http://schemas.openxmlformats.org/officeDocument/2006/relationships" id="294" r:id="R72ba3701998f4ed6"/>
    <p:sldId xmlns:r="http://schemas.openxmlformats.org/officeDocument/2006/relationships" id="295" r:id="R95d944e1971b46f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893e815bb7443c9" /><Relationship Type="http://schemas.openxmlformats.org/officeDocument/2006/relationships/slideMaster" Target="/ppt/slideMasters/slideMaster1.xml" Id="R152dced48de14253" /><Relationship Type="http://schemas.openxmlformats.org/officeDocument/2006/relationships/notesMaster" Target="/ppt/notesMasters/notesMaster1.xml" Id="Rd97e88508d2043e0" /><Relationship Type="http://schemas.openxmlformats.org/officeDocument/2006/relationships/presProps" Target="/ppt/presProps.xml" Id="R5870cd1d0b674dca" /><Relationship Type="http://schemas.openxmlformats.org/officeDocument/2006/relationships/tableStyles" Target="/ppt/tableStyles.xml" Id="R307418a342414659" /><Relationship Type="http://schemas.openxmlformats.org/officeDocument/2006/relationships/slide" Target="/ppt/slides/slide1.xml" Id="R6dcdb8e70fff4e81" /><Relationship Type="http://schemas.openxmlformats.org/officeDocument/2006/relationships/slide" Target="/ppt/slides/slide2.xml" Id="Ra9647ebe9cb546ec" /><Relationship Type="http://schemas.openxmlformats.org/officeDocument/2006/relationships/slide" Target="/ppt/slides/slide3.xml" Id="Refd3cd6702c44f71" /><Relationship Type="http://schemas.openxmlformats.org/officeDocument/2006/relationships/slide" Target="/ppt/slides/slide4.xml" Id="R159085ff625b48dd" /><Relationship Type="http://schemas.openxmlformats.org/officeDocument/2006/relationships/slide" Target="/ppt/slides/slide5.xml" Id="R9a6c64faaab540b1" /><Relationship Type="http://schemas.openxmlformats.org/officeDocument/2006/relationships/slide" Target="/ppt/slides/slide6.xml" Id="Rbef2967967dd4690" /><Relationship Type="http://schemas.openxmlformats.org/officeDocument/2006/relationships/slide" Target="/ppt/slides/slide7.xml" Id="R168a782d8ce94619" /><Relationship Type="http://schemas.openxmlformats.org/officeDocument/2006/relationships/slide" Target="/ppt/slides/slide8.xml" Id="Rcd389f0205b54d7c" /><Relationship Type="http://schemas.openxmlformats.org/officeDocument/2006/relationships/slide" Target="/ppt/slides/slide9.xml" Id="R7ef902f1fc514c62" /><Relationship Type="http://schemas.openxmlformats.org/officeDocument/2006/relationships/slide" Target="/ppt/slides/slide10.xml" Id="R0c5a1b98872d4bba" /><Relationship Type="http://schemas.openxmlformats.org/officeDocument/2006/relationships/slide" Target="/ppt/slides/slide11.xml" Id="R8fbd0832c4974a50" /><Relationship Type="http://schemas.openxmlformats.org/officeDocument/2006/relationships/slide" Target="/ppt/slides/slide12.xml" Id="R07f4c36b41024918" /><Relationship Type="http://schemas.openxmlformats.org/officeDocument/2006/relationships/slide" Target="/ppt/slides/slide13.xml" Id="R079599b2bded46a5" /><Relationship Type="http://schemas.openxmlformats.org/officeDocument/2006/relationships/slide" Target="/ppt/slides/slide14.xml" Id="Rcc9633e3f4a64b08" /><Relationship Type="http://schemas.openxmlformats.org/officeDocument/2006/relationships/slide" Target="/ppt/slides/slide15.xml" Id="Red62422f746f4052" /><Relationship Type="http://schemas.openxmlformats.org/officeDocument/2006/relationships/slide" Target="/ppt/slides/slide16.xml" Id="R4dc8f24d11034b13" /><Relationship Type="http://schemas.openxmlformats.org/officeDocument/2006/relationships/slide" Target="/ppt/slides/slide17.xml" Id="Rab3b5bd7101f4b4f" /><Relationship Type="http://schemas.openxmlformats.org/officeDocument/2006/relationships/slide" Target="/ppt/slides/slide18.xml" Id="R28a99cfb6dce465b" /><Relationship Type="http://schemas.openxmlformats.org/officeDocument/2006/relationships/slide" Target="/ppt/slides/slide19.xml" Id="Rcdac0526c4c247b4" /><Relationship Type="http://schemas.openxmlformats.org/officeDocument/2006/relationships/slide" Target="/ppt/slides/slide20.xml" Id="Rd6bae619ca744803" /><Relationship Type="http://schemas.openxmlformats.org/officeDocument/2006/relationships/slide" Target="/ppt/slides/slide21.xml" Id="R96c83a46927c4cfe" /><Relationship Type="http://schemas.openxmlformats.org/officeDocument/2006/relationships/slide" Target="/ppt/slides/slide22.xml" Id="Ra76111aa0419443b" /><Relationship Type="http://schemas.openxmlformats.org/officeDocument/2006/relationships/slide" Target="/ppt/slides/slide23.xml" Id="Rfa08b9a37f564fb6" /><Relationship Type="http://schemas.openxmlformats.org/officeDocument/2006/relationships/slide" Target="/ppt/slides/slide24.xml" Id="R7eefddae22cd4222" /><Relationship Type="http://schemas.openxmlformats.org/officeDocument/2006/relationships/slide" Target="/ppt/slides/slide25.xml" Id="Rab3859ede6024c26" /><Relationship Type="http://schemas.openxmlformats.org/officeDocument/2006/relationships/slide" Target="/ppt/slides/slide26.xml" Id="Rb7788ae4d56247a2" /><Relationship Type="http://schemas.openxmlformats.org/officeDocument/2006/relationships/slide" Target="/ppt/slides/slide27.xml" Id="Rae246cc362454d9c" /><Relationship Type="http://schemas.openxmlformats.org/officeDocument/2006/relationships/slide" Target="/ppt/slides/slide28.xml" Id="Rf071d91b376e465c" /><Relationship Type="http://schemas.openxmlformats.org/officeDocument/2006/relationships/slide" Target="/ppt/slides/slide29.xml" Id="R8891eca8933a4cca" /><Relationship Type="http://schemas.openxmlformats.org/officeDocument/2006/relationships/slide" Target="/ppt/slides/slide30.xml" Id="R595da9fdb89b473c" /><Relationship Type="http://schemas.openxmlformats.org/officeDocument/2006/relationships/slide" Target="/ppt/slides/slide31.xml" Id="R8f28bf4c8e1449bd" /><Relationship Type="http://schemas.openxmlformats.org/officeDocument/2006/relationships/slide" Target="/ppt/slides/slide32.xml" Id="Rdc4c0a6816884f93" /><Relationship Type="http://schemas.openxmlformats.org/officeDocument/2006/relationships/slide" Target="/ppt/slides/slide33.xml" Id="Rf3ce7e9c88864bf5" /><Relationship Type="http://schemas.openxmlformats.org/officeDocument/2006/relationships/slide" Target="/ppt/slides/slide34.xml" Id="Re318fdcbd1684d15" /><Relationship Type="http://schemas.openxmlformats.org/officeDocument/2006/relationships/slide" Target="/ppt/slides/slide35.xml" Id="R9b611f7971404018" /><Relationship Type="http://schemas.openxmlformats.org/officeDocument/2006/relationships/slide" Target="/ppt/slides/slide36.xml" Id="R2b73f9f2152c4ba7" /><Relationship Type="http://schemas.openxmlformats.org/officeDocument/2006/relationships/slide" Target="/ppt/slides/slide37.xml" Id="R53be2d88343c457e" /><Relationship Type="http://schemas.openxmlformats.org/officeDocument/2006/relationships/slide" Target="/ppt/slides/slide38.xml" Id="Rc7279d339aa3493d" /><Relationship Type="http://schemas.openxmlformats.org/officeDocument/2006/relationships/slide" Target="/ppt/slides/slide39.xml" Id="R72ba3701998f4ed6" /><Relationship Type="http://schemas.openxmlformats.org/officeDocument/2006/relationships/slide" Target="/ppt/slides/slide40.xml" Id="R95d944e1971b46f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69eddf79c4d4b2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f1e7f288283437c" /><Relationship Type="http://schemas.openxmlformats.org/officeDocument/2006/relationships/notesMaster" Target="/ppt/notesMasters/notesMaster1.xml" Id="R179cb9cb1d4347cb" /></Relationships>
</file>

<file path=ppt/notesSlides/_rels/notesSlide2.xml.rels>&#65279;<?xml version="1.0" encoding="utf-8"?><Relationships xmlns="http://schemas.openxmlformats.org/package/2006/relationships"><Relationship Type="http://schemas.openxmlformats.org/officeDocument/2006/relationships/slide" Target="/ppt/slides/slide2.xml" Id="R6559a5e99e244321" /><Relationship Type="http://schemas.openxmlformats.org/officeDocument/2006/relationships/notesMaster" Target="/ppt/notesMasters/notesMaster1.xml" Id="R5924d25ec4404c04" /></Relationships>
</file>

<file path=ppt/notesSlides/_rels/notesSlide3.xml.rels>&#65279;<?xml version="1.0" encoding="utf-8"?><Relationships xmlns="http://schemas.openxmlformats.org/package/2006/relationships"><Relationship Type="http://schemas.openxmlformats.org/officeDocument/2006/relationships/slide" Target="/ppt/slides/slide3.xml" Id="Ra6ad94de698f447d" /><Relationship Type="http://schemas.openxmlformats.org/officeDocument/2006/relationships/notesMaster" Target="/ppt/notesMasters/notesMaster1.xml" Id="R490ab68bd006491f"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7e4a34393743b5" /><Relationship Type="http://schemas.openxmlformats.org/officeDocument/2006/relationships/notesMaster" Target="/ppt/notesMasters/notesMaster1.xml" Id="Re6af65d8fd1b4a71" /></Relationships>
</file>

<file path=ppt/notesSlides/_rels/notesSlide5.xml.rels>&#65279;<?xml version="1.0" encoding="utf-8"?><Relationships xmlns="http://schemas.openxmlformats.org/package/2006/relationships"><Relationship Type="http://schemas.openxmlformats.org/officeDocument/2006/relationships/slide" Target="/ppt/slides/slide5.xml" Id="R1a0e5b72dc4d4c5b" /><Relationship Type="http://schemas.openxmlformats.org/officeDocument/2006/relationships/notesMaster" Target="/ppt/notesMasters/notesMaster1.xml" Id="R4626f1ce099742e5" /></Relationships>
</file>

<file path=ppt/notesSlides/_rels/notesSlide6.xml.rels>&#65279;<?xml version="1.0" encoding="utf-8"?><Relationships xmlns="http://schemas.openxmlformats.org/package/2006/relationships"><Relationship Type="http://schemas.openxmlformats.org/officeDocument/2006/relationships/slide" Target="/ppt/slides/slide6.xml" Id="R35559ca8ba0e41d5" /><Relationship Type="http://schemas.openxmlformats.org/officeDocument/2006/relationships/notesMaster" Target="/ppt/notesMasters/notesMaster1.xml" Id="R3fbc01789b084ae6" /></Relationships>
</file>

<file path=ppt/notesSlides/_rels/notesSlide7.xml.rels>&#65279;<?xml version="1.0" encoding="utf-8"?><Relationships xmlns="http://schemas.openxmlformats.org/package/2006/relationships"><Relationship Type="http://schemas.openxmlformats.org/officeDocument/2006/relationships/slide" Target="/ppt/slides/slide7.xml" Id="R6046a0415ec2419f" /><Relationship Type="http://schemas.openxmlformats.org/officeDocument/2006/relationships/notesMaster" Target="/ppt/notesMasters/notesMaster1.xml" Id="R13e4480adf71472e" /></Relationships>
</file>

<file path=ppt/notesSlides/_rels/notesSlide8.xml.rels>&#65279;<?xml version="1.0" encoding="utf-8"?><Relationships xmlns="http://schemas.openxmlformats.org/package/2006/relationships"><Relationship Type="http://schemas.openxmlformats.org/officeDocument/2006/relationships/slide" Target="/ppt/slides/slide8.xml" Id="R5137468e1c1e4094" /><Relationship Type="http://schemas.openxmlformats.org/officeDocument/2006/relationships/notesMaster" Target="/ppt/notesMasters/notesMaster1.xml" Id="Rb64cf0bd0b364bf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e6f0c500de34c34" /><Relationship Type="http://schemas.openxmlformats.org/officeDocument/2006/relationships/notesMaster" Target="/ppt/notesMasters/notesMaster1.xml" Id="Rd6c15b5b96dd44b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00a18459c7b48bb" /><Relationship Type="http://schemas.openxmlformats.org/officeDocument/2006/relationships/notesMaster" Target="/ppt/notesMasters/notesMaster1.xml" Id="R3e1d46b06b61458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4a0a5c6be3149fb" /><Relationship Type="http://schemas.openxmlformats.org/officeDocument/2006/relationships/notesMaster" Target="/ppt/notesMasters/notesMaster1.xml" Id="Rb89bbd56cb2b4e6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7271e62e394499f" /><Relationship Type="http://schemas.openxmlformats.org/officeDocument/2006/relationships/notesMaster" Target="/ppt/notesMasters/notesMaster1.xml" Id="Rc0939799ce36423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2650f5695584eea" /><Relationship Type="http://schemas.openxmlformats.org/officeDocument/2006/relationships/notesMaster" Target="/ppt/notesMasters/notesMaster1.xml" Id="R4a91d8f7ff2e4f4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0f52047094841e7" /><Relationship Type="http://schemas.openxmlformats.org/officeDocument/2006/relationships/notesMaster" Target="/ppt/notesMasters/notesMaster1.xml" Id="R4076d3a39f7d445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9805138d4ce4245" /><Relationship Type="http://schemas.openxmlformats.org/officeDocument/2006/relationships/notesMaster" Target="/ppt/notesMasters/notesMaster1.xml" Id="Rc729c97f6323410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2352ff5ff37444d" /><Relationship Type="http://schemas.openxmlformats.org/officeDocument/2006/relationships/notesMaster" Target="/ppt/notesMasters/notesMaster1.xml" Id="Rf6375198b0cc4a5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61d1cb7c0364c77" /><Relationship Type="http://schemas.openxmlformats.org/officeDocument/2006/relationships/notesMaster" Target="/ppt/notesMasters/notesMaster1.xml" Id="R84a2199451374da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7e27e74dfa3456a" /><Relationship Type="http://schemas.openxmlformats.org/officeDocument/2006/relationships/notesMaster" Target="/ppt/notesMasters/notesMaster1.xml" Id="Ra102d27d3d9c47e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1a1c037960a4ecc" /><Relationship Type="http://schemas.openxmlformats.org/officeDocument/2006/relationships/notesMaster" Target="/ppt/notesMasters/notesMaster1.xml" Id="R419050430b374ee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a4b767d8b6f4482" /><Relationship Type="http://schemas.openxmlformats.org/officeDocument/2006/relationships/notesMaster" Target="/ppt/notesMasters/notesMaster1.xml" Id="R20f8a425f6164a9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c4fd2d02bbc4dfb" /><Relationship Type="http://schemas.openxmlformats.org/officeDocument/2006/relationships/notesMaster" Target="/ppt/notesMasters/notesMaster1.xml" Id="R21519c1756a84d9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35543d260eb4b26" /><Relationship Type="http://schemas.openxmlformats.org/officeDocument/2006/relationships/notesMaster" Target="/ppt/notesMasters/notesMaster1.xml" Id="Rf8b4e59c37344bc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f4a7cc80a80419b" /><Relationship Type="http://schemas.openxmlformats.org/officeDocument/2006/relationships/notesMaster" Target="/ppt/notesMasters/notesMaster1.xml" Id="Rfe43b36417ca426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7ea8e41cc4d48a8" /><Relationship Type="http://schemas.openxmlformats.org/officeDocument/2006/relationships/notesMaster" Target="/ppt/notesMasters/notesMaster1.xml" Id="Ree018b7f52e54b1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cdd63f904f14558" /><Relationship Type="http://schemas.openxmlformats.org/officeDocument/2006/relationships/notesMaster" Target="/ppt/notesMasters/notesMaster1.xml" Id="R19dd8825418b49a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18792eaa7594411" /><Relationship Type="http://schemas.openxmlformats.org/officeDocument/2006/relationships/notesMaster" Target="/ppt/notesMasters/notesMaster1.xml" Id="Rfd029a59f98c400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b4e902a06c24d3e" /><Relationship Type="http://schemas.openxmlformats.org/officeDocument/2006/relationships/notesMaster" Target="/ppt/notesMasters/notesMaster1.xml" Id="Rc22d2837a0a7425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9bca48bee8c4ffd" /><Relationship Type="http://schemas.openxmlformats.org/officeDocument/2006/relationships/notesMaster" Target="/ppt/notesMasters/notesMaster1.xml" Id="R80ed6841ce1741a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ebde4525b754c8a" /><Relationship Type="http://schemas.openxmlformats.org/officeDocument/2006/relationships/notesMaster" Target="/ppt/notesMasters/notesMaster1.xml" Id="Rdbe2929f06674a1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4da362279b94c01" /><Relationship Type="http://schemas.openxmlformats.org/officeDocument/2006/relationships/notesMaster" Target="/ppt/notesMasters/notesMaster1.xml" Id="Rcc38ea6041ba491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d7db47dbd614625" /><Relationship Type="http://schemas.openxmlformats.org/officeDocument/2006/relationships/notesMaster" Target="/ppt/notesMasters/notesMaster1.xml" Id="R6809de5a0df64b2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de4fb4b22b74773" /><Relationship Type="http://schemas.openxmlformats.org/officeDocument/2006/relationships/notesMaster" Target="/ppt/notesMasters/notesMaster1.xml" Id="Rf98a427209bf4fe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a05e5226a4441b1" /><Relationship Type="http://schemas.openxmlformats.org/officeDocument/2006/relationships/notesMaster" Target="/ppt/notesMasters/notesMaster1.xml" Id="R65508691affd402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50660fde63140f1" /><Relationship Type="http://schemas.openxmlformats.org/officeDocument/2006/relationships/notesMaster" Target="/ppt/notesMasters/notesMaster1.xml" Id="Rc8b8a881d3d04b6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d24b69d39bc4e6b" /><Relationship Type="http://schemas.openxmlformats.org/officeDocument/2006/relationships/notesMaster" Target="/ppt/notesMasters/notesMaster1.xml" Id="R4077b4a1b24d4c5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37599a0f3854019" /><Relationship Type="http://schemas.openxmlformats.org/officeDocument/2006/relationships/notesMaster" Target="/ppt/notesMasters/notesMaster1.xml" Id="R1768dd7a22f84db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53284af7195444f" /><Relationship Type="http://schemas.openxmlformats.org/officeDocument/2006/relationships/notesMaster" Target="/ppt/notesMasters/notesMaster1.xml" Id="R0d594554931e4d8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354c8f284f7473f" /><Relationship Type="http://schemas.openxmlformats.org/officeDocument/2006/relationships/notesMaster" Target="/ppt/notesMasters/notesMaster1.xml" Id="R4209094ae7d44ce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29542e25f09f4690" /><Relationship Type="http://schemas.openxmlformats.org/officeDocument/2006/relationships/notesMaster" Target="/ppt/notesMasters/notesMaster1.xml" Id="R8e9df87354ff46c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091adba0a754a9c" /><Relationship Type="http://schemas.openxmlformats.org/officeDocument/2006/relationships/notesMaster" Target="/ppt/notesMasters/notesMaster1.xml" Id="Rb44fb5351fd54f8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disposable rsn-test-vault for all first-use exercises. This tutorial includes manual installation on both devices, optional Obsidian Sync and a maintainer publication appendix.</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example with mocked Obsidian APIs and generic habits. This is not an Ubuntu Obsidian screenshot.</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phone viewport with mocked Obsidian APIs. This is not an actual mobile app screenshot. Native device acceptance for 1.1.4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targets use the same plugin bundle. Latest means stable at testing time. Record exact device, OS and Obsidian versions. 1.1.1 was reported working on Ubuntu/Android. 1.1.4 native device acceptance remains pending. The manifest retains 1.7.2 as an API floor, not a tested-device claim. Official source: https://docs.obsidian.md/Plugins/Getting%20started/Build%20a%20plugin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https://github.com/harharhari/rsn-habit-tracker-obsidian-plugin/releases/tag/1.1.4 . The link works only after the maintainer publishes the release and your account has access. A private repository requires authorized access. The six asset names are main.js, manifest.json, styles.css, hex-color-list.md, rsn-habit-calendar-one-b-1.1.4.zip, SHA256SUMS.</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release checksum with release downloads. The repository root checksum describes source files instead. The checksum file cannot hash itself. Checksums detect corruption and mismatches but are not a signature proving publisher identity.</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the complete fail-on-mismatch PowerShell script from docs/INSTALL-DOWNLOAD.md. SHA256SUMS has five entries and does not hash itself. Hashes detect mismatch and corruption, not publisher authenticity.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C:\Users\YourName\Documents\rsn-test-vault\.obsidian\plugins\rsn-habit-calendar-one-b\main.js. Keep manifest.json and styles.css beside main.js. Include the supplied hex-color-list.md. A custom Obsidian configuration folder replaces .obsidian. Official source: https://docs.obsidian.md/Plugins/Getting%20started/Build%20a%20plugin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complete command rsn habit calendar one b: Open current month. Calendar controls appear even when the habit list is empty. Restart after changing 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path must be &lt;vault&gt;/.obsidian/plugins/rsn-habit-calendar-one-b/main.js. Do not create rsn-habit-calendar-one-b/rsn-habit-calendar-one-b/main.js. A custom configuration folder replaces .obsidian if you have explicitly configured one.</a:t>
            </a:r>
          </a:p>
          <a:p xmlns:a="http://schemas.openxmlformats.org/drawingml/2006/main">
            <a:r>
              <a:t>Official source: https://docs.obsidian.md/Plugins/Getting%20started/Build%20a%20plugin</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new installation starts with an empty editable habit table. Controls should appear even before calendars exist. The old Habit Calendar 001 must stay disabled when using the same data. Restart Obsidian after changing the manifest.</a:t>
            </a:r>
          </a:p>
          <a:p xmlns:a="http://schemas.openxmlformats.org/drawingml/2006/main">
            <a:r>
              <a:t>Official source: https://docs.obsidian.md/Plugins/Getting%20started/Build%20a%20plugin</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local folder for Obsidian Sync. If following the separate iCloud route, use the vault created by Obsidian on iPhone/iPad in iCloud Drive/Obsidian. Never enable two sync engines on the same vault. Official source: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bundle supports all target platforms. Actual Mac acceptance remains pending. Use docs/PLATFORM-TESTING.md and record the exact OS and app versions.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location: Internal storage/Documents/Obsidian/rsn-test-vault. Actual names vary by phone. App-private storage is inaccessible to the ordinary manual file-copy workflow. Android may request file access for device storage. Do not uninstall Obsidian as an upgrade step.</a:t>
            </a:r>
          </a:p>
          <a:p xmlns:a="http://schemas.openxmlformats.org/drawingml/2006/main">
            <a:r>
              <a:t>Official source: https://obsidian.md/help/android</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Alternatively extract the ZIP and copy its enclosed folder into .obsidian/plugins. Do not copy a second nested folder. LICENSE and NOTICE can remain if using the ZIP. ZIP and SHA256SUMS are not runtime files.</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 command opens the interactive view. If the plugin is absent, check the selected vault, folder nesting, hidden configuration folder and filenames. If the version is old, replace the correct files and restart. If no habits exist, continue to the habit-list exercise.</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 separate optional paid service. The plugin does not provide sync. On every device configure Sync preferences separately. Official sources: https://help.obsidian.md/sync/settings and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an on-device local vault connected to Sync, not Store in iCloud. Verify the vault is linked to the same remote ID, not merely the same name. If a restart is needed, close and reopen the app without uninstalling it. Official sources: https://help.obsidian.md/ios and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separate Apple-only alternative. Do not add Obsidian Sync to the same vault. Keep downloaded where supported in Finder. Use the Obsidian app-created iCloud folder, not an unrelated folder with the same name. Official source: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Without a Mac, use Obsidian Sync for this prerelease workflow, or install through Community plugins after acceptance. Do not claim direct hidden-folder access in iOS Files. iCloud is not the recommended Ubuntu/Android/Windows sync route. Official source: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the complete starter table from examples/habit-tracker-list.md in the repository. Headers are Habit, Generate calendar, Header color. Edit in Source mode. The plugin inserts stable habit IDs; preserve them when renaming or moving existing rows.</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warning: “The current months entries will be overwritten and there would be loss of data”. Choose Yes for the new empty practice month. Later, never use Yes simply to troubleshoot a blank view. A color-only edit also resets all current marks when accepted. Closing the dialog behaves as No.</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Future dates are disabled. Previous months are read-only. No schedule runs in the background, and blank dates do not automatically become pink. Use the Statistics button to compare counts after restart.</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Source-mode row: | My lavender | #B8A9E8 | | . The editable vault reference has 147 CSS3 named colors. Its third column renders the actual shade. Applying a header-color change through the habit list requires the same destructive confirmation.</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Practice No first, then Apply habit list and Yes in the disposable vault. Verify unchanged habits also lose current marks. The plugin saves a recovery snapshot under System/Backups but provides no one-click undo.</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simple denominator counts elapsed dates, not a custom schedule. A frozen report whose last update was before month-end retains that earlier as-of date. Do not assume historical percentages were recalculated to the last day of the month.</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 a list change declined in the previous month can be used for the next month. Default timezone is Asia/Kolkata in Habit Tracker/System/config.md. Keep it consistent across devices. There is no Android background scheduler. The optional Linux helper is documented in SETUP-AND-USAGE.md.</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portable controls avoid browser differences in input type month. A future month can be viewed, but future dates remain disabled. Historical views are read-only.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an optional paid service. Enable community plugin settings as well to transfer remembered plugin decisions. Configure sync preferences separately on each device. Keep local Sync vaults outside iCloud and other sync folders. Official source: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runtime uses revision-tagged records. Old-generation marks cannot resurrect data after a reset. Simultaneous resets can discard another revision, and late historical marks are excluded by design. Neither this plugin nor GitHub supplies a sync service.</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From 1.1.3 the ID remains rsn-habit-calendar-one-b, so no identity migration is needed. The next two slides apply only to old-ID installations. See INSTALL-DOWNLOAD.md and MIGRATION-1.1.3.md. The optional plugin-folder color starter can be updated; do not overwrite your customized vault color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Command IDs now use rsn-habit-calendar-one-b as prefix. Existing habit-calendar code blocks and the internal view type remain compatible. Do not activate both plugins because they share data and registrations. No record migration/reset is required. See docs/MIGRATION-1.1.3.md.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Configure Sync preferences separately on each device. Do not combine Sync and iCloud on one vault. Preserve Habit Tracker, and never accept a reset merely to resolve a sync problem. Optional Linux users must disable the old habit-calendar-001b.timer before enabling the renamed timer. Sources: docs/MIGRATION-1.1.3.md;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delete Habit Tracker or accept a reset to investigate a blank screen. To inspect Android errors, enable USB debugging and use Chrome chrome://inspect/ on the laptop. The official mobile-development page covers this workflow.</a:t>
            </a:r>
          </a:p>
          <a:p xmlns:a="http://schemas.openxmlformats.org/drawingml/2006/main">
            <a:r>
              <a:t>Official source: https://docs.obsidian.md/Plugins/Getting%20started/Mobile%20development</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FILE-LOCATIONS.md in the outer delivery for the exact local-to-GitHub mapping. The source checksum and release checksum are different files. GitHub Actions validates pushes but does not publish. Do not replace a published binary silently; use a new version for changed code.</a:t>
            </a:r>
          </a:p>
          <a:p xmlns:a="http://schemas.openxmlformats.org/drawingml/2006/main">
            <a:r>
              <a:t>Plugin behaviour: version 1.1.4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Linux checks: 42 JavaScript and 11 Python tests. Native CI runners and actual device tests are separate and pending until executed. Windows Python helper tests need tzdata; CI installs it. See VALIDATION.md, PLATFORM-TESTING.md and TEST-RESULTS-TEMPLATE.md. Official guidance: https://docs.obsidian.md/Plugins/Getting%20started/Mobile%20development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Attach the color reference, installation ZIP and release SHA256SUMS as well. Assume the previous ID was rejected before publication. If it was actually published, contact directory support before changing identity. The directory requires unique IDs/names. Official sources: https://docs.obsidian.md/Reference/Manifest and https://docs.obsidian.md/plugins/releasing/submit-plugin and https://docs.obsidian.md/community-directory/faq</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CI-TROUBLESHOOTING.md. The ESLint deprecation warning is nonfatal. Windows cleanup EPERM appeared after the installation failure and needs separate diagnosis only if it persists after the dependency repair. Local checks do not guarantee hosted review approval. https://docs.obsidian.md/community-directory/faq</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Version 1.1.4. Official manifest/submission documentation checked 23 October 2026. Personal habit data is excluded. Generic examples only. Exact device versions and native acceptance remain to be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257e56981fa45e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45ef849841642b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9a57f3b2c50410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06d334eb733465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d2b9c69bd01414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3d22a33728c451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404800-14F8-4587-9A24-E9199216D71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4362089-3C9C-4386-B29E-35E59636C28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5CD215D-C3B0-4BA5-822F-5D9887A2A8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B46F17-C6B0-4712-98AD-A0A88EEE90F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88BACA3-A7D0-4008-8236-FDD6D1ABA74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DDB70FA-3020-4954-8E61-0D9393968F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0AA129-1688-4CAD-8035-5EDCA73CCC4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37C9BF2-B336-49E3-B1CF-C40E762C9B7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9381EA-919E-4B0B-877E-B8774E4A68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8C233A3-5821-475E-8497-EE1A4BFC44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6b9ba32a914d7b" /><Relationship Type="http://schemas.openxmlformats.org/officeDocument/2006/relationships/slideLayout" Target="/ppt/slideLayouts/slideLayout1.xml" Id="Rfd23121779934e8a" /><Relationship Type="http://schemas.openxmlformats.org/officeDocument/2006/relationships/slideLayout" Target="/ppt/slideLayouts/slideLayout2.xml" Id="R22264d4451dc49be" /><Relationship Type="http://schemas.openxmlformats.org/officeDocument/2006/relationships/slideLayout" Target="/ppt/slideLayouts/slideLayout3.xml" Id="R84a58d1be7ec4a99" /><Relationship Type="http://schemas.openxmlformats.org/officeDocument/2006/relationships/slideLayout" Target="/ppt/slideLayouts/slideLayout4.xml" Id="Rf4c3bf6aeaa340b5" /><Relationship Type="http://schemas.openxmlformats.org/officeDocument/2006/relationships/slideLayout" Target="/ppt/slideLayouts/slideLayout5.xml" Id="R05d82f3bd38c4a46" /><Relationship Type="http://schemas.openxmlformats.org/officeDocument/2006/relationships/slideLayout" Target="/ppt/slideLayouts/slideLayout6.xml" Id="Rf30929855f944b8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d23121779934e8a"/>
    <p:sldLayoutId xmlns:r="http://schemas.openxmlformats.org/officeDocument/2006/relationships" id="2147483650" r:id="R22264d4451dc49be"/>
    <p:sldLayoutId xmlns:r="http://schemas.openxmlformats.org/officeDocument/2006/relationships" id="2147483651" r:id="R84a58d1be7ec4a99"/>
    <p:sldLayoutId xmlns:r="http://schemas.openxmlformats.org/officeDocument/2006/relationships" id="2147483652" r:id="Rf4c3bf6aeaa340b5"/>
    <p:sldLayoutId xmlns:r="http://schemas.openxmlformats.org/officeDocument/2006/relationships" id="2147483653" r:id="R05d82f3bd38c4a46"/>
    <p:sldLayoutId xmlns:r="http://schemas.openxmlformats.org/officeDocument/2006/relationships" id="2147483654" r:id="Rf30929855f944b8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c0d6e4abdf342fb" /><Relationship Type="http://schemas.openxmlformats.org/officeDocument/2006/relationships/notesSlide" Target="/ppt/notesSlides/notesSlide1.xml" Id="R1022fecf87a4496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ffc08d5fa914d79" /><Relationship Type="http://schemas.openxmlformats.org/officeDocument/2006/relationships/notesSlide" Target="/ppt/notesSlides/notesSlide2.xml" Id="Rebd5947b9c644db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c8f0fbcb0b6462c" /><Relationship Type="http://schemas.openxmlformats.org/officeDocument/2006/relationships/image" Target="/ppt/media/image.png" Id="Rb8fd01c2c09a4728" /><Relationship Type="http://schemas.openxmlformats.org/officeDocument/2006/relationships/notesSlide" Target="/ppt/notesSlides/notesSlide3.xml" Id="R96bfec88eb17415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67adab1ceec438f" /><Relationship Type="http://schemas.openxmlformats.org/officeDocument/2006/relationships/image" Target="/ppt/media/image2.png" Id="R46d05dc40eb443e3" /><Relationship Type="http://schemas.openxmlformats.org/officeDocument/2006/relationships/notesSlide" Target="/ppt/notesSlides/notesSlide4.xml" Id="R3c050364e31c47d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9db9f95ed234af6" /><Relationship Type="http://schemas.openxmlformats.org/officeDocument/2006/relationships/notesSlide" Target="/ppt/notesSlides/notesSlide5.xml" Id="R90aefb8eb3b34ef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950f318b58f46c4" /><Relationship Type="http://schemas.openxmlformats.org/officeDocument/2006/relationships/notesSlide" Target="/ppt/notesSlides/notesSlide6.xml" Id="Rc199df32b28642b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12da90549f543b4" /><Relationship Type="http://schemas.openxmlformats.org/officeDocument/2006/relationships/notesSlide" Target="/ppt/notesSlides/notesSlide7.xml" Id="R5e3dbbabe6fc43d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bdb0e5384a94ca6" /><Relationship Type="http://schemas.openxmlformats.org/officeDocument/2006/relationships/notesSlide" Target="/ppt/notesSlides/notesSlide8.xml" Id="R1d9bc12aca7247c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c9b9946197d4ade" /><Relationship Type="http://schemas.openxmlformats.org/officeDocument/2006/relationships/notesSlide" Target="/ppt/notesSlides/notesSlide9.xml" Id="Rec1b229660c94f2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9bd2526d811470d" /><Relationship Type="http://schemas.openxmlformats.org/officeDocument/2006/relationships/notesSlide" Target="/ppt/notesSlides/notesSlide10.xml" Id="Rd9c186501f1a4d6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74d476828514549" /><Relationship Type="http://schemas.openxmlformats.org/officeDocument/2006/relationships/notesSlide" Target="/ppt/notesSlides/notesSlide11.xml" Id="R44b3a3fc989c4c6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016b41f149141d6" /><Relationship Type="http://schemas.openxmlformats.org/officeDocument/2006/relationships/notesSlide" Target="/ppt/notesSlides/notesSlide12.xml" Id="R668f6c81dc674a2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5bb202019474620" /><Relationship Type="http://schemas.openxmlformats.org/officeDocument/2006/relationships/notesSlide" Target="/ppt/notesSlides/notesSlide13.xml" Id="R50199c2647c546b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949956666e143e3" /><Relationship Type="http://schemas.openxmlformats.org/officeDocument/2006/relationships/notesSlide" Target="/ppt/notesSlides/notesSlide14.xml" Id="R41b851a53e01430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738256d4d5149d2" /><Relationship Type="http://schemas.openxmlformats.org/officeDocument/2006/relationships/notesSlide" Target="/ppt/notesSlides/notesSlide15.xml" Id="Reff3586377a14e4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abb33317e634769" /><Relationship Type="http://schemas.openxmlformats.org/officeDocument/2006/relationships/notesSlide" Target="/ppt/notesSlides/notesSlide16.xml" Id="R0354b0ad89ba427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2c7d001e4fe46a6" /><Relationship Type="http://schemas.openxmlformats.org/officeDocument/2006/relationships/notesSlide" Target="/ppt/notesSlides/notesSlide17.xml" Id="R8615c5b7668c428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6c932509f014eb2" /><Relationship Type="http://schemas.openxmlformats.org/officeDocument/2006/relationships/notesSlide" Target="/ppt/notesSlides/notesSlide18.xml" Id="R9f3fe530a3a94e7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fb9f8deb40e4f79" /><Relationship Type="http://schemas.openxmlformats.org/officeDocument/2006/relationships/notesSlide" Target="/ppt/notesSlides/notesSlide19.xml" Id="R8623877e7fa6425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9ded2a7863c440f" /><Relationship Type="http://schemas.openxmlformats.org/officeDocument/2006/relationships/notesSlide" Target="/ppt/notesSlides/notesSlide20.xml" Id="R95431f7e8c1b417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70dfa0bc2184a82" /><Relationship Type="http://schemas.openxmlformats.org/officeDocument/2006/relationships/notesSlide" Target="/ppt/notesSlides/notesSlide21.xml" Id="R460b6351d8ab467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90f3205e4994d67" /><Relationship Type="http://schemas.openxmlformats.org/officeDocument/2006/relationships/notesSlide" Target="/ppt/notesSlides/notesSlide22.xml" Id="Rf9b21792c7c94b0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765bcc3dc064b83" /><Relationship Type="http://schemas.openxmlformats.org/officeDocument/2006/relationships/notesSlide" Target="/ppt/notesSlides/notesSlide23.xml" Id="R460169dc94e9487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cb0b199de7346da" /><Relationship Type="http://schemas.openxmlformats.org/officeDocument/2006/relationships/notesSlide" Target="/ppt/notesSlides/notesSlide24.xml" Id="R5591eb0a48914f8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43f5b50f8874b58" /><Relationship Type="http://schemas.openxmlformats.org/officeDocument/2006/relationships/notesSlide" Target="/ppt/notesSlides/notesSlide25.xml" Id="Re554edee1c0f44b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b276bc95fb448fc" /><Relationship Type="http://schemas.openxmlformats.org/officeDocument/2006/relationships/notesSlide" Target="/ppt/notesSlides/notesSlide26.xml" Id="R3337509759eb4b4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cb1710137d21486f" /><Relationship Type="http://schemas.openxmlformats.org/officeDocument/2006/relationships/notesSlide" Target="/ppt/notesSlides/notesSlide27.xml" Id="Rded1798eee6a421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6c644e8a67e43a1" /><Relationship Type="http://schemas.openxmlformats.org/officeDocument/2006/relationships/notesSlide" Target="/ppt/notesSlides/notesSlide28.xml" Id="R73f7eec7320045b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81ec36db0914720" /><Relationship Type="http://schemas.openxmlformats.org/officeDocument/2006/relationships/notesSlide" Target="/ppt/notesSlides/notesSlide29.xml" Id="Rc8d533b804324f2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55f90038d684874" /><Relationship Type="http://schemas.openxmlformats.org/officeDocument/2006/relationships/notesSlide" Target="/ppt/notesSlides/notesSlide30.xml" Id="Re333a65be20b408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c87daf2713949c0" /><Relationship Type="http://schemas.openxmlformats.org/officeDocument/2006/relationships/notesSlide" Target="/ppt/notesSlides/notesSlide31.xml" Id="Rd628091bd46f470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8db07add351f4f9d" /><Relationship Type="http://schemas.openxmlformats.org/officeDocument/2006/relationships/notesSlide" Target="/ppt/notesSlides/notesSlide32.xml" Id="Rd00589586ebb4d4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60fe4ec01a24616" /><Relationship Type="http://schemas.openxmlformats.org/officeDocument/2006/relationships/notesSlide" Target="/ppt/notesSlides/notesSlide33.xml" Id="Rba042aa96cbc4db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c5f2e7b57834bc2" /><Relationship Type="http://schemas.openxmlformats.org/officeDocument/2006/relationships/notesSlide" Target="/ppt/notesSlides/notesSlide34.xml" Id="Rd54c7fd57a8d4bb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47dff674a104ad6" /><Relationship Type="http://schemas.openxmlformats.org/officeDocument/2006/relationships/notesSlide" Target="/ppt/notesSlides/notesSlide35.xml" Id="Rb8217b3a895047c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cd0abac940a24bd6" /><Relationship Type="http://schemas.openxmlformats.org/officeDocument/2006/relationships/notesSlide" Target="/ppt/notesSlides/notesSlide36.xml" Id="R4a3acfb450a846c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fcd1c0214da24843" /><Relationship Type="http://schemas.openxmlformats.org/officeDocument/2006/relationships/notesSlide" Target="/ppt/notesSlides/notesSlide37.xml" Id="R763db02fd73a4c9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11d2b7ecc1146de" /><Relationship Type="http://schemas.openxmlformats.org/officeDocument/2006/relationships/notesSlide" Target="/ppt/notesSlides/notesSlide38.xml" Id="R18f1d83e38ce46a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09a2bd909db442c" /><Relationship Type="http://schemas.openxmlformats.org/officeDocument/2006/relationships/notesSlide" Target="/ppt/notesSlides/notesSlide39.xml" Id="R0209ea2b5031404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53767369dfe498d" /><Relationship Type="http://schemas.openxmlformats.org/officeDocument/2006/relationships/notesSlide" Target="/ppt/notesSlides/notesSlide40.xml" Id="Rb3a18038147d48dc" /></Relationships>
</file>

<file path=ppt/slides/slide1.xml><?xml version="1.0" encoding="utf-8"?>
<p:sld xmlns:p="http://schemas.openxmlformats.org/presentationml/2006/main">
  <p:cSld>
    <p:bg>
      <p:bgPr>
        <a:solidFill xmlns:a="http://schemas.openxmlformats.org/drawingml/2006/main">
          <a:srgbClr val="152D3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24BF73F-5E0B-4AA6-98DA-CC17C36539B1}"/>
              </a:ext>
            </a:extLst>
          </p:cNvPr>
          <p:cNvSpPr>
            <a:spLocks xmlns:a="http://schemas.openxmlformats.org/drawingml/2006/main" noGrp="1"/>
          </p:cNvSpPr>
          <p:nvPr/>
        </p:nvSpPr>
        <p:spPr>
          <a:xfrm xmlns:a="http://schemas.openxmlformats.org/drawingml/2006/main">
            <a:off x="762000" y="12858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FFFFFF"/>
                </a:solidFill>
                <a:latin typeface="DejaVu Sans"/>
                <a:ea typeface="DejaVu Sans"/>
                <a:cs typeface="DejaVu Sans"/>
              </a:defRPr>
            </a:defPPr>
            <a:lvl1pPr>
              <a:buNone/>
              <a:defRPr sz="4800" b="1">
                <a:solidFill>
                  <a:srgbClr val="FFFFFF"/>
                </a:solidFill>
                <a:latin typeface="DejaVu Sans"/>
                <a:ea typeface="DejaVu Sans"/>
                <a:cs typeface="DejaVu Sans"/>
              </a:defRPr>
            </a:lvl1pPr>
            <a:lvl2pPr>
              <a:buNone/>
              <a:defRPr sz="4800" b="1">
                <a:solidFill>
                  <a:srgbClr val="FFFFFF"/>
                </a:solidFill>
                <a:latin typeface="DejaVu Sans"/>
                <a:ea typeface="DejaVu Sans"/>
                <a:cs typeface="DejaVu Sans"/>
              </a:defRPr>
            </a:lvl2pPr>
            <a:lvl3pPr>
              <a:buNone/>
              <a:defRPr sz="4800" b="1">
                <a:solidFill>
                  <a:srgbClr val="FFFFFF"/>
                </a:solidFill>
                <a:latin typeface="DejaVu Sans"/>
                <a:ea typeface="DejaVu Sans"/>
                <a:cs typeface="DejaVu Sans"/>
              </a:defRPr>
            </a:lvl3pPr>
            <a:lvl4pPr>
              <a:buNone/>
              <a:defRPr sz="4800" b="1">
                <a:solidFill>
                  <a:srgbClr val="FFFFFF"/>
                </a:solidFill>
                <a:latin typeface="DejaVu Sans"/>
                <a:ea typeface="DejaVu Sans"/>
                <a:cs typeface="DejaVu Sans"/>
              </a:defRPr>
            </a:lvl4pPr>
            <a:lvl5pPr>
              <a:buNone/>
              <a:defRPr sz="4800" b="1">
                <a:solidFill>
                  <a:srgbClr val="FFFFFF"/>
                </a:solidFill>
                <a:latin typeface="DejaVu Sans"/>
                <a:ea typeface="DejaVu Sans"/>
                <a:cs typeface="DejaVu Sans"/>
              </a:defRPr>
            </a:lvl5pPr>
            <a:lvl6pPr>
              <a:buNone/>
              <a:defRPr sz="4800" b="1">
                <a:solidFill>
                  <a:srgbClr val="FFFFFF"/>
                </a:solidFill>
                <a:latin typeface="DejaVu Sans"/>
                <a:ea typeface="DejaVu Sans"/>
                <a:cs typeface="DejaVu Sans"/>
              </a:defRPr>
            </a:lvl6pPr>
            <a:lvl7pPr>
              <a:buNone/>
              <a:defRPr sz="4800" b="1">
                <a:solidFill>
                  <a:srgbClr val="FFFFFF"/>
                </a:solidFill>
                <a:latin typeface="DejaVu Sans"/>
                <a:ea typeface="DejaVu Sans"/>
                <a:cs typeface="DejaVu Sans"/>
              </a:defRPr>
            </a:lvl7pPr>
            <a:lvl8pPr>
              <a:buNone/>
              <a:defRPr sz="4800" b="1">
                <a:solidFill>
                  <a:srgbClr val="FFFFFF"/>
                </a:solidFill>
                <a:latin typeface="DejaVu Sans"/>
                <a:ea typeface="DejaVu Sans"/>
                <a:cs typeface="DejaVu Sans"/>
              </a:defRPr>
            </a:lvl8pPr>
            <a:lvl9pPr>
              <a:buNone/>
              <a:defRPr sz="4800" b="1">
                <a:solidFill>
                  <a:srgbClr val="FFFFFF"/>
                </a:solidFill>
                <a:latin typeface="DejaVu Sans"/>
                <a:ea typeface="DejaVu Sans"/>
                <a:cs typeface="DejaVu Sans"/>
              </a:defRPr>
            </a:lvl9pPr>
          </a:lstStyle>
          <a:p xmlns:a="http://schemas.openxmlformats.org/drawingml/2006/main">
            <a:pPr>
              <a:buNone/>
              <a:defRPr sz="4800" b="1">
                <a:solidFill>
                  <a:srgbClr val="FFFFFF"/>
                </a:solidFill>
                <a:latin typeface="DejaVu Sans"/>
                <a:ea typeface="DejaVu Sans"/>
                <a:cs typeface="DejaVu Sans"/>
              </a:defRPr>
            </a:pPr>
            <a:r>
              <a:rPr sz="4800" b="1">
                <a:solidFill>
                  <a:srgbClr val="FFFFFF"/>
                </a:solidFill>
                <a:latin typeface="DejaVu Sans"/>
                <a:ea typeface="DejaVu Sans"/>
                <a:cs typeface="DejaVu Sans"/>
              </a:rPr>
              <a:t>rsn habit calendar one b</a:t>
            </a:r>
          </a:p>
        </p:txBody>
      </p:sp>
      <p:sp>
        <p:nvSpPr>
          <p:cNvPr id="2" name="">
            <a:extLst xmlns:a="http://schemas.openxmlformats.org/drawingml/2006/main">
              <a:ext uri="{FF2B5EF4-FFF2-40B4-BE49-F238E27FC236}">
                <a16:creationId xmlns:a16="http://schemas.microsoft.com/office/drawing/2014/main" id="{933A0A32-7F46-4C68-A646-BCE58B332760}"/>
              </a:ext>
            </a:extLst>
          </p:cNvPr>
          <p:cNvSpPr>
            <a:spLocks xmlns:a="http://schemas.openxmlformats.org/drawingml/2006/main" noGrp="1"/>
          </p:cNvSpPr>
          <p:nvPr/>
        </p:nvSpPr>
        <p:spPr>
          <a:xfrm xmlns:a="http://schemas.openxmlformats.org/drawingml/2006/main">
            <a:off x="800100" y="30480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Windows, Ubuntu and Mac</a:t>
            </a:r>
          </a:p>
        </p:txBody>
      </p:sp>
      <p:sp>
        <p:nvSpPr>
          <p:cNvPr id="3" name="">
            <a:extLst xmlns:a="http://schemas.openxmlformats.org/drawingml/2006/main">
              <a:ext uri="{FF2B5EF4-FFF2-40B4-BE49-F238E27FC236}">
                <a16:creationId xmlns:a16="http://schemas.microsoft.com/office/drawing/2014/main" id="{FF44A16E-BFFF-4E8D-AFE6-BC96ECE52EFD}"/>
              </a:ext>
            </a:extLst>
          </p:cNvPr>
          <p:cNvSpPr>
            <a:spLocks xmlns:a="http://schemas.openxmlformats.org/drawingml/2006/main" noGrp="1"/>
          </p:cNvSpPr>
          <p:nvPr/>
        </p:nvSpPr>
        <p:spPr>
          <a:xfrm xmlns:a="http://schemas.openxmlformats.org/drawingml/2006/main">
            <a:off x="800100" y="37338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Android, iPhone and iPad</a:t>
            </a:r>
          </a:p>
        </p:txBody>
      </p:sp>
      <p:sp>
        <p:nvSpPr>
          <p:cNvPr id="4" name="">
            <a:extLst xmlns:a="http://schemas.openxmlformats.org/drawingml/2006/main">
              <a:ext uri="{FF2B5EF4-FFF2-40B4-BE49-F238E27FC236}">
                <a16:creationId xmlns:a16="http://schemas.microsoft.com/office/drawing/2014/main" id="{9EF10168-D5B3-428C-A799-F3B62A09379C}"/>
              </a:ext>
            </a:extLst>
          </p:cNvPr>
          <p:cNvSpPr>
            <a:spLocks xmlns:a="http://schemas.openxmlformats.org/drawingml/2006/main" noGrp="1"/>
          </p:cNvSpPr>
          <p:nvPr/>
        </p:nvSpPr>
        <p:spPr>
          <a:xfrm xmlns:a="http://schemas.openxmlformats.org/drawingml/2006/main">
            <a:off x="800100" y="44196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A8CFBE"/>
                </a:solidFill>
                <a:latin typeface="DejaVu Sans"/>
                <a:ea typeface="DejaVu Sans"/>
                <a:cs typeface="DejaVu Sans"/>
              </a:defRPr>
            </a:defPPr>
            <a:lvl1pPr>
              <a:buNone/>
              <a:defRPr sz="2250" b="0">
                <a:solidFill>
                  <a:srgbClr val="A8CFBE"/>
                </a:solidFill>
                <a:latin typeface="DejaVu Sans"/>
                <a:ea typeface="DejaVu Sans"/>
                <a:cs typeface="DejaVu Sans"/>
              </a:defRPr>
            </a:lvl1pPr>
            <a:lvl2pPr>
              <a:buNone/>
              <a:defRPr sz="2250" b="0">
                <a:solidFill>
                  <a:srgbClr val="A8CFBE"/>
                </a:solidFill>
                <a:latin typeface="DejaVu Sans"/>
                <a:ea typeface="DejaVu Sans"/>
                <a:cs typeface="DejaVu Sans"/>
              </a:defRPr>
            </a:lvl2pPr>
            <a:lvl3pPr>
              <a:buNone/>
              <a:defRPr sz="2250" b="0">
                <a:solidFill>
                  <a:srgbClr val="A8CFBE"/>
                </a:solidFill>
                <a:latin typeface="DejaVu Sans"/>
                <a:ea typeface="DejaVu Sans"/>
                <a:cs typeface="DejaVu Sans"/>
              </a:defRPr>
            </a:lvl3pPr>
            <a:lvl4pPr>
              <a:buNone/>
              <a:defRPr sz="2250" b="0">
                <a:solidFill>
                  <a:srgbClr val="A8CFBE"/>
                </a:solidFill>
                <a:latin typeface="DejaVu Sans"/>
                <a:ea typeface="DejaVu Sans"/>
                <a:cs typeface="DejaVu Sans"/>
              </a:defRPr>
            </a:lvl4pPr>
            <a:lvl5pPr>
              <a:buNone/>
              <a:defRPr sz="2250" b="0">
                <a:solidFill>
                  <a:srgbClr val="A8CFBE"/>
                </a:solidFill>
                <a:latin typeface="DejaVu Sans"/>
                <a:ea typeface="DejaVu Sans"/>
                <a:cs typeface="DejaVu Sans"/>
              </a:defRPr>
            </a:lvl5pPr>
            <a:lvl6pPr>
              <a:buNone/>
              <a:defRPr sz="2250" b="0">
                <a:solidFill>
                  <a:srgbClr val="A8CFBE"/>
                </a:solidFill>
                <a:latin typeface="DejaVu Sans"/>
                <a:ea typeface="DejaVu Sans"/>
                <a:cs typeface="DejaVu Sans"/>
              </a:defRPr>
            </a:lvl6pPr>
            <a:lvl7pPr>
              <a:buNone/>
              <a:defRPr sz="2250" b="0">
                <a:solidFill>
                  <a:srgbClr val="A8CFBE"/>
                </a:solidFill>
                <a:latin typeface="DejaVu Sans"/>
                <a:ea typeface="DejaVu Sans"/>
                <a:cs typeface="DejaVu Sans"/>
              </a:defRPr>
            </a:lvl7pPr>
            <a:lvl8pPr>
              <a:buNone/>
              <a:defRPr sz="2250" b="0">
                <a:solidFill>
                  <a:srgbClr val="A8CFBE"/>
                </a:solidFill>
                <a:latin typeface="DejaVu Sans"/>
                <a:ea typeface="DejaVu Sans"/>
                <a:cs typeface="DejaVu Sans"/>
              </a:defRPr>
            </a:lvl8pPr>
            <a:lvl9pPr>
              <a:buNone/>
              <a:defRPr sz="2250" b="0">
                <a:solidFill>
                  <a:srgbClr val="A8CFBE"/>
                </a:solidFill>
                <a:latin typeface="DejaVu Sans"/>
                <a:ea typeface="DejaVu Sans"/>
                <a:cs typeface="DejaVu Sans"/>
              </a:defRPr>
            </a:lvl9pPr>
          </a:lstStyle>
          <a:p xmlns:a="http://schemas.openxmlformats.org/drawingml/2006/main">
            <a:pPr>
              <a:buNone/>
              <a:defRPr sz="2250" b="0">
                <a:solidFill>
                  <a:srgbClr val="A8CFBE"/>
                </a:solidFill>
                <a:latin typeface="DejaVu Sans"/>
                <a:ea typeface="DejaVu Sans"/>
                <a:cs typeface="DejaVu Sans"/>
              </a:defRPr>
            </a:pPr>
            <a:r>
              <a:rPr sz="2250" b="0">
                <a:solidFill>
                  <a:srgbClr val="A8CFBE"/>
                </a:solidFill>
                <a:latin typeface="DejaVu Sans"/>
                <a:ea typeface="DejaVu Sans"/>
                <a:cs typeface="DejaVu Sans"/>
              </a:rPr>
              <a:t>Version 1.1.4 · harharhari · GPL-3.0-only</a:t>
            </a:r>
          </a:p>
        </p:txBody>
      </p:sp>
    </p:spTree>
    <p:extLst>
      <p:ext uri="{BB962C8B-B14F-4D97-AF65-F5344CB8AC3E}">
        <p14:creationId xmlns:p14="http://schemas.microsoft.com/office/powerpoint/2010/main" val="1331259362"/>
      </p:ext>
    </p:extLst>
  </p:cSld>
</p:sld>
</file>

<file path=ppt/slides/slide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198D6A-A653-4026-9CAD-00C06D1E9745}"/>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monthly calendar</a:t>
            </a:r>
          </a:p>
        </p:txBody>
      </p:sp>
      <p:sp>
        <p:nvSpPr>
          <p:cNvPr id="2" name="">
            <a:extLst xmlns:a="http://schemas.openxmlformats.org/drawingml/2006/main">
              <a:ext uri="{FF2B5EF4-FFF2-40B4-BE49-F238E27FC236}">
                <a16:creationId xmlns:a16="http://schemas.microsoft.com/office/drawing/2014/main" id="{C12A7BB9-52E4-4A8C-B455-4C412B13372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named calendar for every enabled habit.</a:t>
            </a:r>
          </a:p>
        </p:txBody>
      </p:sp>
      <p:sp>
        <p:nvSpPr>
          <p:cNvPr id="3" name="">
            <a:extLst xmlns:a="http://schemas.openxmlformats.org/drawingml/2006/main">
              <a:ext uri="{FF2B5EF4-FFF2-40B4-BE49-F238E27FC236}">
                <a16:creationId xmlns:a16="http://schemas.microsoft.com/office/drawing/2014/main" id="{BE126F11-FA07-46D8-B047-E36EA90E7B4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Monday starts the week. Earlier dates in the current month remain editable.</a:t>
            </a:r>
          </a:p>
        </p:txBody>
      </p:sp>
      <p:sp>
        <p:nvSpPr>
          <p:cNvPr id="4" name="">
            <a:extLst xmlns:a="http://schemas.openxmlformats.org/drawingml/2006/main">
              <a:ext uri="{FF2B5EF4-FFF2-40B4-BE49-F238E27FC236}">
                <a16:creationId xmlns:a16="http://schemas.microsoft.com/office/drawing/2014/main" id="{FB406436-5FAD-4AFE-BDA8-AE431D91A5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Click or tap a date to cycle unmarked, green, pink, then unmarked.</a:t>
            </a:r>
          </a:p>
        </p:txBody>
      </p:sp>
      <p:sp>
        <p:nvSpPr>
          <p:cNvPr id="5" name="">
            <a:extLst xmlns:a="http://schemas.openxmlformats.org/drawingml/2006/main">
              <a:ext uri="{FF2B5EF4-FFF2-40B4-BE49-F238E27FC236}">
                <a16:creationId xmlns:a16="http://schemas.microsoft.com/office/drawing/2014/main" id="{55539EB7-6081-46AD-B965-FE0B5A45A7FB}"/>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Schedules are not part of this version. You choose every mark manually.</a:t>
            </a:r>
          </a:p>
        </p:txBody>
      </p:sp>
      <p:sp>
        <p:nvSpPr>
          <p:cNvPr id="6" name="">
            <a:extLst xmlns:a="http://schemas.openxmlformats.org/drawingml/2006/main">
              <a:ext uri="{FF2B5EF4-FFF2-40B4-BE49-F238E27FC236}">
                <a16:creationId xmlns:a16="http://schemas.microsoft.com/office/drawing/2014/main" id="{5402BC51-3A7A-49AA-8F71-40ACCDAAFE1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EDE99E28-48DC-4942-ADB3-D884ECC8635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02</a:t>
            </a:r>
          </a:p>
        </p:txBody>
      </p:sp>
    </p:spTree>
    <p:extLst>
      <p:ext uri="{BB962C8B-B14F-4D97-AF65-F5344CB8AC3E}">
        <p14:creationId xmlns:p14="http://schemas.microsoft.com/office/powerpoint/2010/main" val="2147455251"/>
      </p:ext>
    </p:extLst>
  </p:cSld>
</p:sld>
</file>

<file path=ppt/slides/slide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FC0EE3-27D7-436D-A88E-F9EDBFD6E74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Desktop layout</a:t>
            </a:r>
          </a:p>
        </p:txBody>
      </p:sp>
      <p:pic>
        <p:nvPicPr>
          <p:cNvPr id="2" name="">
            <a:extLst xmlns:a="http://schemas.openxmlformats.org/drawingml/2006/main">
              <a:ext uri="{FF2B5EF4-FFF2-40B4-BE49-F238E27FC236}">
                <a16:creationId xmlns:a16="http://schemas.microsoft.com/office/drawing/2014/main" id="{220C27CD-C447-4605-A99F-6C3AE2546841}"/>
              </a:ext>
            </a:extLst>
          </p:cNvPr>
          <p:cNvPicPr>
            <a:picLocks xmlns:a="http://schemas.openxmlformats.org/drawingml/2006/main" noChangeAspect="1"/>
          </p:cNvPicPr>
          <p:nvPr/>
        </p:nvPicPr>
        <p:blipFill>
          <a:blip xmlns:r="http://schemas.openxmlformats.org/officeDocument/2006/relationships" xmlns:a="http://schemas.openxmlformats.org/drawingml/2006/main" r:embed="Rb8fd01c2c09a4728"/>
          <a:stretch xmlns:a="http://schemas.openxmlformats.org/drawingml/2006/main"/>
        </p:blipFill>
        <p:spPr>
          <a:xfrm xmlns:a="http://schemas.openxmlformats.org/drawingml/2006/main">
            <a:off x="672465" y="1447800"/>
            <a:ext cx="7284720" cy="45529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07D64A1-AF53-4E4D-A9E2-679C2B87D1F5}"/>
              </a:ext>
            </a:extLst>
          </p:cNvPr>
          <p:cNvSpPr>
            <a:spLocks xmlns:a="http://schemas.openxmlformats.org/drawingml/2006/main" noGrp="1"/>
          </p:cNvSpPr>
          <p:nvPr/>
        </p:nvSpPr>
        <p:spPr>
          <a:xfrm xmlns:a="http://schemas.openxmlformats.org/drawingml/2006/main">
            <a:off x="8477250" y="161925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Wide desktop views show six calendars per row.</a:t>
            </a:r>
          </a:p>
        </p:txBody>
      </p:sp>
      <p:sp>
        <p:nvSpPr>
          <p:cNvPr id="4" name="">
            <a:extLst xmlns:a="http://schemas.openxmlformats.org/drawingml/2006/main">
              <a:ext uri="{FF2B5EF4-FFF2-40B4-BE49-F238E27FC236}">
                <a16:creationId xmlns:a16="http://schemas.microsoft.com/office/drawing/2014/main" id="{F3810FD8-7B34-4E31-9A14-66D4D4AE929E}"/>
              </a:ext>
            </a:extLst>
          </p:cNvPr>
          <p:cNvSpPr>
            <a:spLocks xmlns:a="http://schemas.openxmlformats.org/drawingml/2006/main" noGrp="1"/>
          </p:cNvSpPr>
          <p:nvPr/>
        </p:nvSpPr>
        <p:spPr>
          <a:xfrm xmlns:a="http://schemas.openxmlformats.org/drawingml/2006/main">
            <a:off x="8477250" y="2809875"/>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Search filters the visible habit names.</a:t>
            </a:r>
          </a:p>
        </p:txBody>
      </p:sp>
      <p:sp>
        <p:nvSpPr>
          <p:cNvPr id="5" name="">
            <a:extLst xmlns:a="http://schemas.openxmlformats.org/drawingml/2006/main">
              <a:ext uri="{FF2B5EF4-FFF2-40B4-BE49-F238E27FC236}">
                <a16:creationId xmlns:a16="http://schemas.microsoft.com/office/drawing/2014/main" id="{0B7C7E43-29F1-4FEC-8249-C658FCFF8940}"/>
              </a:ext>
            </a:extLst>
          </p:cNvPr>
          <p:cNvSpPr>
            <a:spLocks xmlns:a="http://schemas.openxmlformats.org/drawingml/2006/main" noGrp="1"/>
          </p:cNvSpPr>
          <p:nvPr/>
        </p:nvSpPr>
        <p:spPr>
          <a:xfrm xmlns:a="http://schemas.openxmlformats.org/drawingml/2006/main">
            <a:off x="8477250" y="400050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Previous, Choose month and Next open monthly views.</a:t>
            </a:r>
          </a:p>
        </p:txBody>
      </p:sp>
      <p:sp>
        <p:nvSpPr>
          <p:cNvPr id="6" name="">
            <a:extLst xmlns:a="http://schemas.openxmlformats.org/drawingml/2006/main">
              <a:ext uri="{FF2B5EF4-FFF2-40B4-BE49-F238E27FC236}">
                <a16:creationId xmlns:a16="http://schemas.microsoft.com/office/drawing/2014/main" id="{4A31345D-852E-43D3-BFDE-C2D76552C2F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7" name="">
            <a:extLst xmlns:a="http://schemas.openxmlformats.org/drawingml/2006/main">
              <a:ext uri="{FF2B5EF4-FFF2-40B4-BE49-F238E27FC236}">
                <a16:creationId xmlns:a16="http://schemas.microsoft.com/office/drawing/2014/main" id="{848B168D-B283-40A3-8097-78940FD5F862}"/>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03</a:t>
            </a:r>
          </a:p>
        </p:txBody>
      </p:sp>
    </p:spTree>
    <p:extLst>
      <p:ext uri="{BB962C8B-B14F-4D97-AF65-F5344CB8AC3E}">
        <p14:creationId xmlns:p14="http://schemas.microsoft.com/office/powerpoint/2010/main" val="913623309"/>
      </p:ext>
    </p:extLst>
  </p:cSld>
</p:sld>
</file>

<file path=ppt/slides/slide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3B0DB2-A314-4CF0-B73D-F6C0BB21C70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Phone and tablet layout</a:t>
            </a:r>
          </a:p>
        </p:txBody>
      </p:sp>
      <p:pic>
        <p:nvPicPr>
          <p:cNvPr id="2" name="">
            <a:extLst xmlns:a="http://schemas.openxmlformats.org/drawingml/2006/main">
              <a:ext uri="{FF2B5EF4-FFF2-40B4-BE49-F238E27FC236}">
                <a16:creationId xmlns:a16="http://schemas.microsoft.com/office/drawing/2014/main" id="{AB614267-A876-46FD-9C91-E8934C720A88}"/>
              </a:ext>
            </a:extLst>
          </p:cNvPr>
          <p:cNvPicPr>
            <a:picLocks xmlns:a="http://schemas.openxmlformats.org/drawingml/2006/main" noChangeAspect="1"/>
          </p:cNvPicPr>
          <p:nvPr/>
        </p:nvPicPr>
        <p:blipFill>
          <a:blip xmlns:r="http://schemas.openxmlformats.org/officeDocument/2006/relationships" xmlns:a="http://schemas.openxmlformats.org/drawingml/2006/main" r:embed="R46d05dc40eb443e3"/>
          <a:stretch xmlns:a="http://schemas.openxmlformats.org/drawingml/2006/main"/>
        </p:blipFill>
        <p:spPr>
          <a:xfrm xmlns:a="http://schemas.openxmlformats.org/drawingml/2006/main">
            <a:off x="8403322" y="1371600"/>
            <a:ext cx="2243356" cy="48577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3F1FAFA-C9F9-4E6F-A429-C4045041896A}"/>
              </a:ext>
            </a:extLst>
          </p:cNvPr>
          <p:cNvSpPr>
            <a:spLocks xmlns:a="http://schemas.openxmlformats.org/drawingml/2006/main" noGrp="1"/>
          </p:cNvSpPr>
          <p:nvPr/>
        </p:nvSpPr>
        <p:spPr>
          <a:xfrm xmlns:a="http://schemas.openxmlformats.org/drawingml/2006/main">
            <a:off x="647700" y="16573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calendar per row.</a:t>
            </a:r>
          </a:p>
        </p:txBody>
      </p:sp>
      <p:sp>
        <p:nvSpPr>
          <p:cNvPr id="4" name="">
            <a:extLst xmlns:a="http://schemas.openxmlformats.org/drawingml/2006/main">
              <a:ext uri="{FF2B5EF4-FFF2-40B4-BE49-F238E27FC236}">
                <a16:creationId xmlns:a16="http://schemas.microsoft.com/office/drawing/2014/main" id="{F36E2888-7A87-42FE-BBC0-6915D1C9EC81}"/>
              </a:ext>
            </a:extLst>
          </p:cNvPr>
          <p:cNvSpPr>
            <a:spLocks xmlns:a="http://schemas.openxmlformats.org/drawingml/2006/main" noGrp="1"/>
          </p:cNvSpPr>
          <p:nvPr/>
        </p:nvSpPr>
        <p:spPr>
          <a:xfrm xmlns:a="http://schemas.openxmlformats.org/drawingml/2006/main">
            <a:off x="647700" y="27051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Includes iPad in landscape.</a:t>
            </a:r>
          </a:p>
        </p:txBody>
      </p:sp>
      <p:sp>
        <p:nvSpPr>
          <p:cNvPr id="5" name="">
            <a:extLst xmlns:a="http://schemas.openxmlformats.org/drawingml/2006/main">
              <a:ext uri="{FF2B5EF4-FFF2-40B4-BE49-F238E27FC236}">
                <a16:creationId xmlns:a16="http://schemas.microsoft.com/office/drawing/2014/main" id="{D3289F8D-BAF7-48AE-831A-E01AA175BC00}"/>
              </a:ext>
            </a:extLst>
          </p:cNvPr>
          <p:cNvSpPr>
            <a:spLocks xmlns:a="http://schemas.openxmlformats.org/drawingml/2006/main" noGrp="1"/>
          </p:cNvSpPr>
          <p:nvPr/>
        </p:nvSpPr>
        <p:spPr>
          <a:xfrm xmlns:a="http://schemas.openxmlformats.org/drawingml/2006/main">
            <a:off x="647700" y="37528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day to change its mark.</a:t>
            </a:r>
          </a:p>
        </p:txBody>
      </p:sp>
      <p:sp>
        <p:nvSpPr>
          <p:cNvPr id="6" name="">
            <a:extLst xmlns:a="http://schemas.openxmlformats.org/drawingml/2006/main">
              <a:ext uri="{FF2B5EF4-FFF2-40B4-BE49-F238E27FC236}">
                <a16:creationId xmlns:a16="http://schemas.microsoft.com/office/drawing/2014/main" id="{CD95C8E3-4D03-4B6F-90C8-688C991443DD}"/>
              </a:ext>
            </a:extLst>
          </p:cNvPr>
          <p:cNvSpPr>
            <a:spLocks xmlns:a="http://schemas.openxmlformats.org/drawingml/2006/main" noGrp="1"/>
          </p:cNvSpPr>
          <p:nvPr/>
        </p:nvSpPr>
        <p:spPr>
          <a:xfrm xmlns:a="http://schemas.openxmlformats.org/drawingml/2006/main">
            <a:off x="647700" y="48006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Scroll vertically through all habits.</a:t>
            </a:r>
          </a:p>
        </p:txBody>
      </p:sp>
      <p:sp>
        <p:nvSpPr>
          <p:cNvPr id="7" name="">
            <a:extLst xmlns:a="http://schemas.openxmlformats.org/drawingml/2006/main">
              <a:ext uri="{FF2B5EF4-FFF2-40B4-BE49-F238E27FC236}">
                <a16:creationId xmlns:a16="http://schemas.microsoft.com/office/drawing/2014/main" id="{7A779D75-4030-4E75-A622-6175C81389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8" name="">
            <a:extLst xmlns:a="http://schemas.openxmlformats.org/drawingml/2006/main">
              <a:ext uri="{FF2B5EF4-FFF2-40B4-BE49-F238E27FC236}">
                <a16:creationId xmlns:a16="http://schemas.microsoft.com/office/drawing/2014/main" id="{61E96537-A482-4522-93FD-71FCAC05E53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04</a:t>
            </a:r>
          </a:p>
        </p:txBody>
      </p:sp>
    </p:spTree>
    <p:extLst>
      <p:ext uri="{BB962C8B-B14F-4D97-AF65-F5344CB8AC3E}">
        <p14:creationId xmlns:p14="http://schemas.microsoft.com/office/powerpoint/2010/main" val="2017110114"/>
      </p:ext>
    </p:extLst>
  </p:cSld>
</p:sld>
</file>

<file path=ppt/slides/slide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1BA218-737E-49D7-AC64-CEB86BA7803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Requirements and test vault</a:t>
            </a:r>
          </a:p>
        </p:txBody>
      </p:sp>
      <p:sp>
        <p:nvSpPr>
          <p:cNvPr id="2" name="">
            <a:extLst xmlns:a="http://schemas.openxmlformats.org/drawingml/2006/main">
              <a:ext uri="{FF2B5EF4-FFF2-40B4-BE49-F238E27FC236}">
                <a16:creationId xmlns:a16="http://schemas.microsoft.com/office/drawing/2014/main" id="{049C8C91-9E9E-4E44-91B3-F3F18CB7211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Install Obsidian and create rsn-test-vault for first-use exercises.</a:t>
            </a:r>
          </a:p>
        </p:txBody>
      </p:sp>
      <p:sp>
        <p:nvSpPr>
          <p:cNvPr id="3" name="">
            <a:extLst xmlns:a="http://schemas.openxmlformats.org/drawingml/2006/main">
              <a:ext uri="{FF2B5EF4-FFF2-40B4-BE49-F238E27FC236}">
                <a16:creationId xmlns:a16="http://schemas.microsoft.com/office/drawing/2014/main" id="{A85EF0AF-1B64-4CAB-9B78-0C9406EC44E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Targets: Windows 11, Ubuntu 24.04.3 and current Apple/Android systems.</a:t>
            </a:r>
          </a:p>
        </p:txBody>
      </p:sp>
      <p:sp>
        <p:nvSpPr>
          <p:cNvPr id="4" name="">
            <a:extLst xmlns:a="http://schemas.openxmlformats.org/drawingml/2006/main">
              <a:ext uri="{FF2B5EF4-FFF2-40B4-BE49-F238E27FC236}">
                <a16:creationId xmlns:a16="http://schemas.microsoft.com/office/drawing/2014/main" id="{1789FD55-202A-4403-8323-50D278CC9EB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Manual Android setup needs an accessible vault and a file manager with hidden files.</a:t>
            </a:r>
          </a:p>
        </p:txBody>
      </p:sp>
      <p:sp>
        <p:nvSpPr>
          <p:cNvPr id="5" name="">
            <a:extLst xmlns:a="http://schemas.openxmlformats.org/drawingml/2006/main">
              <a:ext uri="{FF2B5EF4-FFF2-40B4-BE49-F238E27FC236}">
                <a16:creationId xmlns:a16="http://schemas.microsoft.com/office/drawing/2014/main" id="{D55EBFC3-05B0-4D96-BD0A-A379E6DBD6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Normal use needs no Node.js or Python. Obsidian Sync is optional.</a:t>
            </a:r>
          </a:p>
        </p:txBody>
      </p:sp>
      <p:sp>
        <p:nvSpPr>
          <p:cNvPr id="6" name="">
            <a:extLst xmlns:a="http://schemas.openxmlformats.org/drawingml/2006/main">
              <a:ext uri="{FF2B5EF4-FFF2-40B4-BE49-F238E27FC236}">
                <a16:creationId xmlns:a16="http://schemas.microsoft.com/office/drawing/2014/main" id="{C4B612E7-7E1A-4C10-9566-F1860293BAB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5DD66439-C5BB-431E-B9A0-31C30D46E5D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05</a:t>
            </a:r>
          </a:p>
        </p:txBody>
      </p:sp>
    </p:spTree>
    <p:extLst>
      <p:ext uri="{BB962C8B-B14F-4D97-AF65-F5344CB8AC3E}">
        <p14:creationId xmlns:p14="http://schemas.microsoft.com/office/powerpoint/2010/main" val="475616675"/>
      </p:ext>
    </p:extLst>
  </p:cSld>
</p:sld>
</file>

<file path=ppt/slides/slide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A4A631-B6AD-4432-82DE-B108A497757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GitHub release downloads</a:t>
            </a:r>
          </a:p>
        </p:txBody>
      </p:sp>
      <p:sp>
        <p:nvSpPr>
          <p:cNvPr id="2" name="">
            <a:extLst xmlns:a="http://schemas.openxmlformats.org/drawingml/2006/main">
              <a:ext uri="{FF2B5EF4-FFF2-40B4-BE49-F238E27FC236}">
                <a16:creationId xmlns:a16="http://schemas.microsoft.com/office/drawing/2014/main" id="{22169782-A26F-4F59-81AC-E2AA72FC399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harharhari/rsn-habit-tracker-obsidian-plugin on GitHub, then Releases.</a:t>
            </a:r>
          </a:p>
        </p:txBody>
      </p:sp>
      <p:sp>
        <p:nvSpPr>
          <p:cNvPr id="3" name="">
            <a:extLst xmlns:a="http://schemas.openxmlformats.org/drawingml/2006/main">
              <a:ext uri="{FF2B5EF4-FFF2-40B4-BE49-F238E27FC236}">
                <a16:creationId xmlns:a16="http://schemas.microsoft.com/office/drawing/2014/main" id="{ED349A8F-5577-4F75-B934-6342B0EFB29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release tag 1.1.4 and expand Assets.</a:t>
            </a:r>
          </a:p>
        </p:txBody>
      </p:sp>
      <p:sp>
        <p:nvSpPr>
          <p:cNvPr id="4" name="">
            <a:extLst xmlns:a="http://schemas.openxmlformats.org/drawingml/2006/main">
              <a:ext uri="{FF2B5EF4-FFF2-40B4-BE49-F238E27FC236}">
                <a16:creationId xmlns:a16="http://schemas.microsoft.com/office/drawing/2014/main" id="{88FEB46C-A9CA-46F7-9A51-1A29034E984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Download the four loose files, installation ZIP and SHA256SUMS into one folder.</a:t>
            </a:r>
          </a:p>
        </p:txBody>
      </p:sp>
      <p:sp>
        <p:nvSpPr>
          <p:cNvPr id="5" name="">
            <a:extLst xmlns:a="http://schemas.openxmlformats.org/drawingml/2006/main">
              <a:ext uri="{FF2B5EF4-FFF2-40B4-BE49-F238E27FC236}">
                <a16:creationId xmlns:a16="http://schemas.microsoft.com/office/drawing/2014/main" id="{F535ECBA-C6B4-45C8-980A-44019DF44D4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the attached installation ZIP. The automatic Source code ZIP needs a developer build.</a:t>
            </a:r>
          </a:p>
        </p:txBody>
      </p:sp>
      <p:sp>
        <p:nvSpPr>
          <p:cNvPr id="6" name="">
            <a:extLst xmlns:a="http://schemas.openxmlformats.org/drawingml/2006/main">
              <a:ext uri="{FF2B5EF4-FFF2-40B4-BE49-F238E27FC236}">
                <a16:creationId xmlns:a16="http://schemas.microsoft.com/office/drawing/2014/main" id="{49CFCB37-4531-4EE8-9A05-9D6ABBBB9F2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41303526-D347-4CC4-A41D-03A2A8FC017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06</a:t>
            </a:r>
          </a:p>
        </p:txBody>
      </p:sp>
    </p:spTree>
    <p:extLst>
      <p:ext uri="{BB962C8B-B14F-4D97-AF65-F5344CB8AC3E}">
        <p14:creationId xmlns:p14="http://schemas.microsoft.com/office/powerpoint/2010/main" val="1368981099"/>
      </p:ext>
    </p:extLst>
  </p:cSld>
</p:sld>
</file>

<file path=ppt/slides/slide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302D56-1A1F-450E-8CD6-371C366AA79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Download verification</a:t>
            </a:r>
          </a:p>
        </p:txBody>
      </p:sp>
      <p:sp>
        <p:nvSpPr>
          <p:cNvPr id="2" name="">
            <a:extLst xmlns:a="http://schemas.openxmlformats.org/drawingml/2006/main">
              <a:ext uri="{FF2B5EF4-FFF2-40B4-BE49-F238E27FC236}">
                <a16:creationId xmlns:a16="http://schemas.microsoft.com/office/drawing/2014/main" id="{C90E453B-3D59-483E-92BD-E51269F53EF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Ubuntu, open a terminal inside the release download folder.</a:t>
            </a:r>
          </a:p>
        </p:txBody>
      </p:sp>
      <p:sp>
        <p:nvSpPr>
          <p:cNvPr id="3" name="">
            <a:extLst xmlns:a="http://schemas.openxmlformats.org/drawingml/2006/main">
              <a:ext uri="{FF2B5EF4-FFF2-40B4-BE49-F238E27FC236}">
                <a16:creationId xmlns:a16="http://schemas.microsoft.com/office/drawing/2014/main" id="{A46161F6-DD00-4C55-BEB5-46C8B055271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sha256sum -c SHA256SUMS</a:t>
            </a:r>
          </a:p>
        </p:txBody>
      </p:sp>
      <p:sp>
        <p:nvSpPr>
          <p:cNvPr id="4" name="">
            <a:extLst xmlns:a="http://schemas.openxmlformats.org/drawingml/2006/main">
              <a:ext uri="{FF2B5EF4-FFF2-40B4-BE49-F238E27FC236}">
                <a16:creationId xmlns:a16="http://schemas.microsoft.com/office/drawing/2014/main" id="{674E68EE-1F2C-418F-8939-9855683C03B2}"/>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Expect five OK results, covering four loose files and the ZIP.</a:t>
            </a:r>
          </a:p>
        </p:txBody>
      </p:sp>
      <p:sp>
        <p:nvSpPr>
          <p:cNvPr id="5" name="">
            <a:extLst xmlns:a="http://schemas.openxmlformats.org/drawingml/2006/main">
              <a:ext uri="{FF2B5EF4-FFF2-40B4-BE49-F238E27FC236}">
                <a16:creationId xmlns:a16="http://schemas.microsoft.com/office/drawing/2014/main" id="{8904CB2A-2292-4F1F-AC27-27CA35ED3BD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Stop if a file is missing or a checksum fails. Download matching assets again.</a:t>
            </a:r>
          </a:p>
        </p:txBody>
      </p:sp>
      <p:sp>
        <p:nvSpPr>
          <p:cNvPr id="6" name="">
            <a:extLst xmlns:a="http://schemas.openxmlformats.org/drawingml/2006/main">
              <a:ext uri="{FF2B5EF4-FFF2-40B4-BE49-F238E27FC236}">
                <a16:creationId xmlns:a16="http://schemas.microsoft.com/office/drawing/2014/main" id="{8D498089-4ACE-4939-B551-878765B82C0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FF16F759-6FB7-4740-9EFF-38BF4EC57B6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07</a:t>
            </a:r>
          </a:p>
        </p:txBody>
      </p:sp>
    </p:spTree>
    <p:extLst>
      <p:ext uri="{BB962C8B-B14F-4D97-AF65-F5344CB8AC3E}">
        <p14:creationId xmlns:p14="http://schemas.microsoft.com/office/powerpoint/2010/main" val="1830379072"/>
      </p:ext>
    </p:extLst>
  </p:cSld>
</p:sld>
</file>

<file path=ppt/slides/slide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563D151-DE20-42D2-BE6B-C2CB73B3A02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and Mac verification</a:t>
            </a:r>
          </a:p>
        </p:txBody>
      </p:sp>
      <p:sp>
        <p:nvSpPr>
          <p:cNvPr id="2" name="">
            <a:extLst xmlns:a="http://schemas.openxmlformats.org/drawingml/2006/main">
              <a:ext uri="{FF2B5EF4-FFF2-40B4-BE49-F238E27FC236}">
                <a16:creationId xmlns:a16="http://schemas.microsoft.com/office/drawing/2014/main" id="{F37A68DA-3427-4578-9AC1-7178A087A62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Mac: open Terminal in the downloads folder. Run shasum -a 256 -c SHA256SUMS.</a:t>
            </a:r>
          </a:p>
        </p:txBody>
      </p:sp>
      <p:sp>
        <p:nvSpPr>
          <p:cNvPr id="3" name="">
            <a:extLst xmlns:a="http://schemas.openxmlformats.org/drawingml/2006/main">
              <a:ext uri="{FF2B5EF4-FFF2-40B4-BE49-F238E27FC236}">
                <a16:creationId xmlns:a16="http://schemas.microsoft.com/office/drawing/2014/main" id="{64F316B3-141B-4E87-9CF2-5D54C84290F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Windows: open PowerShell in the downloads folder. Use Get-FileHash with SHA256.</a:t>
            </a:r>
          </a:p>
        </p:txBody>
      </p:sp>
      <p:sp>
        <p:nvSpPr>
          <p:cNvPr id="4" name="">
            <a:extLst xmlns:a="http://schemas.openxmlformats.org/drawingml/2006/main">
              <a:ext uri="{FF2B5EF4-FFF2-40B4-BE49-F238E27FC236}">
                <a16:creationId xmlns:a16="http://schemas.microsoft.com/office/drawing/2014/main" id="{0C6515C7-3AF7-4C9E-AD41-9ABB440556FB}"/>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install guide supplies a PowerShell loop that checks all five payloads.</a:t>
            </a:r>
          </a:p>
        </p:txBody>
      </p:sp>
      <p:sp>
        <p:nvSpPr>
          <p:cNvPr id="5" name="">
            <a:extLst xmlns:a="http://schemas.openxmlformats.org/drawingml/2006/main">
              <a:ext uri="{FF2B5EF4-FFF2-40B4-BE49-F238E27FC236}">
                <a16:creationId xmlns:a16="http://schemas.microsoft.com/office/drawing/2014/main" id="{E545C97B-91A3-4CA4-964E-F323728C67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Only continue when every hash matches the same release checksum file.</a:t>
            </a:r>
          </a:p>
        </p:txBody>
      </p:sp>
      <p:sp>
        <p:nvSpPr>
          <p:cNvPr id="6" name="">
            <a:extLst xmlns:a="http://schemas.openxmlformats.org/drawingml/2006/main">
              <a:ext uri="{FF2B5EF4-FFF2-40B4-BE49-F238E27FC236}">
                <a16:creationId xmlns:a16="http://schemas.microsoft.com/office/drawing/2014/main" id="{026D6412-B0F9-4072-9729-022794FF5C4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5CDAF044-D0EA-4689-8070-B591B6E78B5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08</a:t>
            </a:r>
          </a:p>
        </p:txBody>
      </p:sp>
    </p:spTree>
    <p:extLst>
      <p:ext uri="{BB962C8B-B14F-4D97-AF65-F5344CB8AC3E}">
        <p14:creationId xmlns:p14="http://schemas.microsoft.com/office/powerpoint/2010/main" val="710706009"/>
      </p:ext>
    </p:extLst>
  </p:cSld>
</p:sld>
</file>

<file path=ppt/slides/slide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1AB162-3FF1-4263-8EFC-D1D3B601C86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plugin files</a:t>
            </a:r>
          </a:p>
        </p:txBody>
      </p:sp>
      <p:sp>
        <p:nvSpPr>
          <p:cNvPr id="2" name="">
            <a:extLst xmlns:a="http://schemas.openxmlformats.org/drawingml/2006/main">
              <a:ext uri="{FF2B5EF4-FFF2-40B4-BE49-F238E27FC236}">
                <a16:creationId xmlns:a16="http://schemas.microsoft.com/office/drawing/2014/main" id="{C581371B-3E79-49F2-B43B-9BD1A8AA9C9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close Obsidian.</a:t>
            </a:r>
          </a:p>
        </p:txBody>
      </p:sp>
      <p:sp>
        <p:nvSpPr>
          <p:cNvPr id="3" name="">
            <a:extLst xmlns:a="http://schemas.openxmlformats.org/drawingml/2006/main">
              <a:ext uri="{FF2B5EF4-FFF2-40B4-BE49-F238E27FC236}">
                <a16:creationId xmlns:a16="http://schemas.microsoft.com/office/drawing/2014/main" id="{27065130-D423-4F60-89E3-7FD732CBF07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 Explorer, enable View, Show, Hidden items and File name extensions.</a:t>
            </a:r>
          </a:p>
        </p:txBody>
      </p:sp>
      <p:sp>
        <p:nvSpPr>
          <p:cNvPr id="4" name="">
            <a:extLst xmlns:a="http://schemas.openxmlformats.org/drawingml/2006/main">
              <a:ext uri="{FF2B5EF4-FFF2-40B4-BE49-F238E27FC236}">
                <a16:creationId xmlns:a16="http://schemas.microsoft.com/office/drawing/2014/main" id="{52F886D8-1320-4D4F-AE8C-C764C3657D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Extract the installation ZIP. Copy rsn-habit-calendar-one-b into the vault’s .obsidian/plugins folder.</a:t>
            </a:r>
          </a:p>
        </p:txBody>
      </p:sp>
      <p:sp>
        <p:nvSpPr>
          <p:cNvPr id="5" name="">
            <a:extLst xmlns:a="http://schemas.openxmlformats.org/drawingml/2006/main">
              <a:ext uri="{FF2B5EF4-FFF2-40B4-BE49-F238E27FC236}">
                <a16:creationId xmlns:a16="http://schemas.microsoft.com/office/drawing/2014/main" id="{03978F37-9529-4506-9C55-8383946FE1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Confirm main.js is directly inside rsn-habit-calendar-one-b, with no extra nested folder.</a:t>
            </a:r>
          </a:p>
        </p:txBody>
      </p:sp>
      <p:sp>
        <p:nvSpPr>
          <p:cNvPr id="6" name="">
            <a:extLst xmlns:a="http://schemas.openxmlformats.org/drawingml/2006/main">
              <a:ext uri="{FF2B5EF4-FFF2-40B4-BE49-F238E27FC236}">
                <a16:creationId xmlns:a16="http://schemas.microsoft.com/office/drawing/2014/main" id="{8361FF5B-A976-487C-A587-D42F2E4089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A1A81FA9-04B6-4224-9778-91929AE4CFC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09</a:t>
            </a:r>
          </a:p>
        </p:txBody>
      </p:sp>
    </p:spTree>
    <p:extLst>
      <p:ext uri="{BB962C8B-B14F-4D97-AF65-F5344CB8AC3E}">
        <p14:creationId xmlns:p14="http://schemas.microsoft.com/office/powerpoint/2010/main" val="1593458384"/>
      </p:ext>
    </p:extLst>
  </p:cSld>
</p:sld>
</file>

<file path=ppt/slides/slide1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414C88E-1716-459A-B691-B3C7ACBF274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first opening</a:t>
            </a:r>
          </a:p>
        </p:txBody>
      </p:sp>
      <p:sp>
        <p:nvSpPr>
          <p:cNvPr id="2" name="">
            <a:extLst xmlns:a="http://schemas.openxmlformats.org/drawingml/2006/main">
              <a:ext uri="{FF2B5EF4-FFF2-40B4-BE49-F238E27FC236}">
                <a16:creationId xmlns:a16="http://schemas.microsoft.com/office/drawing/2014/main" id="{497644C1-ACE3-494F-97FB-38D28163C8D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rsn-test-vault in Obsidian.</a:t>
            </a:r>
          </a:p>
        </p:txBody>
      </p:sp>
      <p:sp>
        <p:nvSpPr>
          <p:cNvPr id="3" name="">
            <a:extLst xmlns:a="http://schemas.openxmlformats.org/drawingml/2006/main">
              <a:ext uri="{FF2B5EF4-FFF2-40B4-BE49-F238E27FC236}">
                <a16:creationId xmlns:a16="http://schemas.microsoft.com/office/drawing/2014/main" id="{1DBE2D49-B278-47C9-AD64-20D43A1A28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Under Settings, Community plugins, enable rsn habit calendar one b.</a:t>
            </a:r>
          </a:p>
        </p:txBody>
      </p:sp>
      <p:sp>
        <p:nvSpPr>
          <p:cNvPr id="4" name="">
            <a:extLst xmlns:a="http://schemas.openxmlformats.org/drawingml/2006/main">
              <a:ext uri="{FF2B5EF4-FFF2-40B4-BE49-F238E27FC236}">
                <a16:creationId xmlns:a16="http://schemas.microsoft.com/office/drawing/2014/main" id="{3651F853-197A-4644-B3F4-2188B438B06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Verify version 1.1.4. Press Ctrl+P and run Open current month.</a:t>
            </a:r>
          </a:p>
        </p:txBody>
      </p:sp>
      <p:sp>
        <p:nvSpPr>
          <p:cNvPr id="5" name="">
            <a:extLst xmlns:a="http://schemas.openxmlformats.org/drawingml/2006/main">
              <a:ext uri="{FF2B5EF4-FFF2-40B4-BE49-F238E27FC236}">
                <a16:creationId xmlns:a16="http://schemas.microsoft.com/office/drawing/2014/main" id="{BC18746C-2F3D-4058-B112-2B16D450AA5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Add generic habits using the later practice exercise. Wide panes show six calendars per row.</a:t>
            </a:r>
          </a:p>
        </p:txBody>
      </p:sp>
      <p:sp>
        <p:nvSpPr>
          <p:cNvPr id="6" name="">
            <a:extLst xmlns:a="http://schemas.openxmlformats.org/drawingml/2006/main">
              <a:ext uri="{FF2B5EF4-FFF2-40B4-BE49-F238E27FC236}">
                <a16:creationId xmlns:a16="http://schemas.microsoft.com/office/drawing/2014/main" id="{FFAEA162-B4D2-4744-94C4-8B6939F9892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39D16D75-9E50-4FA5-B55A-E76279F69B8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10</a:t>
            </a:r>
          </a:p>
        </p:txBody>
      </p:sp>
    </p:spTree>
    <p:extLst>
      <p:ext uri="{BB962C8B-B14F-4D97-AF65-F5344CB8AC3E}">
        <p14:creationId xmlns:p14="http://schemas.microsoft.com/office/powerpoint/2010/main" val="6819817"/>
      </p:ext>
    </p:extLst>
  </p:cSld>
</p:sld>
</file>

<file path=ppt/slides/slide1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541B3B4-D258-4899-BA2D-F6CEC663527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files</a:t>
            </a:r>
          </a:p>
        </p:txBody>
      </p:sp>
      <p:sp>
        <p:nvSpPr>
          <p:cNvPr id="2" name="">
            <a:extLst xmlns:a="http://schemas.openxmlformats.org/drawingml/2006/main">
              <a:ext uri="{FF2B5EF4-FFF2-40B4-BE49-F238E27FC236}">
                <a16:creationId xmlns:a16="http://schemas.microsoft.com/office/drawing/2014/main" id="{8BF1B1FF-21FD-4C8D-B930-63E31BDB934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in Obsidian, then close the app.</a:t>
            </a:r>
          </a:p>
        </p:txBody>
      </p:sp>
      <p:sp>
        <p:nvSpPr>
          <p:cNvPr id="3" name="">
            <a:extLst xmlns:a="http://schemas.openxmlformats.org/drawingml/2006/main">
              <a:ext uri="{FF2B5EF4-FFF2-40B4-BE49-F238E27FC236}">
                <a16:creationId xmlns:a16="http://schemas.microsoft.com/office/drawing/2014/main" id="{BBFDE196-9162-44A8-A53C-95D03965706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Files, press Ctrl+H to show hidden files. Open the vault’s .obsidian folder.</a:t>
            </a:r>
          </a:p>
        </p:txBody>
      </p:sp>
      <p:sp>
        <p:nvSpPr>
          <p:cNvPr id="4" name="">
            <a:extLst xmlns:a="http://schemas.openxmlformats.org/drawingml/2006/main">
              <a:ext uri="{FF2B5EF4-FFF2-40B4-BE49-F238E27FC236}">
                <a16:creationId xmlns:a16="http://schemas.microsoft.com/office/drawing/2014/main" id="{55FA51A2-D991-45CA-B13F-EFE5AA7E44A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plugins if needed. Extract the installation ZIP.</a:t>
            </a:r>
          </a:p>
        </p:txBody>
      </p:sp>
      <p:sp>
        <p:nvSpPr>
          <p:cNvPr id="5" name="">
            <a:extLst xmlns:a="http://schemas.openxmlformats.org/drawingml/2006/main">
              <a:ext uri="{FF2B5EF4-FFF2-40B4-BE49-F238E27FC236}">
                <a16:creationId xmlns:a16="http://schemas.microsoft.com/office/drawing/2014/main" id="{47ECDFC4-DF97-4A02-971B-BA20AC56D7A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its rsn-habit-calendar-one-b folder into .obsidian/plugins/.</a:t>
            </a:r>
          </a:p>
        </p:txBody>
      </p:sp>
      <p:sp>
        <p:nvSpPr>
          <p:cNvPr id="6" name="">
            <a:extLst xmlns:a="http://schemas.openxmlformats.org/drawingml/2006/main">
              <a:ext uri="{FF2B5EF4-FFF2-40B4-BE49-F238E27FC236}">
                <a16:creationId xmlns:a16="http://schemas.microsoft.com/office/drawing/2014/main" id="{FF084F78-B6FD-4156-976E-BC485133271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3EEF7305-BA13-4BED-93C3-08B3BD28DDB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11</a:t>
            </a:r>
          </a:p>
        </p:txBody>
      </p:sp>
    </p:spTree>
    <p:extLst>
      <p:ext uri="{BB962C8B-B14F-4D97-AF65-F5344CB8AC3E}">
        <p14:creationId xmlns:p14="http://schemas.microsoft.com/office/powerpoint/2010/main" val="736176942"/>
      </p:ext>
    </p:extLst>
  </p:cSld>
</p:sld>
</file>

<file path=ppt/slides/slide1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51E964-E625-413F-9B72-F6B2DCC595F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first opening</a:t>
            </a:r>
          </a:p>
        </p:txBody>
      </p:sp>
      <p:sp>
        <p:nvSpPr>
          <p:cNvPr id="2" name="">
            <a:extLst xmlns:a="http://schemas.openxmlformats.org/drawingml/2006/main">
              <a:ext uri="{FF2B5EF4-FFF2-40B4-BE49-F238E27FC236}">
                <a16:creationId xmlns:a16="http://schemas.microsoft.com/office/drawing/2014/main" id="{F0019085-F0E3-4D11-AAD1-56341210BE0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correct vault in Obsidian.</a:t>
            </a:r>
          </a:p>
        </p:txBody>
      </p:sp>
      <p:sp>
        <p:nvSpPr>
          <p:cNvPr id="3" name="">
            <a:extLst xmlns:a="http://schemas.openxmlformats.org/drawingml/2006/main">
              <a:ext uri="{FF2B5EF4-FFF2-40B4-BE49-F238E27FC236}">
                <a16:creationId xmlns:a16="http://schemas.microsoft.com/office/drawing/2014/main" id="{00AE1274-3D37-4718-87EF-E40AAEFDD95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Open Settings, then Community plugins. Allow community plugins.</a:t>
            </a:r>
          </a:p>
        </p:txBody>
      </p:sp>
      <p:sp>
        <p:nvSpPr>
          <p:cNvPr id="4" name="">
            <a:extLst xmlns:a="http://schemas.openxmlformats.org/drawingml/2006/main">
              <a:ext uri="{FF2B5EF4-FFF2-40B4-BE49-F238E27FC236}">
                <a16:creationId xmlns:a16="http://schemas.microsoft.com/office/drawing/2014/main" id="{45833DA5-F538-4A11-B78D-5FBFFE7C1CC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rsn habit calendar one b and verify version 1.1.4.</a:t>
            </a:r>
          </a:p>
        </p:txBody>
      </p:sp>
      <p:sp>
        <p:nvSpPr>
          <p:cNvPr id="5" name="">
            <a:extLst xmlns:a="http://schemas.openxmlformats.org/drawingml/2006/main">
              <a:ext uri="{FF2B5EF4-FFF2-40B4-BE49-F238E27FC236}">
                <a16:creationId xmlns:a16="http://schemas.microsoft.com/office/drawing/2014/main" id="{74F6CBB6-9775-40AD-9C8D-3454D355029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Press Ctrl+P. Run rsn habit calendar one b: Open current month.</a:t>
            </a:r>
          </a:p>
        </p:txBody>
      </p:sp>
      <p:sp>
        <p:nvSpPr>
          <p:cNvPr id="6" name="">
            <a:extLst xmlns:a="http://schemas.openxmlformats.org/drawingml/2006/main">
              <a:ext uri="{FF2B5EF4-FFF2-40B4-BE49-F238E27FC236}">
                <a16:creationId xmlns:a16="http://schemas.microsoft.com/office/drawing/2014/main" id="{0CD60739-67B3-4680-A351-6393D8F622D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1AE7AC84-14EB-43F2-9917-55396AD5388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12</a:t>
            </a:r>
          </a:p>
        </p:txBody>
      </p:sp>
    </p:spTree>
    <p:extLst>
      <p:ext uri="{BB962C8B-B14F-4D97-AF65-F5344CB8AC3E}">
        <p14:creationId xmlns:p14="http://schemas.microsoft.com/office/powerpoint/2010/main" val="1582797616"/>
      </p:ext>
    </p:extLst>
  </p:cSld>
</p:sld>
</file>

<file path=ppt/slides/slide1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98C0B6-90DC-4FAE-8BD2-818A202B25B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plugin files</a:t>
            </a:r>
          </a:p>
        </p:txBody>
      </p:sp>
      <p:sp>
        <p:nvSpPr>
          <p:cNvPr id="2" name="">
            <a:extLst xmlns:a="http://schemas.openxmlformats.org/drawingml/2006/main">
              <a:ext uri="{FF2B5EF4-FFF2-40B4-BE49-F238E27FC236}">
                <a16:creationId xmlns:a16="http://schemas.microsoft.com/office/drawing/2014/main" id="{A9699BA8-574C-4B74-9365-94F3A94C6EE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quit Obsidian.</a:t>
            </a:r>
          </a:p>
        </p:txBody>
      </p:sp>
      <p:sp>
        <p:nvSpPr>
          <p:cNvPr id="3" name="">
            <a:extLst xmlns:a="http://schemas.openxmlformats.org/drawingml/2006/main">
              <a:ext uri="{FF2B5EF4-FFF2-40B4-BE49-F238E27FC236}">
                <a16:creationId xmlns:a16="http://schemas.microsoft.com/office/drawing/2014/main" id="{92A93A49-E9A0-447C-BE9D-FBE34CA144C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Finder, open the vault and press Command+Shift+period to reveal hidden files.</a:t>
            </a:r>
          </a:p>
        </p:txBody>
      </p:sp>
      <p:sp>
        <p:nvSpPr>
          <p:cNvPr id="4" name="">
            <a:extLst xmlns:a="http://schemas.openxmlformats.org/drawingml/2006/main">
              <a:ext uri="{FF2B5EF4-FFF2-40B4-BE49-F238E27FC236}">
                <a16:creationId xmlns:a16="http://schemas.microsoft.com/office/drawing/2014/main" id="{2232B9F3-5DA9-4A56-B971-6C5575F064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Extract the ZIP. Copy rsn-habit-calendar-one-b into .obsidian/plugins.</a:t>
            </a:r>
          </a:p>
        </p:txBody>
      </p:sp>
      <p:sp>
        <p:nvSpPr>
          <p:cNvPr id="5" name="">
            <a:extLst xmlns:a="http://schemas.openxmlformats.org/drawingml/2006/main">
              <a:ext uri="{FF2B5EF4-FFF2-40B4-BE49-F238E27FC236}">
                <a16:creationId xmlns:a16="http://schemas.microsoft.com/office/drawing/2014/main" id="{D0C83A28-9F72-4853-B32E-03E4C1AAED1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Keep main.js, manifest.json, styles.css and hex-color-list.md directly inside the plugin folder.</a:t>
            </a:r>
          </a:p>
        </p:txBody>
      </p:sp>
      <p:sp>
        <p:nvSpPr>
          <p:cNvPr id="6" name="">
            <a:extLst xmlns:a="http://schemas.openxmlformats.org/drawingml/2006/main">
              <a:ext uri="{FF2B5EF4-FFF2-40B4-BE49-F238E27FC236}">
                <a16:creationId xmlns:a16="http://schemas.microsoft.com/office/drawing/2014/main" id="{4059CEA3-153D-4D95-9807-89761ACA06B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916EAAD0-4758-464E-B6F3-CD9305C9A0D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13</a:t>
            </a:r>
          </a:p>
        </p:txBody>
      </p:sp>
    </p:spTree>
    <p:extLst>
      <p:ext uri="{BB962C8B-B14F-4D97-AF65-F5344CB8AC3E}">
        <p14:creationId xmlns:p14="http://schemas.microsoft.com/office/powerpoint/2010/main" val="1278278692"/>
      </p:ext>
    </p:extLst>
  </p:cSld>
</p:sld>
</file>

<file path=ppt/slides/slide1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538F11-CF83-40FB-A679-824379FF05C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first opening</a:t>
            </a:r>
          </a:p>
        </p:txBody>
      </p:sp>
      <p:sp>
        <p:nvSpPr>
          <p:cNvPr id="2" name="">
            <a:extLst xmlns:a="http://schemas.openxmlformats.org/drawingml/2006/main">
              <a:ext uri="{FF2B5EF4-FFF2-40B4-BE49-F238E27FC236}">
                <a16:creationId xmlns:a16="http://schemas.microsoft.com/office/drawing/2014/main" id="{EC55CD4F-559D-4931-BF0C-B80EDF660806}"/>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same vault. Enable rsn habit calendar one b under Community plugins.</a:t>
            </a:r>
          </a:p>
        </p:txBody>
      </p:sp>
      <p:sp>
        <p:nvSpPr>
          <p:cNvPr id="3" name="">
            <a:extLst xmlns:a="http://schemas.openxmlformats.org/drawingml/2006/main">
              <a:ext uri="{FF2B5EF4-FFF2-40B4-BE49-F238E27FC236}">
                <a16:creationId xmlns:a16="http://schemas.microsoft.com/office/drawing/2014/main" id="{E1058CFC-79E3-40F0-8184-F1DE9A0E51C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Confirm version 1.1.4. Press Command+P to open the command palette.</a:t>
            </a:r>
          </a:p>
        </p:txBody>
      </p:sp>
      <p:sp>
        <p:nvSpPr>
          <p:cNvPr id="4" name="">
            <a:extLst xmlns:a="http://schemas.openxmlformats.org/drawingml/2006/main">
              <a:ext uri="{FF2B5EF4-FFF2-40B4-BE49-F238E27FC236}">
                <a16:creationId xmlns:a16="http://schemas.microsoft.com/office/drawing/2014/main" id="{343FB0EE-5E7C-449B-A434-305AD587987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Run rsn habit calendar one b: Open current month.</a:t>
            </a:r>
          </a:p>
        </p:txBody>
      </p:sp>
      <p:sp>
        <p:nvSpPr>
          <p:cNvPr id="5" name="">
            <a:extLst xmlns:a="http://schemas.openxmlformats.org/drawingml/2006/main">
              <a:ext uri="{FF2B5EF4-FFF2-40B4-BE49-F238E27FC236}">
                <a16:creationId xmlns:a16="http://schemas.microsoft.com/office/drawing/2014/main" id="{D5345230-8B69-4391-B306-4A9E61F12115}"/>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Test marking, restart and a narrow split pane before using personal data.</a:t>
            </a:r>
          </a:p>
        </p:txBody>
      </p:sp>
      <p:sp>
        <p:nvSpPr>
          <p:cNvPr id="6" name="">
            <a:extLst xmlns:a="http://schemas.openxmlformats.org/drawingml/2006/main">
              <a:ext uri="{FF2B5EF4-FFF2-40B4-BE49-F238E27FC236}">
                <a16:creationId xmlns:a16="http://schemas.microsoft.com/office/drawing/2014/main" id="{07E672DF-2135-40E2-8B9D-AE6D30F48DC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7F1C6112-873C-4D2D-9D25-201448F2046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14</a:t>
            </a:r>
          </a:p>
        </p:txBody>
      </p:sp>
    </p:spTree>
    <p:extLst>
      <p:ext uri="{BB962C8B-B14F-4D97-AF65-F5344CB8AC3E}">
        <p14:creationId xmlns:p14="http://schemas.microsoft.com/office/powerpoint/2010/main" val="960552169"/>
      </p:ext>
    </p:extLst>
  </p:cSld>
</p:sld>
</file>

<file path=ppt/slides/slide1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5273891-9129-41F2-83DD-104AB8EF508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vault location</a:t>
            </a:r>
          </a:p>
        </p:txBody>
      </p:sp>
      <p:sp>
        <p:nvSpPr>
          <p:cNvPr id="2" name="">
            <a:extLst xmlns:a="http://schemas.openxmlformats.org/drawingml/2006/main">
              <a:ext uri="{FF2B5EF4-FFF2-40B4-BE49-F238E27FC236}">
                <a16:creationId xmlns:a16="http://schemas.microsoft.com/office/drawing/2014/main" id="{23992636-A6FA-414A-B731-80B0B099D71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create or open rsn-test-vault.</a:t>
            </a:r>
          </a:p>
        </p:txBody>
      </p:sp>
      <p:sp>
        <p:nvSpPr>
          <p:cNvPr id="3" name="">
            <a:extLst xmlns:a="http://schemas.openxmlformats.org/drawingml/2006/main">
              <a:ext uri="{FF2B5EF4-FFF2-40B4-BE49-F238E27FC236}">
                <a16:creationId xmlns:a16="http://schemas.microsoft.com/office/drawing/2014/main" id="{A93F0109-216E-4E41-A2D9-BD5405D2192E}"/>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For manual file copying, choose device storage and note the real folder location.</a:t>
            </a:r>
          </a:p>
        </p:txBody>
      </p:sp>
      <p:sp>
        <p:nvSpPr>
          <p:cNvPr id="4" name="">
            <a:extLst xmlns:a="http://schemas.openxmlformats.org/drawingml/2006/main">
              <a:ext uri="{FF2B5EF4-FFF2-40B4-BE49-F238E27FC236}">
                <a16:creationId xmlns:a16="http://schemas.microsoft.com/office/drawing/2014/main" id="{B35AE66D-1E40-44BC-B33A-A7C344661E4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Open the vault once. Force-stop Obsidian using Android Settings.</a:t>
            </a:r>
          </a:p>
        </p:txBody>
      </p:sp>
      <p:sp>
        <p:nvSpPr>
          <p:cNvPr id="5" name="">
            <a:extLst xmlns:a="http://schemas.openxmlformats.org/drawingml/2006/main">
              <a:ext uri="{FF2B5EF4-FFF2-40B4-BE49-F238E27FC236}">
                <a16:creationId xmlns:a16="http://schemas.microsoft.com/office/drawing/2014/main" id="{0008389E-CF5E-4B88-9E2D-46F8C2C1081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Transfer verified files from Ubuntu, or download the same release on the phone.</a:t>
            </a:r>
          </a:p>
        </p:txBody>
      </p:sp>
      <p:sp>
        <p:nvSpPr>
          <p:cNvPr id="6" name="">
            <a:extLst xmlns:a="http://schemas.openxmlformats.org/drawingml/2006/main">
              <a:ext uri="{FF2B5EF4-FFF2-40B4-BE49-F238E27FC236}">
                <a16:creationId xmlns:a16="http://schemas.microsoft.com/office/drawing/2014/main" id="{FDBEAA13-127F-4FE0-85B0-8A11708CED7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574A62E6-74AD-41AC-9704-FF52F89948D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15</a:t>
            </a:r>
          </a:p>
        </p:txBody>
      </p:sp>
    </p:spTree>
    <p:extLst>
      <p:ext uri="{BB962C8B-B14F-4D97-AF65-F5344CB8AC3E}">
        <p14:creationId xmlns:p14="http://schemas.microsoft.com/office/powerpoint/2010/main" val="2108830735"/>
      </p:ext>
    </p:extLst>
  </p:cSld>
</p:sld>
</file>

<file path=ppt/slides/slide1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BE388D-14BC-41B2-9EBE-5A3E18EA8DBE}"/>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plugin files</a:t>
            </a:r>
          </a:p>
        </p:txBody>
      </p:sp>
      <p:sp>
        <p:nvSpPr>
          <p:cNvPr id="2" name="">
            <a:extLst xmlns:a="http://schemas.openxmlformats.org/drawingml/2006/main">
              <a:ext uri="{FF2B5EF4-FFF2-40B4-BE49-F238E27FC236}">
                <a16:creationId xmlns:a16="http://schemas.microsoft.com/office/drawing/2014/main" id="{A6FBFDE2-22F7-4F1D-A467-3960F32A09D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Enable Show hidden files in your file manager.</a:t>
            </a:r>
          </a:p>
        </p:txBody>
      </p:sp>
      <p:sp>
        <p:nvSpPr>
          <p:cNvPr id="3" name="">
            <a:extLst xmlns:a="http://schemas.openxmlformats.org/drawingml/2006/main">
              <a:ext uri="{FF2B5EF4-FFF2-40B4-BE49-F238E27FC236}">
                <a16:creationId xmlns:a16="http://schemas.microsoft.com/office/drawing/2014/main" id="{F008F0FC-CAF7-47E7-99F5-2089ED14B18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Inside the vault, create .obsidian/plugins/rsn-habit-calendar-one-b/.</a:t>
            </a:r>
          </a:p>
        </p:txBody>
      </p:sp>
      <p:sp>
        <p:nvSpPr>
          <p:cNvPr id="4" name="">
            <a:extLst xmlns:a="http://schemas.openxmlformats.org/drawingml/2006/main">
              <a:ext uri="{FF2B5EF4-FFF2-40B4-BE49-F238E27FC236}">
                <a16:creationId xmlns:a16="http://schemas.microsoft.com/office/drawing/2014/main" id="{4B4605F3-93FB-4C69-BBB3-531D6CAC470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Copy main.js, manifest.json, styles.css and hex-color-list.md directly into it.</a:t>
            </a:r>
          </a:p>
        </p:txBody>
      </p:sp>
      <p:sp>
        <p:nvSpPr>
          <p:cNvPr id="5" name="">
            <a:extLst xmlns:a="http://schemas.openxmlformats.org/drawingml/2006/main">
              <a:ext uri="{FF2B5EF4-FFF2-40B4-BE49-F238E27FC236}">
                <a16:creationId xmlns:a16="http://schemas.microsoft.com/office/drawing/2014/main" id="{5ED7A5D1-4CFD-463E-977B-7001F9BFD67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Reopen Obsidian, enable community plugins and enable rsn habit calendar one b.</a:t>
            </a:r>
          </a:p>
        </p:txBody>
      </p:sp>
      <p:sp>
        <p:nvSpPr>
          <p:cNvPr id="6" name="">
            <a:extLst xmlns:a="http://schemas.openxmlformats.org/drawingml/2006/main">
              <a:ext uri="{FF2B5EF4-FFF2-40B4-BE49-F238E27FC236}">
                <a16:creationId xmlns:a16="http://schemas.microsoft.com/office/drawing/2014/main" id="{FC5AF531-FF7E-45DB-BE16-98AEF8B3939F}"/>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C51E06EB-D76E-4CD3-ACAC-C51B9E92BD5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16</a:t>
            </a:r>
          </a:p>
        </p:txBody>
      </p:sp>
    </p:spTree>
    <p:extLst>
      <p:ext uri="{BB962C8B-B14F-4D97-AF65-F5344CB8AC3E}">
        <p14:creationId xmlns:p14="http://schemas.microsoft.com/office/powerpoint/2010/main" val="1835774108"/>
      </p:ext>
    </p:extLst>
  </p:cSld>
</p:sld>
</file>

<file path=ppt/slides/slide1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231E953-F531-4F2B-9ABB-0E2CB3FF47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first opening</a:t>
            </a:r>
          </a:p>
        </p:txBody>
      </p:sp>
      <p:sp>
        <p:nvSpPr>
          <p:cNvPr id="2" name="">
            <a:extLst xmlns:a="http://schemas.openxmlformats.org/drawingml/2006/main">
              <a:ext uri="{FF2B5EF4-FFF2-40B4-BE49-F238E27FC236}">
                <a16:creationId xmlns:a16="http://schemas.microsoft.com/office/drawing/2014/main" id="{1FD9EA94-A0FA-493E-9CE4-6DE966F87A5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the command palette from the mobile ribbon or menu.</a:t>
            </a:r>
          </a:p>
        </p:txBody>
      </p:sp>
      <p:sp>
        <p:nvSpPr>
          <p:cNvPr id="3" name="">
            <a:extLst xmlns:a="http://schemas.openxmlformats.org/drawingml/2006/main">
              <a:ext uri="{FF2B5EF4-FFF2-40B4-BE49-F238E27FC236}">
                <a16:creationId xmlns:a16="http://schemas.microsoft.com/office/drawing/2014/main" id="{0EBDE102-AF8A-4BB0-BA69-37CA50D22FA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rsn habit calendar one b: Open current month.</a:t>
            </a:r>
          </a:p>
        </p:txBody>
      </p:sp>
      <p:sp>
        <p:nvSpPr>
          <p:cNvPr id="4" name="">
            <a:extLst xmlns:a="http://schemas.openxmlformats.org/drawingml/2006/main">
              <a:ext uri="{FF2B5EF4-FFF2-40B4-BE49-F238E27FC236}">
                <a16:creationId xmlns:a16="http://schemas.microsoft.com/office/drawing/2014/main" id="{D77C7487-13F7-4D53-8304-178F76AC79D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Expect a title such as 2026-10 October 2026.</a:t>
            </a:r>
          </a:p>
        </p:txBody>
      </p:sp>
      <p:sp>
        <p:nvSpPr>
          <p:cNvPr id="5" name="">
            <a:extLst xmlns:a="http://schemas.openxmlformats.org/drawingml/2006/main">
              <a:ext uri="{FF2B5EF4-FFF2-40B4-BE49-F238E27FC236}">
                <a16:creationId xmlns:a16="http://schemas.microsoft.com/office/drawing/2014/main" id="{DBE43BC6-2F2B-4EAF-BD79-4729613D51D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monthly Markdown note renders its calendar in Reading view; Source mode shows code.</a:t>
            </a:r>
          </a:p>
        </p:txBody>
      </p:sp>
      <p:sp>
        <p:nvSpPr>
          <p:cNvPr id="6" name="">
            <a:extLst xmlns:a="http://schemas.openxmlformats.org/drawingml/2006/main">
              <a:ext uri="{FF2B5EF4-FFF2-40B4-BE49-F238E27FC236}">
                <a16:creationId xmlns:a16="http://schemas.microsoft.com/office/drawing/2014/main" id="{221CC4BC-FDDD-4BF9-9817-CFC03B4E76C3}"/>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13C65B99-80A9-43D2-B896-27A2D1B63C1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17</a:t>
            </a:r>
          </a:p>
        </p:txBody>
      </p:sp>
    </p:spTree>
    <p:extLst>
      <p:ext uri="{BB962C8B-B14F-4D97-AF65-F5344CB8AC3E}">
        <p14:creationId xmlns:p14="http://schemas.microsoft.com/office/powerpoint/2010/main" val="2083362008"/>
      </p:ext>
    </p:extLst>
  </p:cSld>
</p:sld>
</file>

<file path=ppt/slides/slide1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449F3B6-B6BD-4E0F-9F2B-D33119AF635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preparation</a:t>
            </a:r>
          </a:p>
        </p:txBody>
      </p:sp>
      <p:sp>
        <p:nvSpPr>
          <p:cNvPr id="2" name="">
            <a:extLst xmlns:a="http://schemas.openxmlformats.org/drawingml/2006/main">
              <a:ext uri="{FF2B5EF4-FFF2-40B4-BE49-F238E27FC236}">
                <a16:creationId xmlns:a16="http://schemas.microsoft.com/office/drawing/2014/main" id="{7295E308-3B1B-4E5F-B497-73642819CF2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1.1.4 in the desktop rsn-test-vault and confirm it works.</a:t>
            </a:r>
          </a:p>
        </p:txBody>
      </p:sp>
      <p:sp>
        <p:nvSpPr>
          <p:cNvPr id="3" name="">
            <a:extLst xmlns:a="http://schemas.openxmlformats.org/drawingml/2006/main">
              <a:ext uri="{FF2B5EF4-FFF2-40B4-BE49-F238E27FC236}">
                <a16:creationId xmlns:a16="http://schemas.microsoft.com/office/drawing/2014/main" id="{BCA953AD-C82B-49A4-BF2B-758BEA1142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Connect that local vault to an Obsidian Sync remote vault.</a:t>
            </a:r>
          </a:p>
        </p:txBody>
      </p:sp>
      <p:sp>
        <p:nvSpPr>
          <p:cNvPr id="4" name="">
            <a:extLst xmlns:a="http://schemas.openxmlformats.org/drawingml/2006/main">
              <a:ext uri="{FF2B5EF4-FFF2-40B4-BE49-F238E27FC236}">
                <a16:creationId xmlns:a16="http://schemas.microsoft.com/office/drawing/2014/main" id="{59298707-C38D-45AC-98F1-A013D4849B4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installed and active community plugin sync, plus plugin settings if wanted.</a:t>
            </a:r>
          </a:p>
        </p:txBody>
      </p:sp>
      <p:sp>
        <p:nvSpPr>
          <p:cNvPr id="5" name="">
            <a:extLst xmlns:a="http://schemas.openxmlformats.org/drawingml/2006/main">
              <a:ext uri="{FF2B5EF4-FFF2-40B4-BE49-F238E27FC236}">
                <a16:creationId xmlns:a16="http://schemas.microsoft.com/office/drawing/2014/main" id="{C5A392A1-C6C3-4491-85A2-4F692E4C02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Wait for upload completion. Keep this vault outside iCloud Drive.</a:t>
            </a:r>
          </a:p>
        </p:txBody>
      </p:sp>
      <p:sp>
        <p:nvSpPr>
          <p:cNvPr id="6" name="">
            <a:extLst xmlns:a="http://schemas.openxmlformats.org/drawingml/2006/main">
              <a:ext uri="{FF2B5EF4-FFF2-40B4-BE49-F238E27FC236}">
                <a16:creationId xmlns:a16="http://schemas.microsoft.com/office/drawing/2014/main" id="{FE4B625E-4CCE-43F8-B160-4489D26172C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31452A2E-AA1C-4249-85B0-CE031B50028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18</a:t>
            </a:r>
          </a:p>
        </p:txBody>
      </p:sp>
    </p:spTree>
    <p:extLst>
      <p:ext uri="{BB962C8B-B14F-4D97-AF65-F5344CB8AC3E}">
        <p14:creationId xmlns:p14="http://schemas.microsoft.com/office/powerpoint/2010/main" val="80303331"/>
      </p:ext>
    </p:extLst>
  </p:cSld>
</p:sld>
</file>

<file path=ppt/slides/slide1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25D35A-9E59-48EC-9D27-8150128596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opening</a:t>
            </a:r>
          </a:p>
        </p:txBody>
      </p:sp>
      <p:sp>
        <p:nvSpPr>
          <p:cNvPr id="2" name="">
            <a:extLst xmlns:a="http://schemas.openxmlformats.org/drawingml/2006/main">
              <a:ext uri="{FF2B5EF4-FFF2-40B4-BE49-F238E27FC236}">
                <a16:creationId xmlns:a16="http://schemas.microsoft.com/office/drawing/2014/main" id="{0BD1A214-B645-4CA2-8F19-D567EEB17C9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sign in. Choose the same remote Sync vault.</a:t>
            </a:r>
          </a:p>
        </p:txBody>
      </p:sp>
      <p:sp>
        <p:nvSpPr>
          <p:cNvPr id="3" name="">
            <a:extLst xmlns:a="http://schemas.openxmlformats.org/drawingml/2006/main">
              <a:ext uri="{FF2B5EF4-FFF2-40B4-BE49-F238E27FC236}">
                <a16:creationId xmlns:a16="http://schemas.microsoft.com/office/drawing/2014/main" id="{FD43C55F-F6C4-4EC7-B4B7-467FA621BCA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Enable the matching plugin sync options on this device. Allow community plugins.</a:t>
            </a:r>
          </a:p>
        </p:txBody>
      </p:sp>
      <p:sp>
        <p:nvSpPr>
          <p:cNvPr id="4" name="">
            <a:extLst xmlns:a="http://schemas.openxmlformats.org/drawingml/2006/main">
              <a:ext uri="{FF2B5EF4-FFF2-40B4-BE49-F238E27FC236}">
                <a16:creationId xmlns:a16="http://schemas.microsoft.com/office/drawing/2014/main" id="{033FCFD4-BE77-4B1C-ADF7-EAF93584D33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files to arrive, restart Obsidian, and enable rsn habit calendar one b.</a:t>
            </a:r>
          </a:p>
        </p:txBody>
      </p:sp>
      <p:sp>
        <p:nvSpPr>
          <p:cNvPr id="5" name="">
            <a:extLst xmlns:a="http://schemas.openxmlformats.org/drawingml/2006/main">
              <a:ext uri="{FF2B5EF4-FFF2-40B4-BE49-F238E27FC236}">
                <a16:creationId xmlns:a16="http://schemas.microsoft.com/office/drawing/2014/main" id="{7B83EEDE-4B91-48B3-8DC5-3ACC547A781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1.1.4 and run Open current month. Expect one calendar per row, even on iPad.</a:t>
            </a:r>
          </a:p>
        </p:txBody>
      </p:sp>
      <p:sp>
        <p:nvSpPr>
          <p:cNvPr id="6" name="">
            <a:extLst xmlns:a="http://schemas.openxmlformats.org/drawingml/2006/main">
              <a:ext uri="{FF2B5EF4-FFF2-40B4-BE49-F238E27FC236}">
                <a16:creationId xmlns:a16="http://schemas.microsoft.com/office/drawing/2014/main" id="{A9E8EAB0-88F8-488A-89EC-A7993A4E57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07B51D5E-ABAA-479E-9828-9FE601B7318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19</a:t>
            </a:r>
          </a:p>
        </p:txBody>
      </p:sp>
    </p:spTree>
    <p:extLst>
      <p:ext uri="{BB962C8B-B14F-4D97-AF65-F5344CB8AC3E}">
        <p14:creationId xmlns:p14="http://schemas.microsoft.com/office/powerpoint/2010/main" val="1132382461"/>
      </p:ext>
    </p:extLst>
  </p:cSld>
</p:sld>
</file>

<file path=ppt/slides/slide2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2EA105-2E0C-4323-AD4E-9D52A5F4004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iCloud setup</a:t>
            </a:r>
          </a:p>
        </p:txBody>
      </p:sp>
      <p:sp>
        <p:nvSpPr>
          <p:cNvPr id="2" name="">
            <a:extLst xmlns:a="http://schemas.openxmlformats.org/drawingml/2006/main">
              <a:ext uri="{FF2B5EF4-FFF2-40B4-BE49-F238E27FC236}">
                <a16:creationId xmlns:a16="http://schemas.microsoft.com/office/drawing/2014/main" id="{FEA9BCA9-BF59-4E64-AF62-BB9CEC10F01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iPhone or iPad, create rsn-test-vault in Obsidian with Store in iCloud enabled.</a:t>
            </a:r>
          </a:p>
        </p:txBody>
      </p:sp>
      <p:sp>
        <p:nvSpPr>
          <p:cNvPr id="3" name="">
            <a:extLst xmlns:a="http://schemas.openxmlformats.org/drawingml/2006/main">
              <a:ext uri="{FF2B5EF4-FFF2-40B4-BE49-F238E27FC236}">
                <a16:creationId xmlns:a16="http://schemas.microsoft.com/office/drawing/2014/main" id="{4A9A6041-CFEB-47AA-A785-5D9FD5FAAE9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On a Mac with the same Apple Account, locate iCloud Drive/Obsidian/rsn-test-vault.</a:t>
            </a:r>
          </a:p>
        </p:txBody>
      </p:sp>
      <p:sp>
        <p:nvSpPr>
          <p:cNvPr id="4" name="">
            <a:extLst xmlns:a="http://schemas.openxmlformats.org/drawingml/2006/main">
              <a:ext uri="{FF2B5EF4-FFF2-40B4-BE49-F238E27FC236}">
                <a16:creationId xmlns:a16="http://schemas.microsoft.com/office/drawing/2014/main" id="{54109B3D-0CC2-4C13-9937-EBBBBFA9141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Keep that folder downloaded and open it as a vault in Obsidian on the Mac.</a:t>
            </a:r>
          </a:p>
        </p:txBody>
      </p:sp>
      <p:sp>
        <p:nvSpPr>
          <p:cNvPr id="5" name="">
            <a:extLst xmlns:a="http://schemas.openxmlformats.org/drawingml/2006/main">
              <a:ext uri="{FF2B5EF4-FFF2-40B4-BE49-F238E27FC236}">
                <a16:creationId xmlns:a16="http://schemas.microsoft.com/office/drawing/2014/main" id="{0EA096FA-0308-4C43-AC86-DBD323D0255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Close Obsidian before copying plugin files into this vault.</a:t>
            </a:r>
          </a:p>
        </p:txBody>
      </p:sp>
      <p:sp>
        <p:nvSpPr>
          <p:cNvPr id="6" name="">
            <a:extLst xmlns:a="http://schemas.openxmlformats.org/drawingml/2006/main">
              <a:ext uri="{FF2B5EF4-FFF2-40B4-BE49-F238E27FC236}">
                <a16:creationId xmlns:a16="http://schemas.microsoft.com/office/drawing/2014/main" id="{54EEC1D5-97F9-4D39-8BC3-F699C52F563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C2D94A7F-2D10-4D92-92A5-E0DD96DFD90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20</a:t>
            </a:r>
          </a:p>
        </p:txBody>
      </p:sp>
    </p:spTree>
    <p:extLst>
      <p:ext uri="{BB962C8B-B14F-4D97-AF65-F5344CB8AC3E}">
        <p14:creationId xmlns:p14="http://schemas.microsoft.com/office/powerpoint/2010/main" val="1152377605"/>
      </p:ext>
    </p:extLst>
  </p:cSld>
</p:sld>
</file>

<file path=ppt/slides/slide2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99C7DE-F302-4A13-AE9C-E48E1B874F1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manual plugin copy</a:t>
            </a:r>
          </a:p>
        </p:txBody>
      </p:sp>
      <p:sp>
        <p:nvSpPr>
          <p:cNvPr id="2" name="">
            <a:extLst xmlns:a="http://schemas.openxmlformats.org/drawingml/2006/main">
              <a:ext uri="{FF2B5EF4-FFF2-40B4-BE49-F238E27FC236}">
                <a16:creationId xmlns:a16="http://schemas.microsoft.com/office/drawing/2014/main" id="{6EAAF19D-FA58-4293-952C-D1EE115790ED}"/>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the Mac, reveal hidden files with Command+Shift+period.</a:t>
            </a:r>
          </a:p>
        </p:txBody>
      </p:sp>
      <p:sp>
        <p:nvSpPr>
          <p:cNvPr id="3" name="">
            <a:extLst xmlns:a="http://schemas.openxmlformats.org/drawingml/2006/main">
              <a:ext uri="{FF2B5EF4-FFF2-40B4-BE49-F238E27FC236}">
                <a16:creationId xmlns:a16="http://schemas.microsoft.com/office/drawing/2014/main" id="{49579A54-7C5D-4F8F-A3B5-352F3C3B045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Copy the verified plugin folder into the iCloud vault’s .obsidian/plugins folder.</a:t>
            </a:r>
          </a:p>
        </p:txBody>
      </p:sp>
      <p:sp>
        <p:nvSpPr>
          <p:cNvPr id="4" name="">
            <a:extLst xmlns:a="http://schemas.openxmlformats.org/drawingml/2006/main">
              <a:ext uri="{FF2B5EF4-FFF2-40B4-BE49-F238E27FC236}">
                <a16:creationId xmlns:a16="http://schemas.microsoft.com/office/drawing/2014/main" id="{228D2461-ED77-411F-9D21-0E66C19E7627}"/>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iCloud transfer. Reopen Obsidian on each Apple device and enable the plugin.</a:t>
            </a:r>
          </a:p>
        </p:txBody>
      </p:sp>
      <p:sp>
        <p:nvSpPr>
          <p:cNvPr id="5" name="">
            <a:extLst xmlns:a="http://schemas.openxmlformats.org/drawingml/2006/main">
              <a:ext uri="{FF2B5EF4-FFF2-40B4-BE49-F238E27FC236}">
                <a16:creationId xmlns:a16="http://schemas.microsoft.com/office/drawing/2014/main" id="{1AAB3266-6D7E-4373-9970-786ADEC47A2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1.1.4 and test persistence. A normal iOS Files app cannot reliably expose .obsidian.</a:t>
            </a:r>
          </a:p>
        </p:txBody>
      </p:sp>
      <p:sp>
        <p:nvSpPr>
          <p:cNvPr id="6" name="">
            <a:extLst xmlns:a="http://schemas.openxmlformats.org/drawingml/2006/main">
              <a:ext uri="{FF2B5EF4-FFF2-40B4-BE49-F238E27FC236}">
                <a16:creationId xmlns:a16="http://schemas.microsoft.com/office/drawing/2014/main" id="{8E1E699D-ABA7-4A69-B14F-B6626CE469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89982A05-79C2-4948-A215-E749FDA4024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21</a:t>
            </a:r>
          </a:p>
        </p:txBody>
      </p:sp>
    </p:spTree>
    <p:extLst>
      <p:ext uri="{BB962C8B-B14F-4D97-AF65-F5344CB8AC3E}">
        <p14:creationId xmlns:p14="http://schemas.microsoft.com/office/powerpoint/2010/main" val="197244440"/>
      </p:ext>
    </p:extLst>
  </p:cSld>
</p:sld>
</file>

<file path=ppt/slides/slide2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40ED357-1DDD-4908-B276-3531C4F23CD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three-column habit list</a:t>
            </a:r>
          </a:p>
        </p:txBody>
      </p:sp>
      <p:sp>
        <p:nvSpPr>
          <p:cNvPr id="2" name="">
            <a:extLst xmlns:a="http://schemas.openxmlformats.org/drawingml/2006/main">
              <a:ext uri="{FF2B5EF4-FFF2-40B4-BE49-F238E27FC236}">
                <a16:creationId xmlns:a16="http://schemas.microsoft.com/office/drawing/2014/main" id="{27A52794-6F03-4672-9132-52531D1CE73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Habit list to open Habit Tracker/habit-tracker-list.md.</a:t>
            </a:r>
          </a:p>
        </p:txBody>
      </p:sp>
      <p:sp>
        <p:nvSpPr>
          <p:cNvPr id="3" name="">
            <a:extLst xmlns:a="http://schemas.openxmlformats.org/drawingml/2006/main">
              <a:ext uri="{FF2B5EF4-FFF2-40B4-BE49-F238E27FC236}">
                <a16:creationId xmlns:a16="http://schemas.microsoft.com/office/drawing/2014/main" id="{9C9AC20C-D9C5-42E8-B019-522693DE217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Walking with Y and #90EE90. Add Reading with Y and #ADD8E6.</a:t>
            </a:r>
          </a:p>
        </p:txBody>
      </p:sp>
      <p:sp>
        <p:nvSpPr>
          <p:cNvPr id="4" name="">
            <a:extLst xmlns:a="http://schemas.openxmlformats.org/drawingml/2006/main">
              <a:ext uri="{FF2B5EF4-FFF2-40B4-BE49-F238E27FC236}">
                <a16:creationId xmlns:a16="http://schemas.microsoft.com/office/drawing/2014/main" id="{E288B4F9-5146-46DF-B0AE-0DA69EF13239}"/>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Yoga with N and #FFDAB9, then save.</a:t>
            </a:r>
          </a:p>
        </p:txBody>
      </p:sp>
      <p:sp>
        <p:nvSpPr>
          <p:cNvPr id="5" name="">
            <a:extLst xmlns:a="http://schemas.openxmlformats.org/drawingml/2006/main">
              <a:ext uri="{FF2B5EF4-FFF2-40B4-BE49-F238E27FC236}">
                <a16:creationId xmlns:a16="http://schemas.microsoft.com/office/drawing/2014/main" id="{7F1EE60D-6C32-4E8D-AAA0-358577CF9F2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 includes a calendar when applied. N excludes it. Keep automatic habit-ID comments.</a:t>
            </a:r>
          </a:p>
        </p:txBody>
      </p:sp>
      <p:sp>
        <p:nvSpPr>
          <p:cNvPr id="6" name="">
            <a:extLst xmlns:a="http://schemas.openxmlformats.org/drawingml/2006/main">
              <a:ext uri="{FF2B5EF4-FFF2-40B4-BE49-F238E27FC236}">
                <a16:creationId xmlns:a16="http://schemas.microsoft.com/office/drawing/2014/main" id="{3A81F1D3-80C5-4997-BCB6-4E044C6E324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85679262-2431-4834-818C-9F57BDBAABE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22</a:t>
            </a:r>
          </a:p>
        </p:txBody>
      </p:sp>
    </p:spTree>
    <p:extLst>
      <p:ext uri="{BB962C8B-B14F-4D97-AF65-F5344CB8AC3E}">
        <p14:creationId xmlns:p14="http://schemas.microsoft.com/office/powerpoint/2010/main" val="80150058"/>
      </p:ext>
    </p:extLst>
  </p:cSld>
</p:sld>
</file>

<file path=ppt/slides/slide2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7C5C2B-8EB8-4E89-AF2B-F3FF715EC22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replacement warning</a:t>
            </a:r>
          </a:p>
        </p:txBody>
      </p:sp>
      <p:sp>
        <p:nvSpPr>
          <p:cNvPr id="2" name="">
            <a:extLst xmlns:a="http://schemas.openxmlformats.org/drawingml/2006/main">
              <a:ext uri="{FF2B5EF4-FFF2-40B4-BE49-F238E27FC236}">
                <a16:creationId xmlns:a16="http://schemas.microsoft.com/office/drawing/2014/main" id="{E79B531F-D1B2-4DF3-9311-1E4DD11210A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warning appears after a meaningful habit-list change.</a:t>
            </a:r>
          </a:p>
        </p:txBody>
      </p:sp>
      <p:sp>
        <p:nvSpPr>
          <p:cNvPr id="3" name="">
            <a:extLst xmlns:a="http://schemas.openxmlformats.org/drawingml/2006/main">
              <a:ext uri="{FF2B5EF4-FFF2-40B4-BE49-F238E27FC236}">
                <a16:creationId xmlns:a16="http://schemas.microsoft.com/office/drawing/2014/main" id="{1E46310C-9DF3-4F19-9BC2-11AC6FB78BB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Yes clears every current-month mark and applies the new list.</a:t>
            </a:r>
          </a:p>
        </p:txBody>
      </p:sp>
      <p:sp>
        <p:nvSpPr>
          <p:cNvPr id="4" name="">
            <a:extLst xmlns:a="http://schemas.openxmlformats.org/drawingml/2006/main">
              <a:ext uri="{FF2B5EF4-FFF2-40B4-BE49-F238E27FC236}">
                <a16:creationId xmlns:a16="http://schemas.microsoft.com/office/drawing/2014/main" id="{00703BAA-7E27-4532-9EDE-63F8CD5C203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 preserves displayed calendars and marks. Your edited list remains saved.</a:t>
            </a:r>
          </a:p>
        </p:txBody>
      </p:sp>
      <p:sp>
        <p:nvSpPr>
          <p:cNvPr id="5" name="">
            <a:extLst xmlns:a="http://schemas.openxmlformats.org/drawingml/2006/main">
              <a:ext uri="{FF2B5EF4-FFF2-40B4-BE49-F238E27FC236}">
                <a16:creationId xmlns:a16="http://schemas.microsoft.com/office/drawing/2014/main" id="{AB638F9E-5CAA-4D41-BCA4-BE66B9B4EB8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Apply habit list to reconsider a change previously declined.</a:t>
            </a:r>
          </a:p>
        </p:txBody>
      </p:sp>
      <p:sp>
        <p:nvSpPr>
          <p:cNvPr id="6" name="">
            <a:extLst xmlns:a="http://schemas.openxmlformats.org/drawingml/2006/main">
              <a:ext uri="{FF2B5EF4-FFF2-40B4-BE49-F238E27FC236}">
                <a16:creationId xmlns:a16="http://schemas.microsoft.com/office/drawing/2014/main" id="{01A93F06-79DA-4E04-AB50-F0D49424626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42962C69-AA78-4641-AF32-6BF58DEC894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23</a:t>
            </a:r>
          </a:p>
        </p:txBody>
      </p:sp>
    </p:spTree>
    <p:extLst>
      <p:ext uri="{BB962C8B-B14F-4D97-AF65-F5344CB8AC3E}">
        <p14:creationId xmlns:p14="http://schemas.microsoft.com/office/powerpoint/2010/main" val="1867211310"/>
      </p:ext>
    </p:extLst>
  </p:cSld>
</p:sld>
</file>

<file path=ppt/slides/slide2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0017B6-68B9-40FA-A848-A12F8A9E7B6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Daily marking exercise</a:t>
            </a:r>
          </a:p>
        </p:txBody>
      </p:sp>
      <p:sp>
        <p:nvSpPr>
          <p:cNvPr id="2" name="">
            <a:extLst xmlns:a="http://schemas.openxmlformats.org/drawingml/2006/main">
              <a:ext uri="{FF2B5EF4-FFF2-40B4-BE49-F238E27FC236}">
                <a16:creationId xmlns:a16="http://schemas.microsoft.com/office/drawing/2014/main" id="{2271BF7E-7857-4DC3-9E5E-27CDCD9FA79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today in Walking once: green means activity completed.</a:t>
            </a:r>
          </a:p>
        </p:txBody>
      </p:sp>
      <p:sp>
        <p:nvSpPr>
          <p:cNvPr id="3" name="">
            <a:extLst xmlns:a="http://schemas.openxmlformats.org/drawingml/2006/main">
              <a:ext uri="{FF2B5EF4-FFF2-40B4-BE49-F238E27FC236}">
                <a16:creationId xmlns:a16="http://schemas.microsoft.com/office/drawing/2014/main" id="{38E140E1-03D8-43FF-9940-A7144202090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again: pink is your manual not-done mark.</a:t>
            </a:r>
          </a:p>
        </p:txBody>
      </p:sp>
      <p:sp>
        <p:nvSpPr>
          <p:cNvPr id="4" name="">
            <a:extLst xmlns:a="http://schemas.openxmlformats.org/drawingml/2006/main">
              <a:ext uri="{FF2B5EF4-FFF2-40B4-BE49-F238E27FC236}">
                <a16:creationId xmlns:a16="http://schemas.microsoft.com/office/drawing/2014/main" id="{6BF125A1-7F6D-4472-8B3F-E01ACE7BF64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third time: the date has no color.</a:t>
            </a:r>
          </a:p>
        </p:txBody>
      </p:sp>
      <p:sp>
        <p:nvSpPr>
          <p:cNvPr id="5" name="">
            <a:extLst xmlns:a="http://schemas.openxmlformats.org/drawingml/2006/main">
              <a:ext uri="{FF2B5EF4-FFF2-40B4-BE49-F238E27FC236}">
                <a16:creationId xmlns:a16="http://schemas.microsoft.com/office/drawing/2014/main" id="{DE57F77A-A0E3-46F8-B879-17391566759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Mark an earlier current-month date, restart Obsidian and confirm the mark persists.</a:t>
            </a:r>
          </a:p>
        </p:txBody>
      </p:sp>
      <p:sp>
        <p:nvSpPr>
          <p:cNvPr id="6" name="">
            <a:extLst xmlns:a="http://schemas.openxmlformats.org/drawingml/2006/main">
              <a:ext uri="{FF2B5EF4-FFF2-40B4-BE49-F238E27FC236}">
                <a16:creationId xmlns:a16="http://schemas.microsoft.com/office/drawing/2014/main" id="{2C03644C-1687-482C-8B1F-738D54D1975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AA42F33F-46BC-452D-8592-1A4006B1AC9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24</a:t>
            </a:r>
          </a:p>
        </p:txBody>
      </p:sp>
    </p:spTree>
    <p:extLst>
      <p:ext uri="{BB962C8B-B14F-4D97-AF65-F5344CB8AC3E}">
        <p14:creationId xmlns:p14="http://schemas.microsoft.com/office/powerpoint/2010/main" val="810063287"/>
      </p:ext>
    </p:extLst>
  </p:cSld>
</p:sld>
</file>

<file path=ppt/slides/slide2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E14612D-877A-4B18-835E-E18C8CF1D93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Colors and custom shades</a:t>
            </a:r>
          </a:p>
        </p:txBody>
      </p:sp>
      <p:sp>
        <p:nvSpPr>
          <p:cNvPr id="2" name="">
            <a:extLst xmlns:a="http://schemas.openxmlformats.org/drawingml/2006/main">
              <a:ext uri="{FF2B5EF4-FFF2-40B4-BE49-F238E27FC236}">
                <a16:creationId xmlns:a16="http://schemas.microsoft.com/office/drawing/2014/main" id="{FE9F92D2-190C-4082-ACEB-99BE605C5C9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Color reference and switch to Reading view for swatches.</a:t>
            </a:r>
          </a:p>
        </p:txBody>
      </p:sp>
      <p:sp>
        <p:nvSpPr>
          <p:cNvPr id="3" name="">
            <a:extLst xmlns:a="http://schemas.openxmlformats.org/drawingml/2006/main">
              <a:ext uri="{FF2B5EF4-FFF2-40B4-BE49-F238E27FC236}">
                <a16:creationId xmlns:a16="http://schemas.microsoft.com/office/drawing/2014/main" id="{9E867E22-7DAE-463D-9DB0-438C8CB06FF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a six-digit code such as #ADD8E6 and copy it yourself into the habit list.</a:t>
            </a:r>
          </a:p>
        </p:txBody>
      </p:sp>
      <p:sp>
        <p:nvSpPr>
          <p:cNvPr id="4" name="">
            <a:extLst xmlns:a="http://schemas.openxmlformats.org/drawingml/2006/main">
              <a:ext uri="{FF2B5EF4-FFF2-40B4-BE49-F238E27FC236}">
                <a16:creationId xmlns:a16="http://schemas.microsoft.com/office/drawing/2014/main" id="{A22F3E81-FB3A-4136-BEF9-FA58B033E96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To add a shade, append My lavender with #B8A9E8 and an empty third cell.</a:t>
            </a:r>
          </a:p>
        </p:txBody>
      </p:sp>
      <p:sp>
        <p:nvSpPr>
          <p:cNvPr id="5" name="">
            <a:extLst xmlns:a="http://schemas.openxmlformats.org/drawingml/2006/main">
              <a:ext uri="{FF2B5EF4-FFF2-40B4-BE49-F238E27FC236}">
                <a16:creationId xmlns:a16="http://schemas.microsoft.com/office/drawing/2014/main" id="{C6DBF7CE-2849-4BDB-806C-E0D3D480CBC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Changing the color reference alone never changes an existing calendar.</a:t>
            </a:r>
          </a:p>
        </p:txBody>
      </p:sp>
      <p:sp>
        <p:nvSpPr>
          <p:cNvPr id="6" name="">
            <a:extLst xmlns:a="http://schemas.openxmlformats.org/drawingml/2006/main">
              <a:ext uri="{FF2B5EF4-FFF2-40B4-BE49-F238E27FC236}">
                <a16:creationId xmlns:a16="http://schemas.microsoft.com/office/drawing/2014/main" id="{FFD3AF34-A468-4D96-B565-CBEA4B0EC02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4A103488-13DF-4F9F-B3AB-5C8909FF353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25</a:t>
            </a:r>
          </a:p>
        </p:txBody>
      </p:sp>
    </p:spTree>
    <p:extLst>
      <p:ext uri="{BB962C8B-B14F-4D97-AF65-F5344CB8AC3E}">
        <p14:creationId xmlns:p14="http://schemas.microsoft.com/office/powerpoint/2010/main" val="1854032132"/>
      </p:ext>
    </p:extLst>
  </p:cSld>
</p:sld>
</file>

<file path=ppt/slides/slide2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AA0914C-F360-4D58-93AD-06161E8B1A6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Habit maintenance</a:t>
            </a:r>
          </a:p>
        </p:txBody>
      </p:sp>
      <p:sp>
        <p:nvSpPr>
          <p:cNvPr id="2" name="">
            <a:extLst xmlns:a="http://schemas.openxmlformats.org/drawingml/2006/main">
              <a:ext uri="{FF2B5EF4-FFF2-40B4-BE49-F238E27FC236}">
                <a16:creationId xmlns:a16="http://schemas.microsoft.com/office/drawing/2014/main" id="{FF90B09A-4670-456F-AE8C-1C918A3CDB5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Rename the visible label while retaining the hidden habit ID.</a:t>
            </a:r>
          </a:p>
        </p:txBody>
      </p:sp>
      <p:sp>
        <p:nvSpPr>
          <p:cNvPr id="3" name="">
            <a:extLst xmlns:a="http://schemas.openxmlformats.org/drawingml/2006/main">
              <a:ext uri="{FF2B5EF4-FFF2-40B4-BE49-F238E27FC236}">
                <a16:creationId xmlns:a16="http://schemas.microsoft.com/office/drawing/2014/main" id="{FB562CF2-C98F-4396-8119-5258A4750BC1}"/>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Move whole table rows to reorder calendars.</a:t>
            </a:r>
          </a:p>
        </p:txBody>
      </p:sp>
      <p:sp>
        <p:nvSpPr>
          <p:cNvPr id="4" name="">
            <a:extLst xmlns:a="http://schemas.openxmlformats.org/drawingml/2006/main">
              <a:ext uri="{FF2B5EF4-FFF2-40B4-BE49-F238E27FC236}">
                <a16:creationId xmlns:a16="http://schemas.microsoft.com/office/drawing/2014/main" id="{E2A8C3D0-29C4-4F88-BD4D-4C5C566FD8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a row, change Y to N, or delete a row to alter the next applied catalog.</a:t>
            </a:r>
          </a:p>
        </p:txBody>
      </p:sp>
      <p:sp>
        <p:nvSpPr>
          <p:cNvPr id="5" name="">
            <a:extLst xmlns:a="http://schemas.openxmlformats.org/drawingml/2006/main">
              <a:ext uri="{FF2B5EF4-FFF2-40B4-BE49-F238E27FC236}">
                <a16:creationId xmlns:a16="http://schemas.microsoft.com/office/drawing/2014/main" id="{CC174A51-6472-40AF-B68C-C70DA18FBBB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Batch changes deliberately. Every accepted catalog change resets all current marks.</a:t>
            </a:r>
          </a:p>
        </p:txBody>
      </p:sp>
      <p:sp>
        <p:nvSpPr>
          <p:cNvPr id="6" name="">
            <a:extLst xmlns:a="http://schemas.openxmlformats.org/drawingml/2006/main">
              <a:ext uri="{FF2B5EF4-FFF2-40B4-BE49-F238E27FC236}">
                <a16:creationId xmlns:a16="http://schemas.microsoft.com/office/drawing/2014/main" id="{F11801A8-7942-42D3-A2E2-5C8F10347D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D3710A3D-8576-4535-A211-DC7462AF943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26</a:t>
            </a:r>
          </a:p>
        </p:txBody>
      </p:sp>
    </p:spTree>
    <p:extLst>
      <p:ext uri="{BB962C8B-B14F-4D97-AF65-F5344CB8AC3E}">
        <p14:creationId xmlns:p14="http://schemas.microsoft.com/office/powerpoint/2010/main" val="1771761476"/>
      </p:ext>
    </p:extLst>
  </p:cSld>
</p:sld>
</file>

<file path=ppt/slides/slide2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4BC4D2-71D6-4A63-A518-7B35DFF75CF7}"/>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Statistics without schedules</a:t>
            </a:r>
          </a:p>
        </p:txBody>
      </p:sp>
      <p:sp>
        <p:nvSpPr>
          <p:cNvPr id="2" name="">
            <a:extLst xmlns:a="http://schemas.openxmlformats.org/drawingml/2006/main">
              <a:ext uri="{FF2B5EF4-FFF2-40B4-BE49-F238E27FC236}">
                <a16:creationId xmlns:a16="http://schemas.microsoft.com/office/drawing/2014/main" id="{6083BA14-B07C-400A-B87A-F72399983F8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Completion is green days divided by elapsed calendar days.</a:t>
            </a:r>
          </a:p>
        </p:txBody>
      </p:sp>
      <p:sp>
        <p:nvSpPr>
          <p:cNvPr id="3" name="">
            <a:extLst xmlns:a="http://schemas.openxmlformats.org/drawingml/2006/main">
              <a:ext uri="{FF2B5EF4-FFF2-40B4-BE49-F238E27FC236}">
                <a16:creationId xmlns:a16="http://schemas.microsoft.com/office/drawing/2014/main" id="{EC4ACAEE-D897-4CE2-95FC-CB44B0A1F04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Example: 6 green days after 10 days gives 60% for that habit.</a:t>
            </a:r>
          </a:p>
        </p:txBody>
      </p:sp>
      <p:sp>
        <p:nvSpPr>
          <p:cNvPr id="4" name="">
            <a:extLst xmlns:a="http://schemas.openxmlformats.org/drawingml/2006/main">
              <a:ext uri="{FF2B5EF4-FFF2-40B4-BE49-F238E27FC236}">
                <a16:creationId xmlns:a16="http://schemas.microsoft.com/office/drawing/2014/main" id="{E3E3E2BE-6F3D-4A7A-B6B9-DFF6EC159B1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Pink and blank dates break streaks. Streaks stay within one month.</a:t>
            </a:r>
          </a:p>
        </p:txBody>
      </p:sp>
      <p:sp>
        <p:nvSpPr>
          <p:cNvPr id="5" name="">
            <a:extLst xmlns:a="http://schemas.openxmlformats.org/drawingml/2006/main">
              <a:ext uri="{FF2B5EF4-FFF2-40B4-BE49-F238E27FC236}">
                <a16:creationId xmlns:a16="http://schemas.microsoft.com/office/drawing/2014/main" id="{4A9C979E-EF5B-4334-BAF6-24B6DEA91E5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Historical reports keep their saved as-of date and totals.</a:t>
            </a:r>
          </a:p>
        </p:txBody>
      </p:sp>
      <p:sp>
        <p:nvSpPr>
          <p:cNvPr id="6" name="">
            <a:extLst xmlns:a="http://schemas.openxmlformats.org/drawingml/2006/main">
              <a:ext uri="{FF2B5EF4-FFF2-40B4-BE49-F238E27FC236}">
                <a16:creationId xmlns:a16="http://schemas.microsoft.com/office/drawing/2014/main" id="{C22653BE-D0A1-484F-88DF-8ADEBD44DF8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865A0AD0-A11B-4A24-9DCC-0DD802B62E7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27</a:t>
            </a:r>
          </a:p>
        </p:txBody>
      </p:sp>
    </p:spTree>
    <p:extLst>
      <p:ext uri="{BB962C8B-B14F-4D97-AF65-F5344CB8AC3E}">
        <p14:creationId xmlns:p14="http://schemas.microsoft.com/office/powerpoint/2010/main" val="930045280"/>
      </p:ext>
    </p:extLst>
  </p:cSld>
</p:sld>
</file>

<file path=ppt/slides/slide2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AEB89EB-3B5C-4287-85E0-5062CF062B3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New months and frozen history</a:t>
            </a:r>
          </a:p>
        </p:txBody>
      </p:sp>
      <p:sp>
        <p:nvSpPr>
          <p:cNvPr id="2" name="">
            <a:extLst xmlns:a="http://schemas.openxmlformats.org/drawingml/2006/main">
              <a:ext uri="{FF2B5EF4-FFF2-40B4-BE49-F238E27FC236}">
                <a16:creationId xmlns:a16="http://schemas.microsoft.com/office/drawing/2014/main" id="{2CC3ABB4-9143-4BBE-A127-C200C6167C5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new month appears while Obsidian is open or on the next opening.</a:t>
            </a:r>
          </a:p>
        </p:txBody>
      </p:sp>
      <p:sp>
        <p:nvSpPr>
          <p:cNvPr id="3" name="">
            <a:extLst xmlns:a="http://schemas.openxmlformats.org/drawingml/2006/main">
              <a:ext uri="{FF2B5EF4-FFF2-40B4-BE49-F238E27FC236}">
                <a16:creationId xmlns:a16="http://schemas.microsoft.com/office/drawing/2014/main" id="{825CDBDA-0EAE-42ED-A873-FBCFF6681D2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new month uses the current habit list and starts with blank marks.</a:t>
            </a:r>
          </a:p>
        </p:txBody>
      </p:sp>
      <p:sp>
        <p:nvSpPr>
          <p:cNvPr id="4" name="">
            <a:extLst xmlns:a="http://schemas.openxmlformats.org/drawingml/2006/main">
              <a:ext uri="{FF2B5EF4-FFF2-40B4-BE49-F238E27FC236}">
                <a16:creationId xmlns:a16="http://schemas.microsoft.com/office/drawing/2014/main" id="{F82B076E-F8B5-4DC9-94BD-D7A7382FF00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Previous months keep their saved calendars and statistics.</a:t>
            </a:r>
          </a:p>
        </p:txBody>
      </p:sp>
      <p:sp>
        <p:nvSpPr>
          <p:cNvPr id="5" name="">
            <a:extLst xmlns:a="http://schemas.openxmlformats.org/drawingml/2006/main">
              <a:ext uri="{FF2B5EF4-FFF2-40B4-BE49-F238E27FC236}">
                <a16:creationId xmlns:a16="http://schemas.microsoft.com/office/drawing/2014/main" id="{35A46CB7-28DD-45BB-A2AA-84AD7C889A5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Late synced marks remain excluded from frozen history.</a:t>
            </a:r>
          </a:p>
        </p:txBody>
      </p:sp>
      <p:sp>
        <p:nvSpPr>
          <p:cNvPr id="6" name="">
            <a:extLst xmlns:a="http://schemas.openxmlformats.org/drawingml/2006/main">
              <a:ext uri="{FF2B5EF4-FFF2-40B4-BE49-F238E27FC236}">
                <a16:creationId xmlns:a16="http://schemas.microsoft.com/office/drawing/2014/main" id="{2AE3EEA3-AC06-4E6D-863A-E9B62980875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2FA61C9D-FE72-4CBE-B537-77CF094A910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28</a:t>
            </a:r>
          </a:p>
        </p:txBody>
      </p:sp>
    </p:spTree>
    <p:extLst>
      <p:ext uri="{BB962C8B-B14F-4D97-AF65-F5344CB8AC3E}">
        <p14:creationId xmlns:p14="http://schemas.microsoft.com/office/powerpoint/2010/main" val="685441260"/>
      </p:ext>
    </p:extLst>
  </p:cSld>
</p:sld>
</file>

<file path=ppt/slides/slide2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567BED7-7845-4F8C-BAB7-1CE50D33264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Month selection on every platform</a:t>
            </a:r>
          </a:p>
        </p:txBody>
      </p:sp>
      <p:sp>
        <p:nvSpPr>
          <p:cNvPr id="2" name="">
            <a:extLst xmlns:a="http://schemas.openxmlformats.org/drawingml/2006/main">
              <a:ext uri="{FF2B5EF4-FFF2-40B4-BE49-F238E27FC236}">
                <a16:creationId xmlns:a16="http://schemas.microsoft.com/office/drawing/2014/main" id="{8A090893-25A3-4FC8-A691-25B6BB606AE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month opens the same Month dropdown and Year field on all devices.</a:t>
            </a:r>
          </a:p>
        </p:txBody>
      </p:sp>
      <p:sp>
        <p:nvSpPr>
          <p:cNvPr id="3" name="">
            <a:extLst xmlns:a="http://schemas.openxmlformats.org/drawingml/2006/main">
              <a:ext uri="{FF2B5EF4-FFF2-40B4-BE49-F238E27FC236}">
                <a16:creationId xmlns:a16="http://schemas.microsoft.com/office/drawing/2014/main" id="{6DD7C0A2-92CD-4051-9B00-3F6C2D9210D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February and enter 2028 to inspect a leap-year month.</a:t>
            </a:r>
          </a:p>
        </p:txBody>
      </p:sp>
      <p:sp>
        <p:nvSpPr>
          <p:cNvPr id="4" name="">
            <a:extLst xmlns:a="http://schemas.openxmlformats.org/drawingml/2006/main">
              <a:ext uri="{FF2B5EF4-FFF2-40B4-BE49-F238E27FC236}">
                <a16:creationId xmlns:a16="http://schemas.microsoft.com/office/drawing/2014/main" id="{83409E37-0B65-45F3-A161-A8F86AC8BA6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Open, or press Enter in the Year field with a keyboard.</a:t>
            </a:r>
          </a:p>
        </p:txBody>
      </p:sp>
      <p:sp>
        <p:nvSpPr>
          <p:cNvPr id="5" name="">
            <a:extLst xmlns:a="http://schemas.openxmlformats.org/drawingml/2006/main">
              <a:ext uri="{FF2B5EF4-FFF2-40B4-BE49-F238E27FC236}">
                <a16:creationId xmlns:a16="http://schemas.microsoft.com/office/drawing/2014/main" id="{57762F12-541B-4A20-A286-D4720202BB46}"/>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Years must be 1970–9999. Choosing a month never makes historical dates editable.</a:t>
            </a:r>
          </a:p>
        </p:txBody>
      </p:sp>
      <p:sp>
        <p:nvSpPr>
          <p:cNvPr id="6" name="">
            <a:extLst xmlns:a="http://schemas.openxmlformats.org/drawingml/2006/main">
              <a:ext uri="{FF2B5EF4-FFF2-40B4-BE49-F238E27FC236}">
                <a16:creationId xmlns:a16="http://schemas.microsoft.com/office/drawing/2014/main" id="{FF39510A-C3E8-4623-AC9F-4FBBF740A46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55162A19-CFEC-400E-97C1-E88341DF4B38}"/>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29</a:t>
            </a:r>
          </a:p>
        </p:txBody>
      </p:sp>
    </p:spTree>
    <p:extLst>
      <p:ext uri="{BB962C8B-B14F-4D97-AF65-F5344CB8AC3E}">
        <p14:creationId xmlns:p14="http://schemas.microsoft.com/office/powerpoint/2010/main" val="1692503126"/>
      </p:ext>
    </p:extLst>
  </p:cSld>
</p:sld>
</file>

<file path=ppt/slides/slide3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57A1F0-AF91-4EF4-BA85-C860F809714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Optional Obsidian Sync</a:t>
            </a:r>
          </a:p>
        </p:txBody>
      </p:sp>
      <p:sp>
        <p:nvSpPr>
          <p:cNvPr id="2" name="">
            <a:extLst xmlns:a="http://schemas.openxmlformats.org/drawingml/2006/main">
              <a:ext uri="{FF2B5EF4-FFF2-40B4-BE49-F238E27FC236}">
                <a16:creationId xmlns:a16="http://schemas.microsoft.com/office/drawing/2014/main" id="{6A402F38-18BD-48CF-82BF-D56F6BEAD4F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Connect every local vault to the same remote vault. Matching names alone do not connect them.</a:t>
            </a:r>
          </a:p>
        </p:txBody>
      </p:sp>
      <p:sp>
        <p:nvSpPr>
          <p:cNvPr id="3" name="">
            <a:extLst xmlns:a="http://schemas.openxmlformats.org/drawingml/2006/main">
              <a:ext uri="{FF2B5EF4-FFF2-40B4-BE49-F238E27FC236}">
                <a16:creationId xmlns:a16="http://schemas.microsoft.com/office/drawing/2014/main" id="{FBA8ADE5-9730-43CF-A547-1F5497ED23D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each device, enable installed and active community plugin sync options.</a:t>
            </a:r>
          </a:p>
        </p:txBody>
      </p:sp>
      <p:sp>
        <p:nvSpPr>
          <p:cNvPr id="4" name="">
            <a:extLst xmlns:a="http://schemas.openxmlformats.org/drawingml/2006/main">
              <a:ext uri="{FF2B5EF4-FFF2-40B4-BE49-F238E27FC236}">
                <a16:creationId xmlns:a16="http://schemas.microsoft.com/office/drawing/2014/main" id="{70E33F9F-109F-404C-B19F-04D96A2459A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 the entire Habit Tracker folder, including Records, Statistics and System.</a:t>
            </a:r>
          </a:p>
        </p:txBody>
      </p:sp>
      <p:sp>
        <p:nvSpPr>
          <p:cNvPr id="5" name="">
            <a:extLst xmlns:a="http://schemas.openxmlformats.org/drawingml/2006/main">
              <a:ext uri="{FF2B5EF4-FFF2-40B4-BE49-F238E27FC236}">
                <a16:creationId xmlns:a16="http://schemas.microsoft.com/office/drawing/2014/main" id="{052FC262-7D83-440D-AA1A-D46E1FFFAC3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Wait for downloads, then restart Obsidian to load plugin changes.</a:t>
            </a:r>
          </a:p>
        </p:txBody>
      </p:sp>
      <p:sp>
        <p:nvSpPr>
          <p:cNvPr id="6" name="">
            <a:extLst xmlns:a="http://schemas.openxmlformats.org/drawingml/2006/main">
              <a:ext uri="{FF2B5EF4-FFF2-40B4-BE49-F238E27FC236}">
                <a16:creationId xmlns:a16="http://schemas.microsoft.com/office/drawing/2014/main" id="{D8086E17-D29C-4932-87B4-347DD192759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B4633153-877C-400A-840D-130F1C9D441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30</a:t>
            </a:r>
          </a:p>
        </p:txBody>
      </p:sp>
    </p:spTree>
    <p:extLst>
      <p:ext uri="{BB962C8B-B14F-4D97-AF65-F5344CB8AC3E}">
        <p14:creationId xmlns:p14="http://schemas.microsoft.com/office/powerpoint/2010/main" val="786956386"/>
      </p:ext>
    </p:extLst>
  </p:cSld>
</p:sld>
</file>

<file path=ppt/slides/slide3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669D61-6B0B-4239-99E8-AEA08B3360C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Safe work across devices</a:t>
            </a:r>
          </a:p>
        </p:txBody>
      </p:sp>
      <p:sp>
        <p:nvSpPr>
          <p:cNvPr id="2" name="">
            <a:extLst xmlns:a="http://schemas.openxmlformats.org/drawingml/2006/main">
              <a:ext uri="{FF2B5EF4-FFF2-40B4-BE49-F238E27FC236}">
                <a16:creationId xmlns:a16="http://schemas.microsoft.com/office/drawing/2014/main" id="{37EEB8B1-3551-4AD6-B9A8-C1A6164FB23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Finish syncing before a habit-list reset on the primary laptop.</a:t>
            </a:r>
          </a:p>
        </p:txBody>
      </p:sp>
      <p:sp>
        <p:nvSpPr>
          <p:cNvPr id="3" name="">
            <a:extLst xmlns:a="http://schemas.openxmlformats.org/drawingml/2006/main">
              <a:ext uri="{FF2B5EF4-FFF2-40B4-BE49-F238E27FC236}">
                <a16:creationId xmlns:a16="http://schemas.microsoft.com/office/drawing/2014/main" id="{A100CE90-B0EF-4999-95D4-91F0B1AAF7D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Let that reset reach other devices before adding marks there.</a:t>
            </a:r>
          </a:p>
        </p:txBody>
      </p:sp>
      <p:sp>
        <p:nvSpPr>
          <p:cNvPr id="4" name="">
            <a:extLst xmlns:a="http://schemas.openxmlformats.org/drawingml/2006/main">
              <a:ext uri="{FF2B5EF4-FFF2-40B4-BE49-F238E27FC236}">
                <a16:creationId xmlns:a16="http://schemas.microsoft.com/office/drawing/2014/main" id="{A76B460E-72B3-431D-93A8-E56EC99F82E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Sync before month rollover so pending activity reaches the saved report.</a:t>
            </a:r>
          </a:p>
        </p:txBody>
      </p:sp>
      <p:sp>
        <p:nvSpPr>
          <p:cNvPr id="5" name="">
            <a:extLst xmlns:a="http://schemas.openxmlformats.org/drawingml/2006/main">
              <a:ext uri="{FF2B5EF4-FFF2-40B4-BE49-F238E27FC236}">
                <a16:creationId xmlns:a16="http://schemas.microsoft.com/office/drawing/2014/main" id="{20E1E9CA-7304-4B3C-B061-A308C880FB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Avoid simultaneous offline resets. Keep a separate backup.</a:t>
            </a:r>
          </a:p>
        </p:txBody>
      </p:sp>
      <p:sp>
        <p:nvSpPr>
          <p:cNvPr id="6" name="">
            <a:extLst xmlns:a="http://schemas.openxmlformats.org/drawingml/2006/main">
              <a:ext uri="{FF2B5EF4-FFF2-40B4-BE49-F238E27FC236}">
                <a16:creationId xmlns:a16="http://schemas.microsoft.com/office/drawing/2014/main" id="{251EAA0E-ED52-44D4-ADD0-C4FEF2ABD8A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E795C91A-D5C5-491F-A2B4-234D72067D8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31</a:t>
            </a:r>
          </a:p>
        </p:txBody>
      </p:sp>
    </p:spTree>
    <p:extLst>
      <p:ext uri="{BB962C8B-B14F-4D97-AF65-F5344CB8AC3E}">
        <p14:creationId xmlns:p14="http://schemas.microsoft.com/office/powerpoint/2010/main" val="365177639"/>
      </p:ext>
    </p:extLst>
  </p:cSld>
</p:sld>
</file>

<file path=ppt/slides/slide3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56443A-A4DB-44C2-86AF-14A7DEB3A4E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Upgrade to version 1.1.4</a:t>
            </a:r>
          </a:p>
        </p:txBody>
      </p:sp>
      <p:sp>
        <p:nvSpPr>
          <p:cNvPr id="2" name="">
            <a:extLst xmlns:a="http://schemas.openxmlformats.org/drawingml/2006/main">
              <a:ext uri="{FF2B5EF4-FFF2-40B4-BE49-F238E27FC236}">
                <a16:creationId xmlns:a16="http://schemas.microsoft.com/office/drawing/2014/main" id="{26DB71BB-F962-4ECA-AB94-DB73975BF3A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From 1.1.3: keep the same plugin folder. Close Obsidian and back up the vault.</a:t>
            </a:r>
          </a:p>
        </p:txBody>
      </p:sp>
      <p:sp>
        <p:nvSpPr>
          <p:cNvPr id="3" name="">
            <a:extLst xmlns:a="http://schemas.openxmlformats.org/drawingml/2006/main">
              <a:ext uri="{FF2B5EF4-FFF2-40B4-BE49-F238E27FC236}">
                <a16:creationId xmlns:a16="http://schemas.microsoft.com/office/drawing/2014/main" id="{9C388016-A379-49CF-8A27-096687D04FD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Replace main.js, manifest.json and styles.css with matching 1.1.4 files.</a:t>
            </a:r>
          </a:p>
        </p:txBody>
      </p:sp>
      <p:sp>
        <p:nvSpPr>
          <p:cNvPr id="4" name="">
            <a:extLst xmlns:a="http://schemas.openxmlformats.org/drawingml/2006/main">
              <a:ext uri="{FF2B5EF4-FFF2-40B4-BE49-F238E27FC236}">
                <a16:creationId xmlns:a16="http://schemas.microsoft.com/office/drawing/2014/main" id="{648A606A-8B41-4E74-A576-560A65ECFC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Preserve data.json and the entire Habit Tracker folder, including custom colors.</a:t>
            </a:r>
          </a:p>
        </p:txBody>
      </p:sp>
      <p:sp>
        <p:nvSpPr>
          <p:cNvPr id="5" name="">
            <a:extLst xmlns:a="http://schemas.openxmlformats.org/drawingml/2006/main">
              <a:ext uri="{FF2B5EF4-FFF2-40B4-BE49-F238E27FC236}">
                <a16:creationId xmlns:a16="http://schemas.microsoft.com/office/drawing/2014/main" id="{5A4E16F1-7BA1-4A31-87C6-921E54C691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From the older habit-calendar-001b ID: follow the migration guide first.</a:t>
            </a:r>
          </a:p>
        </p:txBody>
      </p:sp>
      <p:sp>
        <p:nvSpPr>
          <p:cNvPr id="6" name="">
            <a:extLst xmlns:a="http://schemas.openxmlformats.org/drawingml/2006/main">
              <a:ext uri="{FF2B5EF4-FFF2-40B4-BE49-F238E27FC236}">
                <a16:creationId xmlns:a16="http://schemas.microsoft.com/office/drawing/2014/main" id="{7D951DC9-FA5E-42BE-8E3C-013EEF1FCD7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79C81EF3-7646-476B-B6EC-2BF010C4147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32</a:t>
            </a:r>
          </a:p>
        </p:txBody>
      </p:sp>
    </p:spTree>
    <p:extLst>
      <p:ext uri="{BB962C8B-B14F-4D97-AF65-F5344CB8AC3E}">
        <p14:creationId xmlns:p14="http://schemas.microsoft.com/office/powerpoint/2010/main" val="1733090487"/>
      </p:ext>
    </p:extLst>
  </p:cSld>
</p:sld>
</file>

<file path=ppt/slides/slide3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A0C2E2-ED7A-4DF1-93A0-4F2AC12515E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Migration: activation and checks</a:t>
            </a:r>
          </a:p>
        </p:txBody>
      </p:sp>
      <p:sp>
        <p:nvSpPr>
          <p:cNvPr id="2" name="">
            <a:extLst xmlns:a="http://schemas.openxmlformats.org/drawingml/2006/main">
              <a:ext uri="{FF2B5EF4-FFF2-40B4-BE49-F238E27FC236}">
                <a16:creationId xmlns:a16="http://schemas.microsoft.com/office/drawing/2014/main" id="{BF1CB7FB-F9DA-4BA4-8B8B-E3E82222C77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Enable rsn habit calendar one b and confirm version 1.1.4. Keep the old plugin off.</a:t>
            </a:r>
          </a:p>
        </p:txBody>
      </p:sp>
      <p:sp>
        <p:nvSpPr>
          <p:cNvPr id="3" name="">
            <a:extLst xmlns:a="http://schemas.openxmlformats.org/drawingml/2006/main">
              <a:ext uri="{FF2B5EF4-FFF2-40B4-BE49-F238E27FC236}">
                <a16:creationId xmlns:a16="http://schemas.microsoft.com/office/drawing/2014/main" id="{3D430491-3259-4B36-BBB9-FE794E7AA8B1}"/>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current month. Compare existing marks, statistics and history with the backup.</a:t>
            </a:r>
          </a:p>
        </p:txBody>
      </p:sp>
      <p:sp>
        <p:nvSpPr>
          <p:cNvPr id="4" name="">
            <a:extLst xmlns:a="http://schemas.openxmlformats.org/drawingml/2006/main">
              <a:ext uri="{FF2B5EF4-FFF2-40B4-BE49-F238E27FC236}">
                <a16:creationId xmlns:a16="http://schemas.microsoft.com/office/drawing/2014/main" id="{E80C26B6-D77A-4845-BC02-BB9A0ABFECB5}"/>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Reassign hotkeys and command shortcuts to the new plugin name.</a:t>
            </a:r>
          </a:p>
        </p:txBody>
      </p:sp>
      <p:sp>
        <p:nvSpPr>
          <p:cNvPr id="5" name="">
            <a:extLst xmlns:a="http://schemas.openxmlformats.org/drawingml/2006/main">
              <a:ext uri="{FF2B5EF4-FFF2-40B4-BE49-F238E27FC236}">
                <a16:creationId xmlns:a16="http://schemas.microsoft.com/office/drawing/2014/main" id="{97C166DF-3302-4F80-A46B-977361790F1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If a pending habit-list edit prompts for replacement, choose No until you intend a reset.</a:t>
            </a:r>
          </a:p>
        </p:txBody>
      </p:sp>
      <p:sp>
        <p:nvSpPr>
          <p:cNvPr id="6" name="">
            <a:extLst xmlns:a="http://schemas.openxmlformats.org/drawingml/2006/main">
              <a:ext uri="{FF2B5EF4-FFF2-40B4-BE49-F238E27FC236}">
                <a16:creationId xmlns:a16="http://schemas.microsoft.com/office/drawing/2014/main" id="{B4296B63-B3BD-46D9-8CBB-DBC689AA9B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1065EB51-2E28-4819-8C80-3B718B79578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33</a:t>
            </a:r>
          </a:p>
        </p:txBody>
      </p:sp>
    </p:spTree>
    <p:extLst>
      <p:ext uri="{BB962C8B-B14F-4D97-AF65-F5344CB8AC3E}">
        <p14:creationId xmlns:p14="http://schemas.microsoft.com/office/powerpoint/2010/main" val="482428774"/>
      </p:ext>
    </p:extLst>
  </p:cSld>
</p:sld>
</file>

<file path=ppt/slides/slide3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798547A-4431-4608-B41D-3A990AA9D41E}"/>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Migration: phones and tablets</a:t>
            </a:r>
          </a:p>
        </p:txBody>
      </p:sp>
      <p:sp>
        <p:nvSpPr>
          <p:cNvPr id="2" name="">
            <a:extLst xmlns:a="http://schemas.openxmlformats.org/drawingml/2006/main">
              <a:ext uri="{FF2B5EF4-FFF2-40B4-BE49-F238E27FC236}">
                <a16:creationId xmlns:a16="http://schemas.microsoft.com/office/drawing/2014/main" id="{0440FEAC-DA74-44BC-8E6F-2CD37201089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Obsidian Sync, finish the desktop migration while other devices are idle.</a:t>
            </a:r>
          </a:p>
        </p:txBody>
      </p:sp>
      <p:sp>
        <p:nvSpPr>
          <p:cNvPr id="3" name="">
            <a:extLst xmlns:a="http://schemas.openxmlformats.org/drawingml/2006/main">
              <a:ext uri="{FF2B5EF4-FFF2-40B4-BE49-F238E27FC236}">
                <a16:creationId xmlns:a16="http://schemas.microsoft.com/office/drawing/2014/main" id="{361DD13C-0C8C-4E7B-AC00-948D6A46ACA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Sync installed/active plugin lists and plugin settings to transfer data.json.</a:t>
            </a:r>
          </a:p>
        </p:txBody>
      </p:sp>
      <p:sp>
        <p:nvSpPr>
          <p:cNvPr id="4" name="">
            <a:extLst xmlns:a="http://schemas.openxmlformats.org/drawingml/2006/main">
              <a:ext uri="{FF2B5EF4-FFF2-40B4-BE49-F238E27FC236}">
                <a16:creationId xmlns:a16="http://schemas.microsoft.com/office/drawing/2014/main" id="{E61FC035-C152-4FDF-931D-44FBB81018E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each device, wait for transfer, restart, and verify the old plugin is off and 1.1.4 is on.</a:t>
            </a:r>
          </a:p>
        </p:txBody>
      </p:sp>
      <p:sp>
        <p:nvSpPr>
          <p:cNvPr id="5" name="">
            <a:extLst xmlns:a="http://schemas.openxmlformats.org/drawingml/2006/main">
              <a:ext uri="{FF2B5EF4-FFF2-40B4-BE49-F238E27FC236}">
                <a16:creationId xmlns:a16="http://schemas.microsoft.com/office/drawing/2014/main" id="{897F9C73-976A-46D0-891C-99F14508C77C}"/>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iCloud, copy files and settings on the Mac, then verify each Apple device.</a:t>
            </a:r>
          </a:p>
        </p:txBody>
      </p:sp>
      <p:sp>
        <p:nvSpPr>
          <p:cNvPr id="6" name="">
            <a:extLst xmlns:a="http://schemas.openxmlformats.org/drawingml/2006/main">
              <a:ext uri="{FF2B5EF4-FFF2-40B4-BE49-F238E27FC236}">
                <a16:creationId xmlns:a16="http://schemas.microsoft.com/office/drawing/2014/main" id="{2295DC1A-CB85-475B-9C01-B92F24621FB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AE1C4F83-BFD8-4EF6-BD10-200449A32D9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34</a:t>
            </a:r>
          </a:p>
        </p:txBody>
      </p:sp>
    </p:spTree>
    <p:extLst>
      <p:ext uri="{BB962C8B-B14F-4D97-AF65-F5344CB8AC3E}">
        <p14:creationId xmlns:p14="http://schemas.microsoft.com/office/powerpoint/2010/main" val="1767922385"/>
      </p:ext>
    </p:extLst>
  </p:cSld>
</p:sld>
</file>

<file path=ppt/slides/slide3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F92E051-3271-45CA-A864-1E2137E0648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Troubleshooting</a:t>
            </a:r>
          </a:p>
        </p:txBody>
      </p:sp>
      <p:sp>
        <p:nvSpPr>
          <p:cNvPr id="2" name="">
            <a:extLst xmlns:a="http://schemas.openxmlformats.org/drawingml/2006/main">
              <a:ext uri="{FF2B5EF4-FFF2-40B4-BE49-F238E27FC236}">
                <a16:creationId xmlns:a16="http://schemas.microsoft.com/office/drawing/2014/main" id="{6BA89E72-43DE-4F5D-9B30-59FE1029578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Plugin missing: check vault, directory nesting and exact filenames.</a:t>
            </a:r>
          </a:p>
        </p:txBody>
      </p:sp>
      <p:sp>
        <p:nvSpPr>
          <p:cNvPr id="3" name="">
            <a:extLst xmlns:a="http://schemas.openxmlformats.org/drawingml/2006/main">
              <a:ext uri="{FF2B5EF4-FFF2-40B4-BE49-F238E27FC236}">
                <a16:creationId xmlns:a16="http://schemas.microsoft.com/office/drawing/2014/main" id="{8CD508DD-F2E1-419D-802E-7063B1AF2E6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Controls visible but no calendars: check Y rows and whether list changes were declined.</a:t>
            </a:r>
          </a:p>
        </p:txBody>
      </p:sp>
      <p:sp>
        <p:nvSpPr>
          <p:cNvPr id="4" name="">
            <a:extLst xmlns:a="http://schemas.openxmlformats.org/drawingml/2006/main">
              <a:ext uri="{FF2B5EF4-FFF2-40B4-BE49-F238E27FC236}">
                <a16:creationId xmlns:a16="http://schemas.microsoft.com/office/drawing/2014/main" id="{39144E2E-A9BA-427C-ABD9-EEC462E0949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Blank view: run Open current month and try the note in Reading view.</a:t>
            </a:r>
          </a:p>
        </p:txBody>
      </p:sp>
      <p:sp>
        <p:nvSpPr>
          <p:cNvPr id="5" name="">
            <a:extLst xmlns:a="http://schemas.openxmlformats.org/drawingml/2006/main">
              <a:ext uri="{FF2B5EF4-FFF2-40B4-BE49-F238E27FC236}">
                <a16:creationId xmlns:a16="http://schemas.microsoft.com/office/drawing/2014/main" id="{E4855899-9F88-49D7-9E63-FFF04749F6E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Report the app version, plugin version, phone/OS, steps and exact error text.</a:t>
            </a:r>
          </a:p>
        </p:txBody>
      </p:sp>
      <p:sp>
        <p:nvSpPr>
          <p:cNvPr id="6" name="">
            <a:extLst xmlns:a="http://schemas.openxmlformats.org/drawingml/2006/main">
              <a:ext uri="{FF2B5EF4-FFF2-40B4-BE49-F238E27FC236}">
                <a16:creationId xmlns:a16="http://schemas.microsoft.com/office/drawing/2014/main" id="{C5F7D7FB-6BA2-4363-B914-EA14713B7CE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7B5899B0-F394-420B-8408-A240FF3F030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35</a:t>
            </a:r>
          </a:p>
        </p:txBody>
      </p:sp>
    </p:spTree>
    <p:extLst>
      <p:ext uri="{BB962C8B-B14F-4D97-AF65-F5344CB8AC3E}">
        <p14:creationId xmlns:p14="http://schemas.microsoft.com/office/powerpoint/2010/main" val="1641408293"/>
      </p:ext>
    </p:extLst>
  </p:cSld>
</p:sld>
</file>

<file path=ppt/slides/slide3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C40C2D-0918-4846-9F03-8A1D3C350FC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repository and release</a:t>
            </a:r>
          </a:p>
        </p:txBody>
      </p:sp>
      <p:sp>
        <p:nvSpPr>
          <p:cNvPr id="2" name="">
            <a:extLst xmlns:a="http://schemas.openxmlformats.org/drawingml/2006/main">
              <a:ext uri="{FF2B5EF4-FFF2-40B4-BE49-F238E27FC236}">
                <a16:creationId xmlns:a16="http://schemas.microsoft.com/office/drawing/2014/main" id="{7EA2AEA9-E7CB-4E7D-BACA-ABF16638713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Upload repository/ contents to the GitHub repository root, including hidden files.</a:t>
            </a:r>
          </a:p>
        </p:txBody>
      </p:sp>
      <p:sp>
        <p:nvSpPr>
          <p:cNvPr id="3" name="">
            <a:extLst xmlns:a="http://schemas.openxmlformats.org/drawingml/2006/main">
              <a:ext uri="{FF2B5EF4-FFF2-40B4-BE49-F238E27FC236}">
                <a16:creationId xmlns:a16="http://schemas.microsoft.com/office/drawing/2014/main" id="{AB941E87-DBA6-419E-9AC5-A171E82CD30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README.md, LICENSE and manifest.json belong at that root.</a:t>
            </a:r>
          </a:p>
        </p:txBody>
      </p:sp>
      <p:sp>
        <p:nvSpPr>
          <p:cNvPr id="4" name="">
            <a:extLst xmlns:a="http://schemas.openxmlformats.org/drawingml/2006/main">
              <a:ext uri="{FF2B5EF4-FFF2-40B4-BE49-F238E27FC236}">
                <a16:creationId xmlns:a16="http://schemas.microsoft.com/office/drawing/2014/main" id="{9335952C-09DB-430E-B65C-612FCF049F9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Attach each of the six release-assets files separately to tag 1.1.4.</a:t>
            </a:r>
          </a:p>
        </p:txBody>
      </p:sp>
      <p:sp>
        <p:nvSpPr>
          <p:cNvPr id="5" name="">
            <a:extLst xmlns:a="http://schemas.openxmlformats.org/drawingml/2006/main">
              <a:ext uri="{FF2B5EF4-FFF2-40B4-BE49-F238E27FC236}">
                <a16:creationId xmlns:a16="http://schemas.microsoft.com/office/drawing/2014/main" id="{14E3083E-E789-4C62-974F-246F41D58CF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the personal habit list and test vault outside the public repository.</a:t>
            </a:r>
          </a:p>
        </p:txBody>
      </p:sp>
      <p:sp>
        <p:nvSpPr>
          <p:cNvPr id="6" name="">
            <a:extLst xmlns:a="http://schemas.openxmlformats.org/drawingml/2006/main">
              <a:ext uri="{FF2B5EF4-FFF2-40B4-BE49-F238E27FC236}">
                <a16:creationId xmlns:a16="http://schemas.microsoft.com/office/drawing/2014/main" id="{DA43C288-7589-4AC9-A044-9D842C4DD30E}"/>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7D99D835-3676-4671-90F9-64CCE7AAE81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36</a:t>
            </a:r>
          </a:p>
        </p:txBody>
      </p:sp>
    </p:spTree>
    <p:extLst>
      <p:ext uri="{BB962C8B-B14F-4D97-AF65-F5344CB8AC3E}">
        <p14:creationId xmlns:p14="http://schemas.microsoft.com/office/powerpoint/2010/main" val="109499648"/>
      </p:ext>
    </p:extLst>
  </p:cSld>
</p:sld>
</file>

<file path=ppt/slides/slide3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89086D-14EA-4A91-BB4A-08B2C2B7AE7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build and device tests</a:t>
            </a:r>
          </a:p>
        </p:txBody>
      </p:sp>
      <p:sp>
        <p:nvSpPr>
          <p:cNvPr id="2" name="">
            <a:extLst xmlns:a="http://schemas.openxmlformats.org/drawingml/2006/main">
              <a:ext uri="{FF2B5EF4-FFF2-40B4-BE49-F238E27FC236}">
                <a16:creationId xmlns:a16="http://schemas.microsoft.com/office/drawing/2014/main" id="{13182906-30DD-4469-85B9-223B0288498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node scripts/check-lockfile.mjs, then npm ci --ignore-scripts.</a:t>
            </a:r>
          </a:p>
        </p:txBody>
      </p:sp>
      <p:sp>
        <p:nvSpPr>
          <p:cNvPr id="3" name="">
            <a:extLst xmlns:a="http://schemas.openxmlformats.org/drawingml/2006/main">
              <a:ext uri="{FF2B5EF4-FFF2-40B4-BE49-F238E27FC236}">
                <a16:creationId xmlns:a16="http://schemas.microsoft.com/office/drawing/2014/main" id="{C3E663D3-3EAA-492E-A9F9-7BF48F9FA30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npm run check and npm run test:helper. Use Node.js 22+ and Python.</a:t>
            </a:r>
          </a:p>
        </p:txBody>
      </p:sp>
      <p:sp>
        <p:nvSpPr>
          <p:cNvPr id="4" name="">
            <a:extLst xmlns:a="http://schemas.openxmlformats.org/drawingml/2006/main">
              <a:ext uri="{FF2B5EF4-FFF2-40B4-BE49-F238E27FC236}">
                <a16:creationId xmlns:a16="http://schemas.microsoft.com/office/drawing/2014/main" id="{A9FD5195-9234-4CE7-BCB9-D46AF18DF4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Push the repaired source. Wait for Ubuntu, Windows and macOS CI to pass.</a:t>
            </a:r>
          </a:p>
        </p:txBody>
      </p:sp>
      <p:sp>
        <p:nvSpPr>
          <p:cNvPr id="5" name="">
            <a:extLst xmlns:a="http://schemas.openxmlformats.org/drawingml/2006/main">
              <a:ext uri="{FF2B5EF4-FFF2-40B4-BE49-F238E27FC236}">
                <a16:creationId xmlns:a16="http://schemas.microsoft.com/office/drawing/2014/main" id="{41DE0717-2035-49AA-9F39-A172F65B24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Test downloaded assets in Obsidian and record exact OS/app versions.</a:t>
            </a:r>
          </a:p>
        </p:txBody>
      </p:sp>
      <p:sp>
        <p:nvSpPr>
          <p:cNvPr id="6" name="">
            <a:extLst xmlns:a="http://schemas.openxmlformats.org/drawingml/2006/main">
              <a:ext uri="{FF2B5EF4-FFF2-40B4-BE49-F238E27FC236}">
                <a16:creationId xmlns:a16="http://schemas.microsoft.com/office/drawing/2014/main" id="{CF609F5A-85D7-47F7-912F-A976A34CCC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38018F1F-8748-4D4F-8094-E40585F22D5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37</a:t>
            </a:r>
          </a:p>
        </p:txBody>
      </p:sp>
    </p:spTree>
    <p:extLst>
      <p:ext uri="{BB962C8B-B14F-4D97-AF65-F5344CB8AC3E}">
        <p14:creationId xmlns:p14="http://schemas.microsoft.com/office/powerpoint/2010/main" val="870038696"/>
      </p:ext>
    </p:extLst>
  </p:cSld>
</p:sld>
</file>

<file path=ppt/slides/slide3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A777C3-A4AE-42E4-BDED-1FA6F0B32E5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retrying submission</a:t>
            </a:r>
          </a:p>
        </p:txBody>
      </p:sp>
      <p:sp>
        <p:nvSpPr>
          <p:cNvPr id="2" name="">
            <a:extLst xmlns:a="http://schemas.openxmlformats.org/drawingml/2006/main">
              <a:ext uri="{FF2B5EF4-FFF2-40B4-BE49-F238E27FC236}">
                <a16:creationId xmlns:a16="http://schemas.microsoft.com/office/drawing/2014/main" id="{85A30F59-6564-4FB1-8311-5503FE592CD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Commit manifest.json with the new ID, exact requested name and version 1.1.4.</a:t>
            </a:r>
          </a:p>
        </p:txBody>
      </p:sp>
      <p:sp>
        <p:nvSpPr>
          <p:cNvPr id="3" name="">
            <a:extLst xmlns:a="http://schemas.openxmlformats.org/drawingml/2006/main">
              <a:ext uri="{FF2B5EF4-FFF2-40B4-BE49-F238E27FC236}">
                <a16:creationId xmlns:a16="http://schemas.microsoft.com/office/drawing/2014/main" id="{512FE2D3-903F-4239-9660-7847F589953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Publish tag 1.1.4 with main.js, manifest.json and styles.css attached individually.</a:t>
            </a:r>
          </a:p>
        </p:txBody>
      </p:sp>
      <p:sp>
        <p:nvSpPr>
          <p:cNvPr id="4" name="">
            <a:extLst xmlns:a="http://schemas.openxmlformats.org/drawingml/2006/main">
              <a:ext uri="{FF2B5EF4-FFF2-40B4-BE49-F238E27FC236}">
                <a16:creationId xmlns:a16="http://schemas.microsoft.com/office/drawing/2014/main" id="{276C6C1D-24EB-4C45-A7F0-118C7C02849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Retry the rejected initial submission at community.obsidian.md.</a:t>
            </a:r>
          </a:p>
        </p:txBody>
      </p:sp>
      <p:sp>
        <p:nvSpPr>
          <p:cNvPr id="5" name="">
            <a:extLst xmlns:a="http://schemas.openxmlformats.org/drawingml/2006/main">
              <a:ext uri="{FF2B5EF4-FFF2-40B4-BE49-F238E27FC236}">
                <a16:creationId xmlns:a16="http://schemas.microsoft.com/office/drawing/2014/main" id="{3E550686-513E-4E5E-A1F2-A7930E2A937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Resolve review findings, publish the listing, then test installation from Community plugins.</a:t>
            </a:r>
          </a:p>
        </p:txBody>
      </p:sp>
      <p:sp>
        <p:nvSpPr>
          <p:cNvPr id="6" name="">
            <a:extLst xmlns:a="http://schemas.openxmlformats.org/drawingml/2006/main">
              <a:ext uri="{FF2B5EF4-FFF2-40B4-BE49-F238E27FC236}">
                <a16:creationId xmlns:a16="http://schemas.microsoft.com/office/drawing/2014/main" id="{D4E281EE-2599-4DA4-BC7C-66A58034E45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157A1A35-8F75-4155-A265-0E75177ACC3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38</a:t>
            </a:r>
          </a:p>
        </p:txBody>
      </p:sp>
    </p:spTree>
    <p:extLst>
      <p:ext uri="{BB962C8B-B14F-4D97-AF65-F5344CB8AC3E}">
        <p14:creationId xmlns:p14="http://schemas.microsoft.com/office/powerpoint/2010/main" val="1623824042"/>
      </p:ext>
    </p:extLst>
  </p:cSld>
</p:sld>
</file>

<file path=ppt/slides/slide3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4F0C14D-AC50-4823-B7A9-05FEA26744A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Fixing the npm download failure</a:t>
            </a:r>
          </a:p>
        </p:txBody>
      </p:sp>
      <p:sp>
        <p:nvSpPr>
          <p:cNvPr id="2" name="">
            <a:extLst xmlns:a="http://schemas.openxmlformats.org/drawingml/2006/main">
              <a:ext uri="{FF2B5EF4-FFF2-40B4-BE49-F238E27FC236}">
                <a16:creationId xmlns:a16="http://schemas.microsoft.com/office/drawing/2014/main" id="{2710934A-2E9A-4126-BAF6-FE419870A962}"/>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All three reported jobs fetched unavailable which-typed-array 1.1.34.</a:t>
            </a:r>
          </a:p>
        </p:txBody>
      </p:sp>
      <p:sp>
        <p:nvSpPr>
          <p:cNvPr id="3" name="">
            <a:extLst xmlns:a="http://schemas.openxmlformats.org/drawingml/2006/main">
              <a:ext uri="{FF2B5EF4-FFF2-40B4-BE49-F238E27FC236}">
                <a16:creationId xmlns:a16="http://schemas.microsoft.com/office/drawing/2014/main" id="{7F001E33-58F3-4960-A4B2-4FA86B42CA7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Upload the repaired root package-lock.json; it resolves version 1.1.24.</a:t>
            </a:r>
          </a:p>
        </p:txBody>
      </p:sp>
      <p:sp>
        <p:nvSpPr>
          <p:cNvPr id="4" name="">
            <a:extLst xmlns:a="http://schemas.openxmlformats.org/drawingml/2006/main">
              <a:ext uri="{FF2B5EF4-FFF2-40B4-BE49-F238E27FC236}">
                <a16:creationId xmlns:a16="http://schemas.microsoft.com/office/drawing/2014/main" id="{206F3415-1E64-495C-914C-3B102142F58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the NEW commit. Re-running the old job reuses its old source.</a:t>
            </a:r>
          </a:p>
        </p:txBody>
      </p:sp>
      <p:sp>
        <p:nvSpPr>
          <p:cNvPr id="5" name="">
            <a:extLst xmlns:a="http://schemas.openxmlformats.org/drawingml/2006/main">
              <a:ext uri="{FF2B5EF4-FFF2-40B4-BE49-F238E27FC236}">
                <a16:creationId xmlns:a16="http://schemas.microsoft.com/office/drawing/2014/main" id="{06EA9581-9CC6-4DA8-895B-7CB3E28725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Check the preflight commit and lockfile digest in every operating-system job.</a:t>
            </a:r>
          </a:p>
        </p:txBody>
      </p:sp>
      <p:sp>
        <p:nvSpPr>
          <p:cNvPr id="6" name="">
            <a:extLst xmlns:a="http://schemas.openxmlformats.org/drawingml/2006/main">
              <a:ext uri="{FF2B5EF4-FFF2-40B4-BE49-F238E27FC236}">
                <a16:creationId xmlns:a16="http://schemas.microsoft.com/office/drawing/2014/main" id="{0DF54007-CB05-4977-A0D5-82A86551F48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A6268A78-1966-4FA3-BBC3-2DF0529BC9E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39</a:t>
            </a:r>
          </a:p>
        </p:txBody>
      </p:sp>
    </p:spTree>
    <p:extLst>
      <p:ext uri="{BB962C8B-B14F-4D97-AF65-F5344CB8AC3E}">
        <p14:creationId xmlns:p14="http://schemas.microsoft.com/office/powerpoint/2010/main" val="1387818242"/>
      </p:ext>
    </p:extLst>
  </p:cSld>
</p:sld>
</file>

<file path=ppt/slides/slide4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2EFAC1-7839-436A-9A4C-54BABB017259}"/>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Reference files</a:t>
            </a:r>
          </a:p>
        </p:txBody>
      </p:sp>
      <p:sp>
        <p:nvSpPr>
          <p:cNvPr id="2" name="">
            <a:extLst xmlns:a="http://schemas.openxmlformats.org/drawingml/2006/main">
              <a:ext uri="{FF2B5EF4-FFF2-40B4-BE49-F238E27FC236}">
                <a16:creationId xmlns:a16="http://schemas.microsoft.com/office/drawing/2014/main" id="{37BCEE62-9B03-4A95-8034-C5C5EE7D562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docs/INSTALL-DOWNLOAD.md: installation on every target platform.</a:t>
            </a:r>
          </a:p>
        </p:txBody>
      </p:sp>
      <p:sp>
        <p:nvSpPr>
          <p:cNvPr id="3" name="">
            <a:extLst xmlns:a="http://schemas.openxmlformats.org/drawingml/2006/main">
              <a:ext uri="{FF2B5EF4-FFF2-40B4-BE49-F238E27FC236}">
                <a16:creationId xmlns:a16="http://schemas.microsoft.com/office/drawing/2014/main" id="{28071F0C-E3F9-4AA2-8540-5EE38AC0E16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docs/MIGRATION-1.1.3.md: existing settings, history, Sync and rollback.</a:t>
            </a:r>
          </a:p>
        </p:txBody>
      </p:sp>
      <p:sp>
        <p:nvSpPr>
          <p:cNvPr id="4" name="">
            <a:extLst xmlns:a="http://schemas.openxmlformats.org/drawingml/2006/main">
              <a:ext uri="{FF2B5EF4-FFF2-40B4-BE49-F238E27FC236}">
                <a16:creationId xmlns:a16="http://schemas.microsoft.com/office/drawing/2014/main" id="{917CFD41-94AA-4DDB-AE7C-5C10191ACB1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docs/GITHUB-AND-COMMUNITY-RELEASE.md: testing and submission.</a:t>
            </a:r>
          </a:p>
        </p:txBody>
      </p:sp>
      <p:sp>
        <p:nvSpPr>
          <p:cNvPr id="5" name="">
            <a:extLst xmlns:a="http://schemas.openxmlformats.org/drawingml/2006/main">
              <a:ext uri="{FF2B5EF4-FFF2-40B4-BE49-F238E27FC236}">
                <a16:creationId xmlns:a16="http://schemas.microsoft.com/office/drawing/2014/main" id="{65BDBBAE-99C3-489E-BB1D-CDDD178D630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docs/DESIGN-DECISIONS.md: questions, answers and final design.</a:t>
            </a:r>
          </a:p>
        </p:txBody>
      </p:sp>
      <p:sp>
        <p:nvSpPr>
          <p:cNvPr id="6" name="">
            <a:extLst xmlns:a="http://schemas.openxmlformats.org/drawingml/2006/main">
              <a:ext uri="{FF2B5EF4-FFF2-40B4-BE49-F238E27FC236}">
                <a16:creationId xmlns:a16="http://schemas.microsoft.com/office/drawing/2014/main" id="{3188D099-E19B-472E-B859-47E4E86BFF4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1.1.4</a:t>
            </a:r>
          </a:p>
        </p:txBody>
      </p:sp>
      <p:sp>
        <p:nvSpPr>
          <p:cNvPr id="7" name="">
            <a:extLst xmlns:a="http://schemas.openxmlformats.org/drawingml/2006/main">
              <a:ext uri="{FF2B5EF4-FFF2-40B4-BE49-F238E27FC236}">
                <a16:creationId xmlns:a16="http://schemas.microsoft.com/office/drawing/2014/main" id="{B85461A2-8364-44C1-A271-F6128655B14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40</a:t>
            </a:r>
          </a:p>
        </p:txBody>
      </p:sp>
    </p:spTree>
    <p:extLst>
      <p:ext uri="{BB962C8B-B14F-4D97-AF65-F5344CB8AC3E}">
        <p14:creationId xmlns:p14="http://schemas.microsoft.com/office/powerpoint/2010/main" val="10081743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2026-10-23T18:39:02.1950000Z</dcterms:created>
  <dcterms:modified xsi:type="dcterms:W3CDTF">2026-10-23T18:39:02.1950000Z</dcterms:modified>
</coreProperties>
</file>