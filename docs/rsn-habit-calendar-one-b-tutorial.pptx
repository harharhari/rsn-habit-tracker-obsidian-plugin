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84a5182e614269" /><Relationship Type="http://schemas.openxmlformats.org/officeDocument/2006/relationships/extended-properties" Target="/docProps/app.xml" Id="R7a5b28e99d844b28" /><Relationship Type="http://schemas.openxmlformats.org/officeDocument/2006/relationships/officeDocument" Target="/ppt/presentation.xml" Id="Ref349a0af1534be4" /></Relationships>
</file>

<file path=ppt/presentation.xml><?xml version="1.0" encoding="utf-8"?>
<p:presentation xmlns:p="http://schemas.openxmlformats.org/presentationml/2006/main">
  <p:sldMasterIdLst>
    <p:sldMasterId xmlns:r="http://schemas.openxmlformats.org/officeDocument/2006/relationships" id="2147483648" r:id="Rc1351333ae7f4cae"/>
  </p:sldMasterIdLst>
  <p:notesMasterIdLst>
    <p:notesMasterId xmlns:r="http://schemas.openxmlformats.org/officeDocument/2006/relationships" r:id="R3c358042588349c9"/>
  </p:notesMasterIdLst>
  <p:sldIdLst>
    <p:sldId xmlns:r="http://schemas.openxmlformats.org/officeDocument/2006/relationships" id="256" r:id="R0e4567e48cb44a17"/>
    <p:sldId xmlns:r="http://schemas.openxmlformats.org/officeDocument/2006/relationships" id="257" r:id="Rb602fea22b3d4ca7"/>
    <p:sldId xmlns:r="http://schemas.openxmlformats.org/officeDocument/2006/relationships" id="258" r:id="R8b32e64298dd40b3"/>
    <p:sldId xmlns:r="http://schemas.openxmlformats.org/officeDocument/2006/relationships" id="259" r:id="Rda8ec09ad5604f86"/>
    <p:sldId xmlns:r="http://schemas.openxmlformats.org/officeDocument/2006/relationships" id="260" r:id="R8ba49d7b93ef42c3"/>
    <p:sldId xmlns:r="http://schemas.openxmlformats.org/officeDocument/2006/relationships" id="261" r:id="R4ef40d27b8414f79"/>
    <p:sldId xmlns:r="http://schemas.openxmlformats.org/officeDocument/2006/relationships" id="262" r:id="R34f66fe93f734fb0"/>
    <p:sldId xmlns:r="http://schemas.openxmlformats.org/officeDocument/2006/relationships" id="263" r:id="R31cda5febe614303"/>
    <p:sldId xmlns:r="http://schemas.openxmlformats.org/officeDocument/2006/relationships" id="264" r:id="R686061c2918e4deb"/>
    <p:sldId xmlns:r="http://schemas.openxmlformats.org/officeDocument/2006/relationships" id="265" r:id="Rd5f224a3ef2b4400"/>
    <p:sldId xmlns:r="http://schemas.openxmlformats.org/officeDocument/2006/relationships" id="266" r:id="R2f1011e98d474fbb"/>
    <p:sldId xmlns:r="http://schemas.openxmlformats.org/officeDocument/2006/relationships" id="267" r:id="Rb8efce79d4e64844"/>
    <p:sldId xmlns:r="http://schemas.openxmlformats.org/officeDocument/2006/relationships" id="268" r:id="Rfa6fcf5e7559407b"/>
    <p:sldId xmlns:r="http://schemas.openxmlformats.org/officeDocument/2006/relationships" id="269" r:id="R33e43a148c394bab"/>
    <p:sldId xmlns:r="http://schemas.openxmlformats.org/officeDocument/2006/relationships" id="270" r:id="Rd1747f74055f4be9"/>
    <p:sldId xmlns:r="http://schemas.openxmlformats.org/officeDocument/2006/relationships" id="271" r:id="Rc30be0c0f85f4ffd"/>
    <p:sldId xmlns:r="http://schemas.openxmlformats.org/officeDocument/2006/relationships" id="272" r:id="R64c04ae460e44029"/>
    <p:sldId xmlns:r="http://schemas.openxmlformats.org/officeDocument/2006/relationships" id="273" r:id="R0176bd5b23444469"/>
    <p:sldId xmlns:r="http://schemas.openxmlformats.org/officeDocument/2006/relationships" id="274" r:id="Rc5c75ef89d814ec9"/>
    <p:sldId xmlns:r="http://schemas.openxmlformats.org/officeDocument/2006/relationships" id="275" r:id="R822c9122a7e144d4"/>
    <p:sldId xmlns:r="http://schemas.openxmlformats.org/officeDocument/2006/relationships" id="276" r:id="R0e817568734e4c8e"/>
    <p:sldId xmlns:r="http://schemas.openxmlformats.org/officeDocument/2006/relationships" id="277" r:id="R5ea2c938455944a2"/>
    <p:sldId xmlns:r="http://schemas.openxmlformats.org/officeDocument/2006/relationships" id="278" r:id="Rb6fc427840054751"/>
    <p:sldId xmlns:r="http://schemas.openxmlformats.org/officeDocument/2006/relationships" id="279" r:id="Ra90130c1d73a4078"/>
    <p:sldId xmlns:r="http://schemas.openxmlformats.org/officeDocument/2006/relationships" id="280" r:id="Re5f5b3c9d08a433b"/>
    <p:sldId xmlns:r="http://schemas.openxmlformats.org/officeDocument/2006/relationships" id="281" r:id="R0dc3d6d5cbeb4e78"/>
    <p:sldId xmlns:r="http://schemas.openxmlformats.org/officeDocument/2006/relationships" id="282" r:id="R1fa86ce8b2444e21"/>
    <p:sldId xmlns:r="http://schemas.openxmlformats.org/officeDocument/2006/relationships" id="283" r:id="R820eed6bf541416a"/>
    <p:sldId xmlns:r="http://schemas.openxmlformats.org/officeDocument/2006/relationships" id="284" r:id="R86eb4b4b3216459f"/>
    <p:sldId xmlns:r="http://schemas.openxmlformats.org/officeDocument/2006/relationships" id="285" r:id="R71382fbd53454341"/>
    <p:sldId xmlns:r="http://schemas.openxmlformats.org/officeDocument/2006/relationships" id="286" r:id="R1be2c1ec59a6421b"/>
    <p:sldId xmlns:r="http://schemas.openxmlformats.org/officeDocument/2006/relationships" id="287" r:id="R87cc883826974fef"/>
    <p:sldId xmlns:r="http://schemas.openxmlformats.org/officeDocument/2006/relationships" id="288" r:id="R163f7ea52aea4b38"/>
    <p:sldId xmlns:r="http://schemas.openxmlformats.org/officeDocument/2006/relationships" id="289" r:id="Rcbb0cc5e0b2749c4"/>
    <p:sldId xmlns:r="http://schemas.openxmlformats.org/officeDocument/2006/relationships" id="290" r:id="R5d2abbbf41d24a96"/>
    <p:sldId xmlns:r="http://schemas.openxmlformats.org/officeDocument/2006/relationships" id="291" r:id="R634ed211faa541c9"/>
    <p:sldId xmlns:r="http://schemas.openxmlformats.org/officeDocument/2006/relationships" id="292" r:id="Re403431c237440d6"/>
    <p:sldId xmlns:r="http://schemas.openxmlformats.org/officeDocument/2006/relationships" id="293" r:id="R98a54b76437440c9"/>
    <p:sldId xmlns:r="http://schemas.openxmlformats.org/officeDocument/2006/relationships" id="294" r:id="R993164f2c820463c"/>
    <p:sldId xmlns:r="http://schemas.openxmlformats.org/officeDocument/2006/relationships" id="295" r:id="Rbc4cee1919c7460e"/>
    <p:sldId xmlns:r="http://schemas.openxmlformats.org/officeDocument/2006/relationships" id="296" r:id="R398fe2f7e6d54f65"/>
    <p:sldId xmlns:r="http://schemas.openxmlformats.org/officeDocument/2006/relationships" id="297" r:id="Rf84956a05d934b15"/>
    <p:sldId xmlns:r="http://schemas.openxmlformats.org/officeDocument/2006/relationships" id="298" r:id="R6be297d63f124b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e96f1c584c4fac" /><Relationship Type="http://schemas.openxmlformats.org/officeDocument/2006/relationships/slideMaster" Target="/ppt/slideMasters/slideMaster1.xml" Id="Rc1351333ae7f4cae" /><Relationship Type="http://schemas.openxmlformats.org/officeDocument/2006/relationships/notesMaster" Target="/ppt/notesMasters/notesMaster1.xml" Id="R3c358042588349c9" /><Relationship Type="http://schemas.openxmlformats.org/officeDocument/2006/relationships/presProps" Target="/ppt/presProps.xml" Id="Rada2750c5874455d" /><Relationship Type="http://schemas.openxmlformats.org/officeDocument/2006/relationships/tableStyles" Target="/ppt/tableStyles.xml" Id="R42bcb0f9c63c40c7" /><Relationship Type="http://schemas.openxmlformats.org/officeDocument/2006/relationships/slide" Target="/ppt/slides/slide1.xml" Id="R0e4567e48cb44a17" /><Relationship Type="http://schemas.openxmlformats.org/officeDocument/2006/relationships/slide" Target="/ppt/slides/slide2.xml" Id="Rb602fea22b3d4ca7" /><Relationship Type="http://schemas.openxmlformats.org/officeDocument/2006/relationships/slide" Target="/ppt/slides/slide3.xml" Id="R8b32e64298dd40b3" /><Relationship Type="http://schemas.openxmlformats.org/officeDocument/2006/relationships/slide" Target="/ppt/slides/slide4.xml" Id="Rda8ec09ad5604f86" /><Relationship Type="http://schemas.openxmlformats.org/officeDocument/2006/relationships/slide" Target="/ppt/slides/slide5.xml" Id="R8ba49d7b93ef42c3" /><Relationship Type="http://schemas.openxmlformats.org/officeDocument/2006/relationships/slide" Target="/ppt/slides/slide6.xml" Id="R4ef40d27b8414f79" /><Relationship Type="http://schemas.openxmlformats.org/officeDocument/2006/relationships/slide" Target="/ppt/slides/slide7.xml" Id="R34f66fe93f734fb0" /><Relationship Type="http://schemas.openxmlformats.org/officeDocument/2006/relationships/slide" Target="/ppt/slides/slide8.xml" Id="R31cda5febe614303" /><Relationship Type="http://schemas.openxmlformats.org/officeDocument/2006/relationships/slide" Target="/ppt/slides/slide9.xml" Id="R686061c2918e4deb" /><Relationship Type="http://schemas.openxmlformats.org/officeDocument/2006/relationships/slide" Target="/ppt/slides/slide10.xml" Id="Rd5f224a3ef2b4400" /><Relationship Type="http://schemas.openxmlformats.org/officeDocument/2006/relationships/slide" Target="/ppt/slides/slide11.xml" Id="R2f1011e98d474fbb" /><Relationship Type="http://schemas.openxmlformats.org/officeDocument/2006/relationships/slide" Target="/ppt/slides/slide12.xml" Id="Rb8efce79d4e64844" /><Relationship Type="http://schemas.openxmlformats.org/officeDocument/2006/relationships/slide" Target="/ppt/slides/slide13.xml" Id="Rfa6fcf5e7559407b" /><Relationship Type="http://schemas.openxmlformats.org/officeDocument/2006/relationships/slide" Target="/ppt/slides/slide14.xml" Id="R33e43a148c394bab" /><Relationship Type="http://schemas.openxmlformats.org/officeDocument/2006/relationships/slide" Target="/ppt/slides/slide15.xml" Id="Rd1747f74055f4be9" /><Relationship Type="http://schemas.openxmlformats.org/officeDocument/2006/relationships/slide" Target="/ppt/slides/slide16.xml" Id="Rc30be0c0f85f4ffd" /><Relationship Type="http://schemas.openxmlformats.org/officeDocument/2006/relationships/slide" Target="/ppt/slides/slide17.xml" Id="R64c04ae460e44029" /><Relationship Type="http://schemas.openxmlformats.org/officeDocument/2006/relationships/slide" Target="/ppt/slides/slide18.xml" Id="R0176bd5b23444469" /><Relationship Type="http://schemas.openxmlformats.org/officeDocument/2006/relationships/slide" Target="/ppt/slides/slide19.xml" Id="Rc5c75ef89d814ec9" /><Relationship Type="http://schemas.openxmlformats.org/officeDocument/2006/relationships/slide" Target="/ppt/slides/slide20.xml" Id="R822c9122a7e144d4" /><Relationship Type="http://schemas.openxmlformats.org/officeDocument/2006/relationships/slide" Target="/ppt/slides/slide21.xml" Id="R0e817568734e4c8e" /><Relationship Type="http://schemas.openxmlformats.org/officeDocument/2006/relationships/slide" Target="/ppt/slides/slide22.xml" Id="R5ea2c938455944a2" /><Relationship Type="http://schemas.openxmlformats.org/officeDocument/2006/relationships/slide" Target="/ppt/slides/slide23.xml" Id="Rb6fc427840054751" /><Relationship Type="http://schemas.openxmlformats.org/officeDocument/2006/relationships/slide" Target="/ppt/slides/slide24.xml" Id="Ra90130c1d73a4078" /><Relationship Type="http://schemas.openxmlformats.org/officeDocument/2006/relationships/slide" Target="/ppt/slides/slide25.xml" Id="Re5f5b3c9d08a433b" /><Relationship Type="http://schemas.openxmlformats.org/officeDocument/2006/relationships/slide" Target="/ppt/slides/slide26.xml" Id="R0dc3d6d5cbeb4e78" /><Relationship Type="http://schemas.openxmlformats.org/officeDocument/2006/relationships/slide" Target="/ppt/slides/slide27.xml" Id="R1fa86ce8b2444e21" /><Relationship Type="http://schemas.openxmlformats.org/officeDocument/2006/relationships/slide" Target="/ppt/slides/slide28.xml" Id="R820eed6bf541416a" /><Relationship Type="http://schemas.openxmlformats.org/officeDocument/2006/relationships/slide" Target="/ppt/slides/slide29.xml" Id="R86eb4b4b3216459f" /><Relationship Type="http://schemas.openxmlformats.org/officeDocument/2006/relationships/slide" Target="/ppt/slides/slide30.xml" Id="R71382fbd53454341" /><Relationship Type="http://schemas.openxmlformats.org/officeDocument/2006/relationships/slide" Target="/ppt/slides/slide31.xml" Id="R1be2c1ec59a6421b" /><Relationship Type="http://schemas.openxmlformats.org/officeDocument/2006/relationships/slide" Target="/ppt/slides/slide32.xml" Id="R87cc883826974fef" /><Relationship Type="http://schemas.openxmlformats.org/officeDocument/2006/relationships/slide" Target="/ppt/slides/slide33.xml" Id="R163f7ea52aea4b38" /><Relationship Type="http://schemas.openxmlformats.org/officeDocument/2006/relationships/slide" Target="/ppt/slides/slide34.xml" Id="Rcbb0cc5e0b2749c4" /><Relationship Type="http://schemas.openxmlformats.org/officeDocument/2006/relationships/slide" Target="/ppt/slides/slide35.xml" Id="R5d2abbbf41d24a96" /><Relationship Type="http://schemas.openxmlformats.org/officeDocument/2006/relationships/slide" Target="/ppt/slides/slide36.xml" Id="R634ed211faa541c9" /><Relationship Type="http://schemas.openxmlformats.org/officeDocument/2006/relationships/slide" Target="/ppt/slides/slide37.xml" Id="Re403431c237440d6" /><Relationship Type="http://schemas.openxmlformats.org/officeDocument/2006/relationships/slide" Target="/ppt/slides/slide38.xml" Id="R98a54b76437440c9" /><Relationship Type="http://schemas.openxmlformats.org/officeDocument/2006/relationships/slide" Target="/ppt/slides/slide39.xml" Id="R993164f2c820463c" /><Relationship Type="http://schemas.openxmlformats.org/officeDocument/2006/relationships/slide" Target="/ppt/slides/slide40.xml" Id="Rbc4cee1919c7460e" /><Relationship Type="http://schemas.openxmlformats.org/officeDocument/2006/relationships/slide" Target="/ppt/slides/slide41.xml" Id="R398fe2f7e6d54f65" /><Relationship Type="http://schemas.openxmlformats.org/officeDocument/2006/relationships/slide" Target="/ppt/slides/slide42.xml" Id="Rf84956a05d934b15" /><Relationship Type="http://schemas.openxmlformats.org/officeDocument/2006/relationships/slide" Target="/ppt/slides/slide43.xml" Id="R6be297d63f124b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0b881d5c6142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2a7a7ccf504ea7" /><Relationship Type="http://schemas.openxmlformats.org/officeDocument/2006/relationships/notesMaster" Target="/ppt/notesMasters/notesMaster1.xml" Id="R76733a8a147c47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1c82cb294545a2" /><Relationship Type="http://schemas.openxmlformats.org/officeDocument/2006/relationships/notesMaster" Target="/ppt/notesMasters/notesMaster1.xml" Id="R0b277a163bb341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f44640f64148d1" /><Relationship Type="http://schemas.openxmlformats.org/officeDocument/2006/relationships/notesMaster" Target="/ppt/notesMasters/notesMaster1.xml" Id="Rc5b4b0d4dd9f4a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f37645fda14a44" /><Relationship Type="http://schemas.openxmlformats.org/officeDocument/2006/relationships/notesMaster" Target="/ppt/notesMasters/notesMaster1.xml" Id="R24ca73cb2c7644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d66af967fc44b6" /><Relationship Type="http://schemas.openxmlformats.org/officeDocument/2006/relationships/notesMaster" Target="/ppt/notesMasters/notesMaster1.xml" Id="Rcb0d0d512d314a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74431bf61c4ec7" /><Relationship Type="http://schemas.openxmlformats.org/officeDocument/2006/relationships/notesMaster" Target="/ppt/notesMasters/notesMaster1.xml" Id="Rda1c9efc95a844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2f4b947ef54c1a" /><Relationship Type="http://schemas.openxmlformats.org/officeDocument/2006/relationships/notesMaster" Target="/ppt/notesMasters/notesMaster1.xml" Id="Rdcad4fc031c247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916e7082a44ed7" /><Relationship Type="http://schemas.openxmlformats.org/officeDocument/2006/relationships/notesMaster" Target="/ppt/notesMasters/notesMaster1.xml" Id="R0b2963f89c5b403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ce03161b9f4829" /><Relationship Type="http://schemas.openxmlformats.org/officeDocument/2006/relationships/notesMaster" Target="/ppt/notesMasters/notesMaster1.xml" Id="Radcda5f9bc5c4a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feb7aa8ab674176" /><Relationship Type="http://schemas.openxmlformats.org/officeDocument/2006/relationships/notesMaster" Target="/ppt/notesMasters/notesMaster1.xml" Id="R10c5509948fe40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14250ce4314bc1" /><Relationship Type="http://schemas.openxmlformats.org/officeDocument/2006/relationships/notesMaster" Target="/ppt/notesMasters/notesMaster1.xml" Id="R0d5da727cafa47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31bc4a3444e4153" /><Relationship Type="http://schemas.openxmlformats.org/officeDocument/2006/relationships/notesMaster" Target="/ppt/notesMasters/notesMaster1.xml" Id="Ra5a639f5621b43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625a0003cf4a0f" /><Relationship Type="http://schemas.openxmlformats.org/officeDocument/2006/relationships/notesMaster" Target="/ppt/notesMasters/notesMaster1.xml" Id="R47a6b608c19d450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9bc14c48c240cb" /><Relationship Type="http://schemas.openxmlformats.org/officeDocument/2006/relationships/notesMaster" Target="/ppt/notesMasters/notesMaster1.xml" Id="Ra144f8333c7e4d0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4c9d07f11e84e32" /><Relationship Type="http://schemas.openxmlformats.org/officeDocument/2006/relationships/notesMaster" Target="/ppt/notesMasters/notesMaster1.xml" Id="Rfc38fe8de59146e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2ab9026df0a4bd2" /><Relationship Type="http://schemas.openxmlformats.org/officeDocument/2006/relationships/notesMaster" Target="/ppt/notesMasters/notesMaster1.xml" Id="R203b68a77032471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81518de14bc4232" /><Relationship Type="http://schemas.openxmlformats.org/officeDocument/2006/relationships/notesMaster" Target="/ppt/notesMasters/notesMaster1.xml" Id="Rcddd0569b2214b2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a0a9ac128654d71" /><Relationship Type="http://schemas.openxmlformats.org/officeDocument/2006/relationships/notesMaster" Target="/ppt/notesMasters/notesMaster1.xml" Id="Rf329bbdd53b04cf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e8d4e43a4fa42bb" /><Relationship Type="http://schemas.openxmlformats.org/officeDocument/2006/relationships/notesMaster" Target="/ppt/notesMasters/notesMaster1.xml" Id="Rfa6de63341324ff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968bf9e7bc4efd" /><Relationship Type="http://schemas.openxmlformats.org/officeDocument/2006/relationships/notesMaster" Target="/ppt/notesMasters/notesMaster1.xml" Id="Rd72b7a7f44224ea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70e5ebb6092490d" /><Relationship Type="http://schemas.openxmlformats.org/officeDocument/2006/relationships/notesMaster" Target="/ppt/notesMasters/notesMaster1.xml" Id="R00f8ec1137a345b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213d9b7ce094033" /><Relationship Type="http://schemas.openxmlformats.org/officeDocument/2006/relationships/notesMaster" Target="/ppt/notesMasters/notesMaster1.xml" Id="R5fbd15c9c96c4ee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683472a3328476a" /><Relationship Type="http://schemas.openxmlformats.org/officeDocument/2006/relationships/notesMaster" Target="/ppt/notesMasters/notesMaster1.xml" Id="Ra16227404f3d4a5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5c932cb065a4850" /><Relationship Type="http://schemas.openxmlformats.org/officeDocument/2006/relationships/notesMaster" Target="/ppt/notesMasters/notesMaster1.xml" Id="R1ac31b3214594c4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4adf606aa904c3b" /><Relationship Type="http://schemas.openxmlformats.org/officeDocument/2006/relationships/notesMaster" Target="/ppt/notesMasters/notesMaster1.xml" Id="Rd0e575718e384b3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bce626ad2cc4ce6" /><Relationship Type="http://schemas.openxmlformats.org/officeDocument/2006/relationships/notesMaster" Target="/ppt/notesMasters/notesMaster1.xml" Id="Re553687f75c64d8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525683e35ed4ffb" /><Relationship Type="http://schemas.openxmlformats.org/officeDocument/2006/relationships/notesMaster" Target="/ppt/notesMasters/notesMaster1.xml" Id="Rabab3ca4fe8f413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e59b8e301f24d57" /><Relationship Type="http://schemas.openxmlformats.org/officeDocument/2006/relationships/notesMaster" Target="/ppt/notesMasters/notesMaster1.xml" Id="R08a0421ceda3415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1fb71d7d4ab451f" /><Relationship Type="http://schemas.openxmlformats.org/officeDocument/2006/relationships/notesMaster" Target="/ppt/notesMasters/notesMaster1.xml" Id="R493aa55a1fbf459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9ee62b1b7e94265" /><Relationship Type="http://schemas.openxmlformats.org/officeDocument/2006/relationships/notesMaster" Target="/ppt/notesMasters/notesMaster1.xml" Id="R1daea717ca2e43c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61b7d4a4957426c" /><Relationship Type="http://schemas.openxmlformats.org/officeDocument/2006/relationships/notesMaster" Target="/ppt/notesMasters/notesMaster1.xml" Id="R6d4b40994a4c458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664b1ad60504e3b" /><Relationship Type="http://schemas.openxmlformats.org/officeDocument/2006/relationships/notesMaster" Target="/ppt/notesMasters/notesMaster1.xml" Id="R6ce1b918dd484b6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a6ff3718fc0405b" /><Relationship Type="http://schemas.openxmlformats.org/officeDocument/2006/relationships/notesMaster" Target="/ppt/notesMasters/notesMaster1.xml" Id="Rbb9eccf237d3438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94531b006aa4982" /><Relationship Type="http://schemas.openxmlformats.org/officeDocument/2006/relationships/notesMaster" Target="/ppt/notesMasters/notesMaster1.xml" Id="R09383627c3ed46a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38334a337b6433c" /><Relationship Type="http://schemas.openxmlformats.org/officeDocument/2006/relationships/notesMaster" Target="/ppt/notesMasters/notesMaster1.xml" Id="Rbb73b313d0154d9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8f84f665dbd4980" /><Relationship Type="http://schemas.openxmlformats.org/officeDocument/2006/relationships/notesMaster" Target="/ppt/notesMasters/notesMaster1.xml" Id="R94a68837a85c4d0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59b19911193458b" /><Relationship Type="http://schemas.openxmlformats.org/officeDocument/2006/relationships/notesMaster" Target="/ppt/notesMasters/notesMaster1.xml" Id="Ra00c429da43243e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9e3988845ec499f" /><Relationship Type="http://schemas.openxmlformats.org/officeDocument/2006/relationships/notesMaster" Target="/ppt/notesMasters/notesMaster1.xml" Id="Re5c04b12beb1483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cbec4ae7cd14734" /><Relationship Type="http://schemas.openxmlformats.org/officeDocument/2006/relationships/notesMaster" Target="/ppt/notesMasters/notesMaster1.xml" Id="Rcc56ac73819a438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f59b4554a324b41" /><Relationship Type="http://schemas.openxmlformats.org/officeDocument/2006/relationships/notesMaster" Target="/ppt/notesMasters/notesMaster1.xml" Id="Ra9052a9428cb496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c87bbd219174c8f" /><Relationship Type="http://schemas.openxmlformats.org/officeDocument/2006/relationships/notesMaster" Target="/ppt/notesMasters/notesMaster1.xml" Id="R6d34a50f133c41e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95d62f702074f8d" /><Relationship Type="http://schemas.openxmlformats.org/officeDocument/2006/relationships/notesMaster" Target="/ppt/notesMasters/notesMaster1.xml" Id="Ra002f0786c9b45d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1a9fe12390c4dc3" /><Relationship Type="http://schemas.openxmlformats.org/officeDocument/2006/relationships/notesMaster" Target="/ppt/notesMasters/notesMaster1.xml" Id="Re45d1109c91e46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disposable rsn-test-vault for all first-use exercises. This tutorial includes manual installation on both devices, optional Obsidian Sync and a maintainer publication appendix.</a:t>
            </a:r>
          </a:p>
          <a:p xmlns:a="http://schemas.openxmlformats.org/drawingml/2006/main">
            <a:r>
              <a:t>Plugin behaviour: version 1.1.5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Plugin behaviour: version 1.1.5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Browser-rendered example with mocked Obsidian APIs and generic habits. This is not an Ubuntu Obsidian screenshot.</a:t>
            </a:r>
          </a:p>
          <a:p xmlns:a="http://schemas.openxmlformats.org/drawingml/2006/main">
            <a:r>
              <a:t>Plugin behaviour: version 1.1.5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Browser-rendered phone viewport with mocked Obsidian APIs. This is not an actual mobile app screenshot. Native device acceptance for 1.1.5 remains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targets use the same plugin bundle. Latest means stable at testing time. Record exact device, OS and Obsidian versions. 1.1.1 was reported working on Ubuntu/Android. 1.1.5 native device acceptance remains pending. The manifest retains 1.7.2 as an API floor, not a tested-device claim. Official source: https://docs.obsidian.md/Plugins/Getting%20started/Build%20a%20plugin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docs/INSTALL-DOWNLOAD.md and docs/CHECKSUMS.md. Normal plugin use does not require GitHub CLI, npm or Python. The optional six-file manual kit is separate from Community release attachments.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docs/INSTALL-DOWNLOAD.md and docs/CHECKSUMS.md. Normal plugin use does not require GitHub CLI, npm or Python. Commands: gh attestation verify main.js --repo harharhari/rsn-habit-tracker-obsidian-plugin; repeat for manifest.json and styles.css. https://docs.github.com/en/actions/how-tos/secure-your-work/use-artifact-attestations/use-artifact-attestations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docs/INSTALL-DOWNLOAD.md and docs/CHECKSUMS.md. Normal plugin use does not require GitHub CLI, npm or Python. Place the three downloaded assets and the checksum file together. Expect three OK results. The optional manual kit has its own SHA256SUMS and five payloads. Stop on any mismatch.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docs/INSTALL-DOWNLOAD.md and docs/CHECKSUMS.md. Normal plugin use does not require GitHub CLI, npm or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complete command rsn habit calendar one b: Open current month. Calendar controls appear even when the habit list is empty. Restart after changing 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docs/INSTALL-DOWNLOAD.md and docs/CHECKSUMS.md. Normal plugin use does not require GitHub CLI, npm or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new installation starts with an empty editable habit table. Controls should appear even before calendars exist. The old Habit Calendar 001 must stay disabled when using the same data. Restart Obsidian after changing the manifest.</a:t>
            </a:r>
          </a:p>
          <a:p xmlns:a="http://schemas.openxmlformats.org/drawingml/2006/main">
            <a:r>
              <a:t>Official source: https://docs.obsidian.md/Plugins/Getting%20started/Build%20a%20plugin</a:t>
            </a:r>
          </a:p>
          <a:p xmlns:a="http://schemas.openxmlformats.org/drawingml/2006/main">
            <a:r>
              <a:t>Plugin behaviour: version 1.1.5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docs/INSTALL-DOWNLOAD.md and docs/CHECKSUMS.md. Normal plugin use does not require GitHub CLI, npm or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bundle supports all target platforms. Actual Mac acceptance remains pending. Use docs/PLATFORM-TESTING.md and record the exact OS and app versions.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location: Internal storage/Documents/Obsidian/rsn-test-vault. Actual names vary by phone. App-private storage is inaccessible to the ordinary manual file-copy workflow. Android may request file access for device storage. Do not uninstall Obsidian as an upgrade step.</a:t>
            </a:r>
          </a:p>
          <a:p xmlns:a="http://schemas.openxmlformats.org/drawingml/2006/main">
            <a:r>
              <a:t>Official source: https://obsidian.md/help/android</a:t>
            </a:r>
          </a:p>
          <a:p xmlns:a="http://schemas.openxmlformats.org/drawingml/2006/main">
            <a:r>
              <a:t>Plugin behaviour: version 1.1.5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docs/INSTALL-DOWNLOAD.md and docs/CHECKSUMS.md. Normal plugin use does not require GitHub CLI, npm or Python. Manual Android copying needs an accessible device-storage vault.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direct command opens the interactive view. If the plugin is absent, check the selected vault, folder nesting, hidden configuration folder and filenames. If the version is old, replace the correct files and restart. If no habits exist, continue to the habit-list exercise.</a:t>
            </a:r>
          </a:p>
          <a:p xmlns:a="http://schemas.openxmlformats.org/drawingml/2006/main">
            <a:r>
              <a:t>Plugin behaviour: version 1.1.5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Obsidian Sync is a separate optional paid service. The plugin does not provide sync. On every device configure Sync preferences separately. Official sources: https://help.obsidian.md/sync/settings and https://help.obsidian.md/sync-notes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an on-device local vault connected to Sync, not Store in iCloud. Verify the vault is linked to the same remote ID, not merely the same name. If a restart is needed, close and reopen the app without uninstalling it. Official sources: https://help.obsidian.md/ios and https://help.obsidian.md/sync/settings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separate Apple-only alternative. Do not add Obsidian Sync to the same vault. Keep downloaded where supported in Finder. Use the Obsidian app-created iCloud folder, not an unrelated folder with the same name. Official source: https://help.obsidian.md/sync-notes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docs/INSTALL-DOWNLOAD.md and docs/CHECKSUMS.md. Normal plugin use does not require GitHub CLI, npm or Python. Full path: .obsidian/plugins/rsn-habit-calendar-one-b/. The normal iOS Files app cannot reliably expose .obsidian; use Mac-assisted copying or Obsidian Sync. https://help.obsidian.md/sync-notes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Copy the complete starter table from examples/habit-tracker-list.md in the repository. Headers are Habit, Generate calendar, Header color. Edit in Source mode. The plugin inserts stable habit IDs; preserve them when renaming or moving existing rows.</a:t>
            </a:r>
          </a:p>
          <a:p xmlns:a="http://schemas.openxmlformats.org/drawingml/2006/main">
            <a:r>
              <a:t>Plugin behaviour: version 1.1.5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warning: “The current months entries will be overwritten and there would be loss of data”. Choose Yes for the new empty practice month. Later, never use Yes simply to troubleshoot a blank view. A color-only edit also resets all current marks when accepted. Closing the dialog behaves as No.</a:t>
            </a:r>
          </a:p>
          <a:p xmlns:a="http://schemas.openxmlformats.org/drawingml/2006/main">
            <a:r>
              <a:t>Plugin behaviour: version 1.1.5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dates are disabled. Previous months are read-only. No schedule runs in the background, and blank dates do not automatically become pink. Use the Statistics button to compare counts after restart.</a:t>
            </a:r>
          </a:p>
          <a:p xmlns:a="http://schemas.openxmlformats.org/drawingml/2006/main">
            <a:r>
              <a:t>Plugin behaviour: version 1.1.5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Source-mode row: | My lavender | #B8A9E8 | | . The editable vault reference has 147 CSS3 named colors. Its third column renders the actual shade. Applying a header-color change through the habit list requires the same destructive confirmation.</a:t>
            </a:r>
          </a:p>
          <a:p xmlns:a="http://schemas.openxmlformats.org/drawingml/2006/main">
            <a:r>
              <a:t>Plugin behaviour: version 1.1.5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No first, then Apply habit list and Yes in the disposable vault. Verify unchanged habits also lose current marks. The plugin saves a recovery snapshot under System/Backups but provides no one-click undo.</a:t>
            </a:r>
          </a:p>
          <a:p xmlns:a="http://schemas.openxmlformats.org/drawingml/2006/main">
            <a:r>
              <a:t>Plugin behaviour: version 1.1.5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simple denominator counts elapsed dates, not a custom schedule. A frozen report whose last update was before month-end retains that earlier as-of date. Do not assume historical percentages were recalculated to the last day of the month.</a:t>
            </a:r>
          </a:p>
          <a:p xmlns:a="http://schemas.openxmlformats.org/drawingml/2006/main">
            <a:r>
              <a:t>Plugin behaviour: version 1.1.5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 a list change declined in the previous month can be used for the next month. Default timezone is Asia/Kolkata in Habit Tracker/System/config.md. Keep it consistent across devices. There is no Android background scheduler. The optional Linux helper is documented in SETUP-AND-USAGE.md.</a:t>
            </a:r>
          </a:p>
          <a:p xmlns:a="http://schemas.openxmlformats.org/drawingml/2006/main">
            <a:r>
              <a:t>Plugin behaviour: version 1.1.5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portable controls avoid browser differences in input type month. A future month can be viewed, but future dates remain disabled. Historical views are read-only.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Obsidian Sync is an optional paid service. Enable community plugin settings as well to transfer remembered plugin decisions. Configure sync preferences separately on each device. Keep local Sync vaults outside iCloud and other sync folders. Official source: https://help.obsidian.md/sync/settings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uses revision-tagged records. Old-generation marks cannot resurrect data after a reset. Simultaneous resets can discard another revision, and late historical marks are excluded by design. Neither this plugin nor GitHub supplies a sync service.</a:t>
            </a:r>
          </a:p>
          <a:p xmlns:a="http://schemas.openxmlformats.org/drawingml/2006/main">
            <a:r>
              <a:t>Plugin behaviour: version 1.1.5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docs/INSTALL-DOWNLOAD.md and docs/CHECKSUMS.md. Normal plugin use does not require GitHub CLI, npm or Python. The next two migration slides apply only to the old identity. Version 1.1.5 preserves the saved format and does not require a calendar reset.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Command IDs now use rsn-habit-calendar-one-b as prefix. Existing habit-calendar code blocks and the internal view type remain compatible. Do not activate both plugins because they share data and registrations. No record migration/reset is required. See docs/MIGRATION-1.1.3.md.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Configure Sync preferences separately on each device. Do not combine Sync and iCloud on one vault. Preserve Habit Tracker, and never accept a reset merely to resolve a sync problem. Optional Linux users must disable the old habit-calendar-001b.timer before enabling the renamed timer. Sources: docs/MIGRATION-1.1.3.md; https://help.obsidian.md/sync/settings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delete Habit Tracker or accept a reset to investigate a blank screen. To inspect Android errors, enable USB debugging and use Chrome chrome://inspect/ on the laptop. The official mobile-development page covers this workflow.</a:t>
            </a:r>
          </a:p>
          <a:p xmlns:a="http://schemas.openxmlformats.org/drawingml/2006/main">
            <a:r>
              <a:t>Official source: https://docs.obsidian.md/Plugins/Getting%20started/Mobile%20development</a:t>
            </a:r>
          </a:p>
          <a:p xmlns:a="http://schemas.openxmlformats.org/drawingml/2006/main">
            <a:r>
              <a:t>Plugin behaviour: version 1.1.5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docs/FILES-TO-PUSH.md, REVIEW-RESPONSE-1.1.5.md and GITHUB-AND-COMMUNITY-RELEASE.md. Main embeds the color reference. Do not upload private lists, vaults, node_modules or generated build folders.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docs/DEPLOYMENT-UPDATE-GUIDE.md sections B–D. Review accidentally uploaded generated/wrapper folders before removing duplicates. Preserve unique material and unrelated work. Do not commit the outer handoff folders. If 1.1.5 is already published, commit documentation updates without moving its tag or replacing binaries.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docs/DEPLOYMENT-UPDATE-GUIDE.md section E. Windows and macOS kits are also available. Do not mix files from different runs. Signed-in repository read access is needed. Artifacts expire (90 days by default); this is a testing route, not the primary permanent public download. The kit ZIP is not automatically attested. https://docs.github.com/en/actions/how-tos/manage-workflow-runs/download-workflow-artifacts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docs/DEPLOYMENT-UPDATE-GUIDE.md section F. Suggested separate repository name: harharhari/rsn-habit-tracker-downloads; it has not been created. Public visibility is needed for anonymous downloads. Keep corresponding GPL source available at an immutable tag/commit, identify author/license and test downloaded bytes. Do not register the downloads repository with Obsidian. https://docs.obsidian.md/plugins/releasing/submit-plugin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Linux: 48 JavaScript and 11 Python tests, plus four Chromium layout scenarios. Native CI and device results must be recorded separately; hosted acceptance is not implied. Windows helper tests require tzdata. https://docs.obsidian.md/Plugins/Getting%20started/Mobile%20development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already accepted, do not submit a duplicate plugin. If still an initial draft, complete that existing submission. Follow current entry controls. https://docs.obsidian.md/plugins/releasing/submit-plugin and https://docs.obsidian.md/community-directory/faq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Free/Pro/Team plans require a public repository for attestations; private needs Enterprise Cloud. The workflow requires contents:write, id-token:write and attestations:write only in its release job. Existing releases are not overwritten. See GITHUB-AND-COMMUNITY-RELEASE.md. https://docs.github.com/en/actions/how-tos/secure-your-work/use-artifact-attestations/use-artifact-attestations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Version 1.1.5. Official manifest/submission documentation checked 23 October 2026. Personal habit data is excluded. Generic examples only. Exact device versions and native acceptance remain to be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98ead08e63462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e44a314d3843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e3086effc24e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508649d53c4b9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b60dcff91845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c23d8396faa48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404800-14F8-4587-9A24-E9199216D71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4362089-3C9C-4386-B29E-35E59636C28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5CD215D-C3B0-4BA5-822F-5D9887A2A8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B46F17-C6B0-4712-98AD-A0A88EEE90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88BACA3-A7D0-4008-8236-FDD6D1ABA74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DDB70FA-3020-4954-8E61-0D9393968F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0AA129-1688-4CAD-8035-5EDCA73CCC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37C9BF2-B336-49E3-B1CF-C40E762C9B7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9381EA-919E-4B0B-877E-B8774E4A68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C233A3-5821-475E-8497-EE1A4BFC44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5f0e0c1283461d" /><Relationship Type="http://schemas.openxmlformats.org/officeDocument/2006/relationships/slideLayout" Target="/ppt/slideLayouts/slideLayout1.xml" Id="R64735f00bf484894" /><Relationship Type="http://schemas.openxmlformats.org/officeDocument/2006/relationships/slideLayout" Target="/ppt/slideLayouts/slideLayout2.xml" Id="R14747390c1664dc6" /><Relationship Type="http://schemas.openxmlformats.org/officeDocument/2006/relationships/slideLayout" Target="/ppt/slideLayouts/slideLayout3.xml" Id="Rdd1393754bc14748" /><Relationship Type="http://schemas.openxmlformats.org/officeDocument/2006/relationships/slideLayout" Target="/ppt/slideLayouts/slideLayout4.xml" Id="R8322ba024f704403" /><Relationship Type="http://schemas.openxmlformats.org/officeDocument/2006/relationships/slideLayout" Target="/ppt/slideLayouts/slideLayout5.xml" Id="R7da6fcbbf543443d" /><Relationship Type="http://schemas.openxmlformats.org/officeDocument/2006/relationships/slideLayout" Target="/ppt/slideLayouts/slideLayout6.xml" Id="R03ccb8d3211d42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735f00bf484894"/>
    <p:sldLayoutId xmlns:r="http://schemas.openxmlformats.org/officeDocument/2006/relationships" id="2147483650" r:id="R14747390c1664dc6"/>
    <p:sldLayoutId xmlns:r="http://schemas.openxmlformats.org/officeDocument/2006/relationships" id="2147483651" r:id="Rdd1393754bc14748"/>
    <p:sldLayoutId xmlns:r="http://schemas.openxmlformats.org/officeDocument/2006/relationships" id="2147483652" r:id="R8322ba024f704403"/>
    <p:sldLayoutId xmlns:r="http://schemas.openxmlformats.org/officeDocument/2006/relationships" id="2147483653" r:id="R7da6fcbbf543443d"/>
    <p:sldLayoutId xmlns:r="http://schemas.openxmlformats.org/officeDocument/2006/relationships" id="2147483654" r:id="R03ccb8d3211d42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658b0c842234826" /><Relationship Type="http://schemas.openxmlformats.org/officeDocument/2006/relationships/notesSlide" Target="/ppt/notesSlides/notesSlide1.xml" Id="R3c2d1c965fb044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b4b62bfbdb47a6" /><Relationship Type="http://schemas.openxmlformats.org/officeDocument/2006/relationships/notesSlide" Target="/ppt/notesSlides/notesSlide2.xml" Id="Rb594f40239f94b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1f8ac74b5354de6" /><Relationship Type="http://schemas.openxmlformats.org/officeDocument/2006/relationships/image" Target="/ppt/media/image.png" Id="R690231e66c90420b" /><Relationship Type="http://schemas.openxmlformats.org/officeDocument/2006/relationships/notesSlide" Target="/ppt/notesSlides/notesSlide3.xml" Id="R717b8672339941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87143c903c84c89" /><Relationship Type="http://schemas.openxmlformats.org/officeDocument/2006/relationships/image" Target="/ppt/media/image2.png" Id="R63e06d6ae4e346f9" /><Relationship Type="http://schemas.openxmlformats.org/officeDocument/2006/relationships/notesSlide" Target="/ppt/notesSlides/notesSlide4.xml" Id="Rabb2cd8313854b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d758be8fe224f52" /><Relationship Type="http://schemas.openxmlformats.org/officeDocument/2006/relationships/notesSlide" Target="/ppt/notesSlides/notesSlide5.xml" Id="Rc4c84ca8465341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54767325fab4516" /><Relationship Type="http://schemas.openxmlformats.org/officeDocument/2006/relationships/notesSlide" Target="/ppt/notesSlides/notesSlide6.xml" Id="R63675b5bc3d543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8a6aeb660ae41eb" /><Relationship Type="http://schemas.openxmlformats.org/officeDocument/2006/relationships/notesSlide" Target="/ppt/notesSlides/notesSlide7.xml" Id="R7f985725ad6345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0ea2da937714972" /><Relationship Type="http://schemas.openxmlformats.org/officeDocument/2006/relationships/notesSlide" Target="/ppt/notesSlides/notesSlide8.xml" Id="R8cff6f818e6146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c9135c912724403" /><Relationship Type="http://schemas.openxmlformats.org/officeDocument/2006/relationships/notesSlide" Target="/ppt/notesSlides/notesSlide9.xml" Id="R65e405de949e45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d037f0a60874db9" /><Relationship Type="http://schemas.openxmlformats.org/officeDocument/2006/relationships/notesSlide" Target="/ppt/notesSlides/notesSlide10.xml" Id="R177ee70f1a7247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426a681f51e4921" /><Relationship Type="http://schemas.openxmlformats.org/officeDocument/2006/relationships/notesSlide" Target="/ppt/notesSlides/notesSlide11.xml" Id="R89fa94e0cd134f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6db4f22b2264e91" /><Relationship Type="http://schemas.openxmlformats.org/officeDocument/2006/relationships/notesSlide" Target="/ppt/notesSlides/notesSlide12.xml" Id="R57e7a35d5e4240f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08e70010b734a03" /><Relationship Type="http://schemas.openxmlformats.org/officeDocument/2006/relationships/notesSlide" Target="/ppt/notesSlides/notesSlide13.xml" Id="R585687135bbf41e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ed686f6472b4572" /><Relationship Type="http://schemas.openxmlformats.org/officeDocument/2006/relationships/notesSlide" Target="/ppt/notesSlides/notesSlide14.xml" Id="R527c49d3b3e843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992ab09ae544ba3" /><Relationship Type="http://schemas.openxmlformats.org/officeDocument/2006/relationships/notesSlide" Target="/ppt/notesSlides/notesSlide15.xml" Id="Rbfab50c22af44d6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5104285ac7448d1" /><Relationship Type="http://schemas.openxmlformats.org/officeDocument/2006/relationships/notesSlide" Target="/ppt/notesSlides/notesSlide16.xml" Id="R0c94c01e015741b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d0b8819594c4ac3" /><Relationship Type="http://schemas.openxmlformats.org/officeDocument/2006/relationships/notesSlide" Target="/ppt/notesSlides/notesSlide17.xml" Id="Ra85029ce3c8147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e1d5f369f8f411b" /><Relationship Type="http://schemas.openxmlformats.org/officeDocument/2006/relationships/notesSlide" Target="/ppt/notesSlides/notesSlide18.xml" Id="R952458cb517c473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34f4190cb5b4843" /><Relationship Type="http://schemas.openxmlformats.org/officeDocument/2006/relationships/notesSlide" Target="/ppt/notesSlides/notesSlide19.xml" Id="R3a7cebdc132d494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49c0499fd92413d" /><Relationship Type="http://schemas.openxmlformats.org/officeDocument/2006/relationships/notesSlide" Target="/ppt/notesSlides/notesSlide20.xml" Id="Ra69f98edcc044d7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d958c0a35284ef0" /><Relationship Type="http://schemas.openxmlformats.org/officeDocument/2006/relationships/notesSlide" Target="/ppt/notesSlides/notesSlide21.xml" Id="R3026bd0002f748a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0a8da985c5c4fea" /><Relationship Type="http://schemas.openxmlformats.org/officeDocument/2006/relationships/notesSlide" Target="/ppt/notesSlides/notesSlide22.xml" Id="Ra760dcb6ebea48f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6cb7cdec91647b3" /><Relationship Type="http://schemas.openxmlformats.org/officeDocument/2006/relationships/notesSlide" Target="/ppt/notesSlides/notesSlide23.xml" Id="R5f84386a9d08448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b2ffbe8815e4ac0" /><Relationship Type="http://schemas.openxmlformats.org/officeDocument/2006/relationships/notesSlide" Target="/ppt/notesSlides/notesSlide24.xml" Id="R02b15f6d40224ae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6685b49f6f34563" /><Relationship Type="http://schemas.openxmlformats.org/officeDocument/2006/relationships/notesSlide" Target="/ppt/notesSlides/notesSlide25.xml" Id="R19d4fc5be43c47b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dcdf19872d34bd6" /><Relationship Type="http://schemas.openxmlformats.org/officeDocument/2006/relationships/notesSlide" Target="/ppt/notesSlides/notesSlide26.xml" Id="R4e8420f4fd754a5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26952bba1444f85" /><Relationship Type="http://schemas.openxmlformats.org/officeDocument/2006/relationships/notesSlide" Target="/ppt/notesSlides/notesSlide27.xml" Id="R574f8e9484cb415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00bb5a124564c54" /><Relationship Type="http://schemas.openxmlformats.org/officeDocument/2006/relationships/notesSlide" Target="/ppt/notesSlides/notesSlide28.xml" Id="R6c998399c634428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edec135a1ee4ba2" /><Relationship Type="http://schemas.openxmlformats.org/officeDocument/2006/relationships/notesSlide" Target="/ppt/notesSlides/notesSlide29.xml" Id="Ra30cdcf58064423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9acc4209da34593" /><Relationship Type="http://schemas.openxmlformats.org/officeDocument/2006/relationships/notesSlide" Target="/ppt/notesSlides/notesSlide30.xml" Id="R63757dee9afd423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e36b68f09be4218" /><Relationship Type="http://schemas.openxmlformats.org/officeDocument/2006/relationships/notesSlide" Target="/ppt/notesSlides/notesSlide31.xml" Id="R7c46e1b46292425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b68cfe7a951450b" /><Relationship Type="http://schemas.openxmlformats.org/officeDocument/2006/relationships/notesSlide" Target="/ppt/notesSlides/notesSlide32.xml" Id="Rd525d3283663419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da76fa71a63483b" /><Relationship Type="http://schemas.openxmlformats.org/officeDocument/2006/relationships/notesSlide" Target="/ppt/notesSlides/notesSlide33.xml" Id="Rd783cee285c1427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f393f2a2bbf4afb" /><Relationship Type="http://schemas.openxmlformats.org/officeDocument/2006/relationships/notesSlide" Target="/ppt/notesSlides/notesSlide34.xml" Id="R3ed71fd496994f5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fb1cfb90ac44506" /><Relationship Type="http://schemas.openxmlformats.org/officeDocument/2006/relationships/notesSlide" Target="/ppt/notesSlides/notesSlide35.xml" Id="Rac8c78f6b85b46e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e338952c4794692" /><Relationship Type="http://schemas.openxmlformats.org/officeDocument/2006/relationships/notesSlide" Target="/ppt/notesSlides/notesSlide36.xml" Id="R72685f05509c414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51f9c27937f477f" /><Relationship Type="http://schemas.openxmlformats.org/officeDocument/2006/relationships/notesSlide" Target="/ppt/notesSlides/notesSlide37.xml" Id="R4ef4bd4906f84f9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8c6b01f99d94013" /><Relationship Type="http://schemas.openxmlformats.org/officeDocument/2006/relationships/notesSlide" Target="/ppt/notesSlides/notesSlide38.xml" Id="R82a7689dd7e1471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b07b2d52767540a2" /><Relationship Type="http://schemas.openxmlformats.org/officeDocument/2006/relationships/notesSlide" Target="/ppt/notesSlides/notesSlide39.xml" Id="Rcd6ee5f36acf4ed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cdadf18367454e91" /><Relationship Type="http://schemas.openxmlformats.org/officeDocument/2006/relationships/notesSlide" Target="/ppt/notesSlides/notesSlide40.xml" Id="R0a9cb20d77364bf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2bb225e065ae4d90" /><Relationship Type="http://schemas.openxmlformats.org/officeDocument/2006/relationships/notesSlide" Target="/ppt/notesSlides/notesSlide41.xml" Id="Ra1af5bcaa11a4e0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d236c1b7992e41a2" /><Relationship Type="http://schemas.openxmlformats.org/officeDocument/2006/relationships/notesSlide" Target="/ppt/notesSlides/notesSlide42.xml" Id="R7680e76f639f440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74af7e08d6f84520" /><Relationship Type="http://schemas.openxmlformats.org/officeDocument/2006/relationships/notesSlide" Target="/ppt/notesSlides/notesSlide43.xml" Id="R38dff9b263564084" /></Relationships>
</file>

<file path=ppt/slides/slide1.xml><?xml version="1.0" encoding="utf-8"?>
<p:sld xmlns:p="http://schemas.openxmlformats.org/presentationml/2006/main">
  <p:cSld>
    <p:bg>
      <p:bgPr>
        <a:solidFill xmlns:a="http://schemas.openxmlformats.org/drawingml/2006/main">
          <a:srgbClr val="152D3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4BF73F-5E0B-4AA6-98DA-CC17C36539B1}"/>
              </a:ext>
            </a:extLst>
          </p:cNvPr>
          <p:cNvSpPr>
            <a:spLocks xmlns:a="http://schemas.openxmlformats.org/drawingml/2006/main" noGrp="1"/>
          </p:cNvSpPr>
          <p:nvPr/>
        </p:nvSpPr>
        <p:spPr>
          <a:xfrm xmlns:a="http://schemas.openxmlformats.org/drawingml/2006/main">
            <a:off x="762000" y="12858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FFFF"/>
                </a:solidFill>
                <a:latin typeface="DejaVu Sans"/>
                <a:ea typeface="DejaVu Sans"/>
                <a:cs typeface="DejaVu Sans"/>
              </a:defRPr>
            </a:defPPr>
            <a:lvl1pPr>
              <a:buNone/>
              <a:defRPr sz="4800" b="1">
                <a:solidFill>
                  <a:srgbClr val="FFFFFF"/>
                </a:solidFill>
                <a:latin typeface="DejaVu Sans"/>
                <a:ea typeface="DejaVu Sans"/>
                <a:cs typeface="DejaVu Sans"/>
              </a:defRPr>
            </a:lvl1pPr>
            <a:lvl2pPr>
              <a:buNone/>
              <a:defRPr sz="4800" b="1">
                <a:solidFill>
                  <a:srgbClr val="FFFFFF"/>
                </a:solidFill>
                <a:latin typeface="DejaVu Sans"/>
                <a:ea typeface="DejaVu Sans"/>
                <a:cs typeface="DejaVu Sans"/>
              </a:defRPr>
            </a:lvl2pPr>
            <a:lvl3pPr>
              <a:buNone/>
              <a:defRPr sz="4800" b="1">
                <a:solidFill>
                  <a:srgbClr val="FFFFFF"/>
                </a:solidFill>
                <a:latin typeface="DejaVu Sans"/>
                <a:ea typeface="DejaVu Sans"/>
                <a:cs typeface="DejaVu Sans"/>
              </a:defRPr>
            </a:lvl3pPr>
            <a:lvl4pPr>
              <a:buNone/>
              <a:defRPr sz="4800" b="1">
                <a:solidFill>
                  <a:srgbClr val="FFFFFF"/>
                </a:solidFill>
                <a:latin typeface="DejaVu Sans"/>
                <a:ea typeface="DejaVu Sans"/>
                <a:cs typeface="DejaVu Sans"/>
              </a:defRPr>
            </a:lvl4pPr>
            <a:lvl5pPr>
              <a:buNone/>
              <a:defRPr sz="4800" b="1">
                <a:solidFill>
                  <a:srgbClr val="FFFFFF"/>
                </a:solidFill>
                <a:latin typeface="DejaVu Sans"/>
                <a:ea typeface="DejaVu Sans"/>
                <a:cs typeface="DejaVu Sans"/>
              </a:defRPr>
            </a:lvl5pPr>
            <a:lvl6pPr>
              <a:buNone/>
              <a:defRPr sz="4800" b="1">
                <a:solidFill>
                  <a:srgbClr val="FFFFFF"/>
                </a:solidFill>
                <a:latin typeface="DejaVu Sans"/>
                <a:ea typeface="DejaVu Sans"/>
                <a:cs typeface="DejaVu Sans"/>
              </a:defRPr>
            </a:lvl6pPr>
            <a:lvl7pPr>
              <a:buNone/>
              <a:defRPr sz="4800" b="1">
                <a:solidFill>
                  <a:srgbClr val="FFFFFF"/>
                </a:solidFill>
                <a:latin typeface="DejaVu Sans"/>
                <a:ea typeface="DejaVu Sans"/>
                <a:cs typeface="DejaVu Sans"/>
              </a:defRPr>
            </a:lvl7pPr>
            <a:lvl8pPr>
              <a:buNone/>
              <a:defRPr sz="4800" b="1">
                <a:solidFill>
                  <a:srgbClr val="FFFFFF"/>
                </a:solidFill>
                <a:latin typeface="DejaVu Sans"/>
                <a:ea typeface="DejaVu Sans"/>
                <a:cs typeface="DejaVu Sans"/>
              </a:defRPr>
            </a:lvl8pPr>
            <a:lvl9pPr>
              <a:buNone/>
              <a:defRPr sz="4800" b="1">
                <a:solidFill>
                  <a:srgbClr val="FFFFFF"/>
                </a:solidFill>
                <a:latin typeface="DejaVu Sans"/>
                <a:ea typeface="DejaVu Sans"/>
                <a:cs typeface="DejaVu Sans"/>
              </a:defRPr>
            </a:lvl9pPr>
          </a:lstStyle>
          <a:p xmlns:a="http://schemas.openxmlformats.org/drawingml/2006/main">
            <a:pPr>
              <a:buNone/>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rsn habit calendar one b</a:t>
            </a:r>
          </a:p>
        </p:txBody>
      </p:sp>
      <p:sp>
        <p:nvSpPr>
          <p:cNvPr id="2" name="">
            <a:extLst xmlns:a="http://schemas.openxmlformats.org/drawingml/2006/main">
              <a:ext uri="{FF2B5EF4-FFF2-40B4-BE49-F238E27FC236}">
                <a16:creationId xmlns:a16="http://schemas.microsoft.com/office/drawing/2014/main" id="{933A0A32-7F46-4C68-A646-BCE58B332760}"/>
              </a:ext>
            </a:extLst>
          </p:cNvPr>
          <p:cNvSpPr>
            <a:spLocks xmlns:a="http://schemas.openxmlformats.org/drawingml/2006/main" noGrp="1"/>
          </p:cNvSpPr>
          <p:nvPr/>
        </p:nvSpPr>
        <p:spPr>
          <a:xfrm xmlns:a="http://schemas.openxmlformats.org/drawingml/2006/main">
            <a:off x="800100" y="30480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DejaVu Sans"/>
                <a:ea typeface="DejaVu Sans"/>
                <a:cs typeface="DejaVu Sans"/>
              </a:defRPr>
            </a:defPPr>
            <a:lvl1pPr>
              <a:buNone/>
              <a:defRPr sz="2250" b="0">
                <a:solidFill>
                  <a:srgbClr val="FFFFFF"/>
                </a:solidFill>
                <a:latin typeface="DejaVu Sans"/>
                <a:ea typeface="DejaVu Sans"/>
                <a:cs typeface="DejaVu Sans"/>
              </a:defRPr>
            </a:lvl1pPr>
            <a:lvl2pPr>
              <a:buNone/>
              <a:defRPr sz="2250" b="0">
                <a:solidFill>
                  <a:srgbClr val="FFFFFF"/>
                </a:solidFill>
                <a:latin typeface="DejaVu Sans"/>
                <a:ea typeface="DejaVu Sans"/>
                <a:cs typeface="DejaVu Sans"/>
              </a:defRPr>
            </a:lvl2pPr>
            <a:lvl3pPr>
              <a:buNone/>
              <a:defRPr sz="2250" b="0">
                <a:solidFill>
                  <a:srgbClr val="FFFFFF"/>
                </a:solidFill>
                <a:latin typeface="DejaVu Sans"/>
                <a:ea typeface="DejaVu Sans"/>
                <a:cs typeface="DejaVu Sans"/>
              </a:defRPr>
            </a:lvl3pPr>
            <a:lvl4pPr>
              <a:buNone/>
              <a:defRPr sz="2250" b="0">
                <a:solidFill>
                  <a:srgbClr val="FFFFFF"/>
                </a:solidFill>
                <a:latin typeface="DejaVu Sans"/>
                <a:ea typeface="DejaVu Sans"/>
                <a:cs typeface="DejaVu Sans"/>
              </a:defRPr>
            </a:lvl4pPr>
            <a:lvl5pPr>
              <a:buNone/>
              <a:defRPr sz="2250" b="0">
                <a:solidFill>
                  <a:srgbClr val="FFFFFF"/>
                </a:solidFill>
                <a:latin typeface="DejaVu Sans"/>
                <a:ea typeface="DejaVu Sans"/>
                <a:cs typeface="DejaVu Sans"/>
              </a:defRPr>
            </a:lvl5pPr>
            <a:lvl6pPr>
              <a:buNone/>
              <a:defRPr sz="2250" b="0">
                <a:solidFill>
                  <a:srgbClr val="FFFFFF"/>
                </a:solidFill>
                <a:latin typeface="DejaVu Sans"/>
                <a:ea typeface="DejaVu Sans"/>
                <a:cs typeface="DejaVu Sans"/>
              </a:defRPr>
            </a:lvl6pPr>
            <a:lvl7pPr>
              <a:buNone/>
              <a:defRPr sz="2250" b="0">
                <a:solidFill>
                  <a:srgbClr val="FFFFFF"/>
                </a:solidFill>
                <a:latin typeface="DejaVu Sans"/>
                <a:ea typeface="DejaVu Sans"/>
                <a:cs typeface="DejaVu Sans"/>
              </a:defRPr>
            </a:lvl7pPr>
            <a:lvl8pPr>
              <a:buNone/>
              <a:defRPr sz="2250" b="0">
                <a:solidFill>
                  <a:srgbClr val="FFFFFF"/>
                </a:solidFill>
                <a:latin typeface="DejaVu Sans"/>
                <a:ea typeface="DejaVu Sans"/>
                <a:cs typeface="DejaVu Sans"/>
              </a:defRPr>
            </a:lvl8pPr>
            <a:lvl9pPr>
              <a:buNone/>
              <a:defRPr sz="2250" b="0">
                <a:solidFill>
                  <a:srgbClr val="FFFFFF"/>
                </a:solidFill>
                <a:latin typeface="DejaVu Sans"/>
                <a:ea typeface="DejaVu Sans"/>
                <a:cs typeface="DejaVu Sans"/>
              </a:defRPr>
            </a:lvl9pPr>
          </a:lstStyle>
          <a:p xmlns:a="http://schemas.openxmlformats.org/drawingml/2006/main">
            <a:pPr>
              <a:buNone/>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Windows, Ubuntu and Mac</a:t>
            </a:r>
          </a:p>
        </p:txBody>
      </p:sp>
      <p:sp>
        <p:nvSpPr>
          <p:cNvPr id="3" name="">
            <a:extLst xmlns:a="http://schemas.openxmlformats.org/drawingml/2006/main">
              <a:ext uri="{FF2B5EF4-FFF2-40B4-BE49-F238E27FC236}">
                <a16:creationId xmlns:a16="http://schemas.microsoft.com/office/drawing/2014/main" id="{FF44A16E-BFFF-4E8D-AFE6-BC96ECE52EFD}"/>
              </a:ext>
            </a:extLst>
          </p:cNvPr>
          <p:cNvSpPr>
            <a:spLocks xmlns:a="http://schemas.openxmlformats.org/drawingml/2006/main" noGrp="1"/>
          </p:cNvSpPr>
          <p:nvPr/>
        </p:nvSpPr>
        <p:spPr>
          <a:xfrm xmlns:a="http://schemas.openxmlformats.org/drawingml/2006/main">
            <a:off x="800100" y="37338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DejaVu Sans"/>
                <a:ea typeface="DejaVu Sans"/>
                <a:cs typeface="DejaVu Sans"/>
              </a:defRPr>
            </a:defPPr>
            <a:lvl1pPr>
              <a:buNone/>
              <a:defRPr sz="2250" b="0">
                <a:solidFill>
                  <a:srgbClr val="FFFFFF"/>
                </a:solidFill>
                <a:latin typeface="DejaVu Sans"/>
                <a:ea typeface="DejaVu Sans"/>
                <a:cs typeface="DejaVu Sans"/>
              </a:defRPr>
            </a:lvl1pPr>
            <a:lvl2pPr>
              <a:buNone/>
              <a:defRPr sz="2250" b="0">
                <a:solidFill>
                  <a:srgbClr val="FFFFFF"/>
                </a:solidFill>
                <a:latin typeface="DejaVu Sans"/>
                <a:ea typeface="DejaVu Sans"/>
                <a:cs typeface="DejaVu Sans"/>
              </a:defRPr>
            </a:lvl2pPr>
            <a:lvl3pPr>
              <a:buNone/>
              <a:defRPr sz="2250" b="0">
                <a:solidFill>
                  <a:srgbClr val="FFFFFF"/>
                </a:solidFill>
                <a:latin typeface="DejaVu Sans"/>
                <a:ea typeface="DejaVu Sans"/>
                <a:cs typeface="DejaVu Sans"/>
              </a:defRPr>
            </a:lvl3pPr>
            <a:lvl4pPr>
              <a:buNone/>
              <a:defRPr sz="2250" b="0">
                <a:solidFill>
                  <a:srgbClr val="FFFFFF"/>
                </a:solidFill>
                <a:latin typeface="DejaVu Sans"/>
                <a:ea typeface="DejaVu Sans"/>
                <a:cs typeface="DejaVu Sans"/>
              </a:defRPr>
            </a:lvl4pPr>
            <a:lvl5pPr>
              <a:buNone/>
              <a:defRPr sz="2250" b="0">
                <a:solidFill>
                  <a:srgbClr val="FFFFFF"/>
                </a:solidFill>
                <a:latin typeface="DejaVu Sans"/>
                <a:ea typeface="DejaVu Sans"/>
                <a:cs typeface="DejaVu Sans"/>
              </a:defRPr>
            </a:lvl5pPr>
            <a:lvl6pPr>
              <a:buNone/>
              <a:defRPr sz="2250" b="0">
                <a:solidFill>
                  <a:srgbClr val="FFFFFF"/>
                </a:solidFill>
                <a:latin typeface="DejaVu Sans"/>
                <a:ea typeface="DejaVu Sans"/>
                <a:cs typeface="DejaVu Sans"/>
              </a:defRPr>
            </a:lvl6pPr>
            <a:lvl7pPr>
              <a:buNone/>
              <a:defRPr sz="2250" b="0">
                <a:solidFill>
                  <a:srgbClr val="FFFFFF"/>
                </a:solidFill>
                <a:latin typeface="DejaVu Sans"/>
                <a:ea typeface="DejaVu Sans"/>
                <a:cs typeface="DejaVu Sans"/>
              </a:defRPr>
            </a:lvl7pPr>
            <a:lvl8pPr>
              <a:buNone/>
              <a:defRPr sz="2250" b="0">
                <a:solidFill>
                  <a:srgbClr val="FFFFFF"/>
                </a:solidFill>
                <a:latin typeface="DejaVu Sans"/>
                <a:ea typeface="DejaVu Sans"/>
                <a:cs typeface="DejaVu Sans"/>
              </a:defRPr>
            </a:lvl8pPr>
            <a:lvl9pPr>
              <a:buNone/>
              <a:defRPr sz="2250" b="0">
                <a:solidFill>
                  <a:srgbClr val="FFFFFF"/>
                </a:solidFill>
                <a:latin typeface="DejaVu Sans"/>
                <a:ea typeface="DejaVu Sans"/>
                <a:cs typeface="DejaVu Sans"/>
              </a:defRPr>
            </a:lvl9pPr>
          </a:lstStyle>
          <a:p xmlns:a="http://schemas.openxmlformats.org/drawingml/2006/main">
            <a:pPr>
              <a:buNone/>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Android, iPhone and iPad</a:t>
            </a:r>
          </a:p>
        </p:txBody>
      </p:sp>
      <p:sp>
        <p:nvSpPr>
          <p:cNvPr id="4" name="">
            <a:extLst xmlns:a="http://schemas.openxmlformats.org/drawingml/2006/main">
              <a:ext uri="{FF2B5EF4-FFF2-40B4-BE49-F238E27FC236}">
                <a16:creationId xmlns:a16="http://schemas.microsoft.com/office/drawing/2014/main" id="{9EF10168-D5B3-428C-A799-F3B62A09379C}"/>
              </a:ext>
            </a:extLst>
          </p:cNvPr>
          <p:cNvSpPr>
            <a:spLocks xmlns:a="http://schemas.openxmlformats.org/drawingml/2006/main" noGrp="1"/>
          </p:cNvSpPr>
          <p:nvPr/>
        </p:nvSpPr>
        <p:spPr>
          <a:xfrm xmlns:a="http://schemas.openxmlformats.org/drawingml/2006/main">
            <a:off x="800100" y="44196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A8CFBE"/>
                </a:solidFill>
                <a:latin typeface="DejaVu Sans"/>
                <a:ea typeface="DejaVu Sans"/>
                <a:cs typeface="DejaVu Sans"/>
              </a:defRPr>
            </a:defPPr>
            <a:lvl1pPr>
              <a:buNone/>
              <a:defRPr sz="2250" b="0">
                <a:solidFill>
                  <a:srgbClr val="A8CFBE"/>
                </a:solidFill>
                <a:latin typeface="DejaVu Sans"/>
                <a:ea typeface="DejaVu Sans"/>
                <a:cs typeface="DejaVu Sans"/>
              </a:defRPr>
            </a:lvl1pPr>
            <a:lvl2pPr>
              <a:buNone/>
              <a:defRPr sz="2250" b="0">
                <a:solidFill>
                  <a:srgbClr val="A8CFBE"/>
                </a:solidFill>
                <a:latin typeface="DejaVu Sans"/>
                <a:ea typeface="DejaVu Sans"/>
                <a:cs typeface="DejaVu Sans"/>
              </a:defRPr>
            </a:lvl2pPr>
            <a:lvl3pPr>
              <a:buNone/>
              <a:defRPr sz="2250" b="0">
                <a:solidFill>
                  <a:srgbClr val="A8CFBE"/>
                </a:solidFill>
                <a:latin typeface="DejaVu Sans"/>
                <a:ea typeface="DejaVu Sans"/>
                <a:cs typeface="DejaVu Sans"/>
              </a:defRPr>
            </a:lvl3pPr>
            <a:lvl4pPr>
              <a:buNone/>
              <a:defRPr sz="2250" b="0">
                <a:solidFill>
                  <a:srgbClr val="A8CFBE"/>
                </a:solidFill>
                <a:latin typeface="DejaVu Sans"/>
                <a:ea typeface="DejaVu Sans"/>
                <a:cs typeface="DejaVu Sans"/>
              </a:defRPr>
            </a:lvl4pPr>
            <a:lvl5pPr>
              <a:buNone/>
              <a:defRPr sz="2250" b="0">
                <a:solidFill>
                  <a:srgbClr val="A8CFBE"/>
                </a:solidFill>
                <a:latin typeface="DejaVu Sans"/>
                <a:ea typeface="DejaVu Sans"/>
                <a:cs typeface="DejaVu Sans"/>
              </a:defRPr>
            </a:lvl5pPr>
            <a:lvl6pPr>
              <a:buNone/>
              <a:defRPr sz="2250" b="0">
                <a:solidFill>
                  <a:srgbClr val="A8CFBE"/>
                </a:solidFill>
                <a:latin typeface="DejaVu Sans"/>
                <a:ea typeface="DejaVu Sans"/>
                <a:cs typeface="DejaVu Sans"/>
              </a:defRPr>
            </a:lvl6pPr>
            <a:lvl7pPr>
              <a:buNone/>
              <a:defRPr sz="2250" b="0">
                <a:solidFill>
                  <a:srgbClr val="A8CFBE"/>
                </a:solidFill>
                <a:latin typeface="DejaVu Sans"/>
                <a:ea typeface="DejaVu Sans"/>
                <a:cs typeface="DejaVu Sans"/>
              </a:defRPr>
            </a:lvl7pPr>
            <a:lvl8pPr>
              <a:buNone/>
              <a:defRPr sz="2250" b="0">
                <a:solidFill>
                  <a:srgbClr val="A8CFBE"/>
                </a:solidFill>
                <a:latin typeface="DejaVu Sans"/>
                <a:ea typeface="DejaVu Sans"/>
                <a:cs typeface="DejaVu Sans"/>
              </a:defRPr>
            </a:lvl8pPr>
            <a:lvl9pPr>
              <a:buNone/>
              <a:defRPr sz="2250" b="0">
                <a:solidFill>
                  <a:srgbClr val="A8CFBE"/>
                </a:solidFill>
                <a:latin typeface="DejaVu Sans"/>
                <a:ea typeface="DejaVu Sans"/>
                <a:cs typeface="DejaVu Sans"/>
              </a:defRPr>
            </a:lvl9pPr>
          </a:lstStyle>
          <a:p xmlns:a="http://schemas.openxmlformats.org/drawingml/2006/main">
            <a:pPr>
              <a:buNone/>
              <a:defRPr sz="2250" b="0">
                <a:solidFill>
                  <a:srgbClr val="A8CFBE"/>
                </a:solidFill>
                <a:latin typeface="DejaVu Sans"/>
                <a:ea typeface="DejaVu Sans"/>
                <a:cs typeface="DejaVu Sans"/>
              </a:defRPr>
            </a:pPr>
            <a:r>
              <a:rPr sz="2250" b="0">
                <a:solidFill>
                  <a:srgbClr val="A8CFBE"/>
                </a:solidFill>
                <a:latin typeface="DejaVu Sans"/>
                <a:ea typeface="DejaVu Sans"/>
                <a:cs typeface="DejaVu Sans"/>
              </a:rPr>
              <a:t>Version 1.1.5 · harharhari · GPL-3.0-only</a:t>
            </a:r>
          </a:p>
        </p:txBody>
      </p:sp>
    </p:spTree>
    <p:extLst>
      <p:ext uri="{BB962C8B-B14F-4D97-AF65-F5344CB8AC3E}">
        <p14:creationId xmlns:p14="http://schemas.microsoft.com/office/powerpoint/2010/main" val="1331259362"/>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198D6A-A653-4026-9CAD-00C06D1E9745}"/>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The monthly calendar</a:t>
            </a:r>
          </a:p>
        </p:txBody>
      </p:sp>
      <p:sp>
        <p:nvSpPr>
          <p:cNvPr id="2" name="">
            <a:extLst xmlns:a="http://schemas.openxmlformats.org/drawingml/2006/main">
              <a:ext uri="{FF2B5EF4-FFF2-40B4-BE49-F238E27FC236}">
                <a16:creationId xmlns:a16="http://schemas.microsoft.com/office/drawing/2014/main" id="{C12A7BB9-52E4-4A8C-B455-4C412B133729}"/>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One named calendar for every enabled habit.</a:t>
            </a:r>
          </a:p>
        </p:txBody>
      </p:sp>
      <p:sp>
        <p:nvSpPr>
          <p:cNvPr id="3" name="">
            <a:extLst xmlns:a="http://schemas.openxmlformats.org/drawingml/2006/main">
              <a:ext uri="{FF2B5EF4-FFF2-40B4-BE49-F238E27FC236}">
                <a16:creationId xmlns:a16="http://schemas.microsoft.com/office/drawing/2014/main" id="{BE126F11-FA07-46D8-B047-E36EA90E7B47}"/>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Monday starts the week. Earlier dates in the current month remain editable.</a:t>
            </a:r>
          </a:p>
        </p:txBody>
      </p:sp>
      <p:sp>
        <p:nvSpPr>
          <p:cNvPr id="4" name="">
            <a:extLst xmlns:a="http://schemas.openxmlformats.org/drawingml/2006/main">
              <a:ext uri="{FF2B5EF4-FFF2-40B4-BE49-F238E27FC236}">
                <a16:creationId xmlns:a16="http://schemas.microsoft.com/office/drawing/2014/main" id="{FB406436-5FAD-4AFE-BDA8-AE431D91A57E}"/>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Click or tap a date to cycle unmarked, green, pink, then unmarked.</a:t>
            </a:r>
          </a:p>
        </p:txBody>
      </p:sp>
      <p:sp>
        <p:nvSpPr>
          <p:cNvPr id="5" name="">
            <a:extLst xmlns:a="http://schemas.openxmlformats.org/drawingml/2006/main">
              <a:ext uri="{FF2B5EF4-FFF2-40B4-BE49-F238E27FC236}">
                <a16:creationId xmlns:a16="http://schemas.microsoft.com/office/drawing/2014/main" id="{55539EB7-6081-46AD-B965-FE0B5A45A7FB}"/>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Schedules are not part of this version. You choose every mark manually.</a:t>
            </a:r>
          </a:p>
        </p:txBody>
      </p:sp>
      <p:sp>
        <p:nvSpPr>
          <p:cNvPr id="6" name="">
            <a:extLst xmlns:a="http://schemas.openxmlformats.org/drawingml/2006/main">
              <a:ext uri="{FF2B5EF4-FFF2-40B4-BE49-F238E27FC236}">
                <a16:creationId xmlns:a16="http://schemas.microsoft.com/office/drawing/2014/main" id="{5402BC51-3A7A-49AA-8F71-40ACCDAAFE12}"/>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EDE99E28-48DC-4942-ADB3-D884ECC8635C}"/>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02</a:t>
            </a:r>
          </a:p>
        </p:txBody>
      </p:sp>
    </p:spTree>
    <p:extLst>
      <p:ext uri="{BB962C8B-B14F-4D97-AF65-F5344CB8AC3E}">
        <p14:creationId xmlns:p14="http://schemas.microsoft.com/office/powerpoint/2010/main" val="2147455251"/>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FC0EE3-27D7-436D-A88E-F9EDBFD6E748}"/>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Desktop layout</a:t>
            </a:r>
          </a:p>
        </p:txBody>
      </p:sp>
      <p:pic>
        <p:nvPicPr>
          <p:cNvPr id="2" name="">
            <a:extLst xmlns:a="http://schemas.openxmlformats.org/drawingml/2006/main">
              <a:ext uri="{FF2B5EF4-FFF2-40B4-BE49-F238E27FC236}">
                <a16:creationId xmlns:a16="http://schemas.microsoft.com/office/drawing/2014/main" id="{A2C2B5F6-C7EA-4A71-8BB9-8148C2EF0B23}"/>
              </a:ext>
            </a:extLst>
          </p:cNvPr>
          <p:cNvPicPr>
            <a:picLocks xmlns:a="http://schemas.openxmlformats.org/drawingml/2006/main" noChangeAspect="1"/>
          </p:cNvPicPr>
          <p:nvPr/>
        </p:nvPicPr>
        <p:blipFill>
          <a:blip xmlns:r="http://schemas.openxmlformats.org/officeDocument/2006/relationships" xmlns:a="http://schemas.openxmlformats.org/drawingml/2006/main" r:embed="R690231e66c90420b"/>
          <a:stretch xmlns:a="http://schemas.openxmlformats.org/drawingml/2006/main"/>
        </p:blipFill>
        <p:spPr>
          <a:xfrm xmlns:a="http://schemas.openxmlformats.org/drawingml/2006/main">
            <a:off x="672465" y="1447800"/>
            <a:ext cx="7284720" cy="45529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07D64A1-AF53-4E4D-A9E2-679C2B87D1F5}"/>
              </a:ext>
            </a:extLst>
          </p:cNvPr>
          <p:cNvSpPr>
            <a:spLocks xmlns:a="http://schemas.openxmlformats.org/drawingml/2006/main" noGrp="1"/>
          </p:cNvSpPr>
          <p:nvPr/>
        </p:nvSpPr>
        <p:spPr>
          <a:xfrm xmlns:a="http://schemas.openxmlformats.org/drawingml/2006/main">
            <a:off x="8477250" y="1619250"/>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43344"/>
                </a:solidFill>
                <a:latin typeface="DejaVu Sans"/>
                <a:ea typeface="DejaVu Sans"/>
                <a:cs typeface="DejaVu Sans"/>
              </a:defRPr>
            </a:defPPr>
            <a:lvl1pPr>
              <a:buNone/>
              <a:defRPr sz="1875" b="0">
                <a:solidFill>
                  <a:srgbClr val="243344"/>
                </a:solidFill>
                <a:latin typeface="DejaVu Sans"/>
                <a:ea typeface="DejaVu Sans"/>
                <a:cs typeface="DejaVu Sans"/>
              </a:defRPr>
            </a:lvl1pPr>
            <a:lvl2pPr>
              <a:buNone/>
              <a:defRPr sz="1875" b="0">
                <a:solidFill>
                  <a:srgbClr val="243344"/>
                </a:solidFill>
                <a:latin typeface="DejaVu Sans"/>
                <a:ea typeface="DejaVu Sans"/>
                <a:cs typeface="DejaVu Sans"/>
              </a:defRPr>
            </a:lvl2pPr>
            <a:lvl3pPr>
              <a:buNone/>
              <a:defRPr sz="1875" b="0">
                <a:solidFill>
                  <a:srgbClr val="243344"/>
                </a:solidFill>
                <a:latin typeface="DejaVu Sans"/>
                <a:ea typeface="DejaVu Sans"/>
                <a:cs typeface="DejaVu Sans"/>
              </a:defRPr>
            </a:lvl3pPr>
            <a:lvl4pPr>
              <a:buNone/>
              <a:defRPr sz="1875" b="0">
                <a:solidFill>
                  <a:srgbClr val="243344"/>
                </a:solidFill>
                <a:latin typeface="DejaVu Sans"/>
                <a:ea typeface="DejaVu Sans"/>
                <a:cs typeface="DejaVu Sans"/>
              </a:defRPr>
            </a:lvl4pPr>
            <a:lvl5pPr>
              <a:buNone/>
              <a:defRPr sz="1875" b="0">
                <a:solidFill>
                  <a:srgbClr val="243344"/>
                </a:solidFill>
                <a:latin typeface="DejaVu Sans"/>
                <a:ea typeface="DejaVu Sans"/>
                <a:cs typeface="DejaVu Sans"/>
              </a:defRPr>
            </a:lvl5pPr>
            <a:lvl6pPr>
              <a:buNone/>
              <a:defRPr sz="1875" b="0">
                <a:solidFill>
                  <a:srgbClr val="243344"/>
                </a:solidFill>
                <a:latin typeface="DejaVu Sans"/>
                <a:ea typeface="DejaVu Sans"/>
                <a:cs typeface="DejaVu Sans"/>
              </a:defRPr>
            </a:lvl6pPr>
            <a:lvl7pPr>
              <a:buNone/>
              <a:defRPr sz="1875" b="0">
                <a:solidFill>
                  <a:srgbClr val="243344"/>
                </a:solidFill>
                <a:latin typeface="DejaVu Sans"/>
                <a:ea typeface="DejaVu Sans"/>
                <a:cs typeface="DejaVu Sans"/>
              </a:defRPr>
            </a:lvl7pPr>
            <a:lvl8pPr>
              <a:buNone/>
              <a:defRPr sz="1875" b="0">
                <a:solidFill>
                  <a:srgbClr val="243344"/>
                </a:solidFill>
                <a:latin typeface="DejaVu Sans"/>
                <a:ea typeface="DejaVu Sans"/>
                <a:cs typeface="DejaVu Sans"/>
              </a:defRPr>
            </a:lvl8pPr>
            <a:lvl9pPr>
              <a:buNone/>
              <a:defRPr sz="1875" b="0">
                <a:solidFill>
                  <a:srgbClr val="243344"/>
                </a:solidFill>
                <a:latin typeface="DejaVu Sans"/>
                <a:ea typeface="DejaVu Sans"/>
                <a:cs typeface="DejaVu Sans"/>
              </a:defRPr>
            </a:lvl9pPr>
          </a:lstStyle>
          <a:p xmlns:a="http://schemas.openxmlformats.org/drawingml/2006/main">
            <a:pPr>
              <a:buNone/>
              <a:defRPr sz="1875" b="0">
                <a:solidFill>
                  <a:srgbClr val="243344"/>
                </a:solidFill>
                <a:latin typeface="DejaVu Sans"/>
                <a:ea typeface="DejaVu Sans"/>
                <a:cs typeface="DejaVu Sans"/>
              </a:defRPr>
            </a:pPr>
            <a:r>
              <a:rPr sz="1875" b="0">
                <a:solidFill>
                  <a:srgbClr val="243344"/>
                </a:solidFill>
                <a:latin typeface="DejaVu Sans"/>
                <a:ea typeface="DejaVu Sans"/>
                <a:cs typeface="DejaVu Sans"/>
              </a:rPr>
              <a:t>Wide desktop views show six calendars per row.</a:t>
            </a:r>
          </a:p>
        </p:txBody>
      </p:sp>
      <p:sp>
        <p:nvSpPr>
          <p:cNvPr id="4" name="">
            <a:extLst xmlns:a="http://schemas.openxmlformats.org/drawingml/2006/main">
              <a:ext uri="{FF2B5EF4-FFF2-40B4-BE49-F238E27FC236}">
                <a16:creationId xmlns:a16="http://schemas.microsoft.com/office/drawing/2014/main" id="{F3810FD8-7B34-4E31-9A14-66D4D4AE929E}"/>
              </a:ext>
            </a:extLst>
          </p:cNvPr>
          <p:cNvSpPr>
            <a:spLocks xmlns:a="http://schemas.openxmlformats.org/drawingml/2006/main" noGrp="1"/>
          </p:cNvSpPr>
          <p:nvPr/>
        </p:nvSpPr>
        <p:spPr>
          <a:xfrm xmlns:a="http://schemas.openxmlformats.org/drawingml/2006/main">
            <a:off x="8477250" y="2809875"/>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43344"/>
                </a:solidFill>
                <a:latin typeface="DejaVu Sans"/>
                <a:ea typeface="DejaVu Sans"/>
                <a:cs typeface="DejaVu Sans"/>
              </a:defRPr>
            </a:defPPr>
            <a:lvl1pPr>
              <a:buNone/>
              <a:defRPr sz="1875" b="0">
                <a:solidFill>
                  <a:srgbClr val="243344"/>
                </a:solidFill>
                <a:latin typeface="DejaVu Sans"/>
                <a:ea typeface="DejaVu Sans"/>
                <a:cs typeface="DejaVu Sans"/>
              </a:defRPr>
            </a:lvl1pPr>
            <a:lvl2pPr>
              <a:buNone/>
              <a:defRPr sz="1875" b="0">
                <a:solidFill>
                  <a:srgbClr val="243344"/>
                </a:solidFill>
                <a:latin typeface="DejaVu Sans"/>
                <a:ea typeface="DejaVu Sans"/>
                <a:cs typeface="DejaVu Sans"/>
              </a:defRPr>
            </a:lvl2pPr>
            <a:lvl3pPr>
              <a:buNone/>
              <a:defRPr sz="1875" b="0">
                <a:solidFill>
                  <a:srgbClr val="243344"/>
                </a:solidFill>
                <a:latin typeface="DejaVu Sans"/>
                <a:ea typeface="DejaVu Sans"/>
                <a:cs typeface="DejaVu Sans"/>
              </a:defRPr>
            </a:lvl3pPr>
            <a:lvl4pPr>
              <a:buNone/>
              <a:defRPr sz="1875" b="0">
                <a:solidFill>
                  <a:srgbClr val="243344"/>
                </a:solidFill>
                <a:latin typeface="DejaVu Sans"/>
                <a:ea typeface="DejaVu Sans"/>
                <a:cs typeface="DejaVu Sans"/>
              </a:defRPr>
            </a:lvl4pPr>
            <a:lvl5pPr>
              <a:buNone/>
              <a:defRPr sz="1875" b="0">
                <a:solidFill>
                  <a:srgbClr val="243344"/>
                </a:solidFill>
                <a:latin typeface="DejaVu Sans"/>
                <a:ea typeface="DejaVu Sans"/>
                <a:cs typeface="DejaVu Sans"/>
              </a:defRPr>
            </a:lvl5pPr>
            <a:lvl6pPr>
              <a:buNone/>
              <a:defRPr sz="1875" b="0">
                <a:solidFill>
                  <a:srgbClr val="243344"/>
                </a:solidFill>
                <a:latin typeface="DejaVu Sans"/>
                <a:ea typeface="DejaVu Sans"/>
                <a:cs typeface="DejaVu Sans"/>
              </a:defRPr>
            </a:lvl6pPr>
            <a:lvl7pPr>
              <a:buNone/>
              <a:defRPr sz="1875" b="0">
                <a:solidFill>
                  <a:srgbClr val="243344"/>
                </a:solidFill>
                <a:latin typeface="DejaVu Sans"/>
                <a:ea typeface="DejaVu Sans"/>
                <a:cs typeface="DejaVu Sans"/>
              </a:defRPr>
            </a:lvl7pPr>
            <a:lvl8pPr>
              <a:buNone/>
              <a:defRPr sz="1875" b="0">
                <a:solidFill>
                  <a:srgbClr val="243344"/>
                </a:solidFill>
                <a:latin typeface="DejaVu Sans"/>
                <a:ea typeface="DejaVu Sans"/>
                <a:cs typeface="DejaVu Sans"/>
              </a:defRPr>
            </a:lvl8pPr>
            <a:lvl9pPr>
              <a:buNone/>
              <a:defRPr sz="1875" b="0">
                <a:solidFill>
                  <a:srgbClr val="243344"/>
                </a:solidFill>
                <a:latin typeface="DejaVu Sans"/>
                <a:ea typeface="DejaVu Sans"/>
                <a:cs typeface="DejaVu Sans"/>
              </a:defRPr>
            </a:lvl9pPr>
          </a:lstStyle>
          <a:p xmlns:a="http://schemas.openxmlformats.org/drawingml/2006/main">
            <a:pPr>
              <a:buNone/>
              <a:defRPr sz="1875" b="0">
                <a:solidFill>
                  <a:srgbClr val="243344"/>
                </a:solidFill>
                <a:latin typeface="DejaVu Sans"/>
                <a:ea typeface="DejaVu Sans"/>
                <a:cs typeface="DejaVu Sans"/>
              </a:defRPr>
            </a:pPr>
            <a:r>
              <a:rPr sz="1875" b="0">
                <a:solidFill>
                  <a:srgbClr val="243344"/>
                </a:solidFill>
                <a:latin typeface="DejaVu Sans"/>
                <a:ea typeface="DejaVu Sans"/>
                <a:cs typeface="DejaVu Sans"/>
              </a:rPr>
              <a:t>Search filters the visible habit names.</a:t>
            </a:r>
          </a:p>
        </p:txBody>
      </p:sp>
      <p:sp>
        <p:nvSpPr>
          <p:cNvPr id="5" name="">
            <a:extLst xmlns:a="http://schemas.openxmlformats.org/drawingml/2006/main">
              <a:ext uri="{FF2B5EF4-FFF2-40B4-BE49-F238E27FC236}">
                <a16:creationId xmlns:a16="http://schemas.microsoft.com/office/drawing/2014/main" id="{0B7C7E43-29F1-4FEC-8249-C658FCFF8940}"/>
              </a:ext>
            </a:extLst>
          </p:cNvPr>
          <p:cNvSpPr>
            <a:spLocks xmlns:a="http://schemas.openxmlformats.org/drawingml/2006/main" noGrp="1"/>
          </p:cNvSpPr>
          <p:nvPr/>
        </p:nvSpPr>
        <p:spPr>
          <a:xfrm xmlns:a="http://schemas.openxmlformats.org/drawingml/2006/main">
            <a:off x="8477250" y="4000500"/>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43344"/>
                </a:solidFill>
                <a:latin typeface="DejaVu Sans"/>
                <a:ea typeface="DejaVu Sans"/>
                <a:cs typeface="DejaVu Sans"/>
              </a:defRPr>
            </a:defPPr>
            <a:lvl1pPr>
              <a:buNone/>
              <a:defRPr sz="1875" b="0">
                <a:solidFill>
                  <a:srgbClr val="243344"/>
                </a:solidFill>
                <a:latin typeface="DejaVu Sans"/>
                <a:ea typeface="DejaVu Sans"/>
                <a:cs typeface="DejaVu Sans"/>
              </a:defRPr>
            </a:lvl1pPr>
            <a:lvl2pPr>
              <a:buNone/>
              <a:defRPr sz="1875" b="0">
                <a:solidFill>
                  <a:srgbClr val="243344"/>
                </a:solidFill>
                <a:latin typeface="DejaVu Sans"/>
                <a:ea typeface="DejaVu Sans"/>
                <a:cs typeface="DejaVu Sans"/>
              </a:defRPr>
            </a:lvl2pPr>
            <a:lvl3pPr>
              <a:buNone/>
              <a:defRPr sz="1875" b="0">
                <a:solidFill>
                  <a:srgbClr val="243344"/>
                </a:solidFill>
                <a:latin typeface="DejaVu Sans"/>
                <a:ea typeface="DejaVu Sans"/>
                <a:cs typeface="DejaVu Sans"/>
              </a:defRPr>
            </a:lvl3pPr>
            <a:lvl4pPr>
              <a:buNone/>
              <a:defRPr sz="1875" b="0">
                <a:solidFill>
                  <a:srgbClr val="243344"/>
                </a:solidFill>
                <a:latin typeface="DejaVu Sans"/>
                <a:ea typeface="DejaVu Sans"/>
                <a:cs typeface="DejaVu Sans"/>
              </a:defRPr>
            </a:lvl4pPr>
            <a:lvl5pPr>
              <a:buNone/>
              <a:defRPr sz="1875" b="0">
                <a:solidFill>
                  <a:srgbClr val="243344"/>
                </a:solidFill>
                <a:latin typeface="DejaVu Sans"/>
                <a:ea typeface="DejaVu Sans"/>
                <a:cs typeface="DejaVu Sans"/>
              </a:defRPr>
            </a:lvl5pPr>
            <a:lvl6pPr>
              <a:buNone/>
              <a:defRPr sz="1875" b="0">
                <a:solidFill>
                  <a:srgbClr val="243344"/>
                </a:solidFill>
                <a:latin typeface="DejaVu Sans"/>
                <a:ea typeface="DejaVu Sans"/>
                <a:cs typeface="DejaVu Sans"/>
              </a:defRPr>
            </a:lvl6pPr>
            <a:lvl7pPr>
              <a:buNone/>
              <a:defRPr sz="1875" b="0">
                <a:solidFill>
                  <a:srgbClr val="243344"/>
                </a:solidFill>
                <a:latin typeface="DejaVu Sans"/>
                <a:ea typeface="DejaVu Sans"/>
                <a:cs typeface="DejaVu Sans"/>
              </a:defRPr>
            </a:lvl7pPr>
            <a:lvl8pPr>
              <a:buNone/>
              <a:defRPr sz="1875" b="0">
                <a:solidFill>
                  <a:srgbClr val="243344"/>
                </a:solidFill>
                <a:latin typeface="DejaVu Sans"/>
                <a:ea typeface="DejaVu Sans"/>
                <a:cs typeface="DejaVu Sans"/>
              </a:defRPr>
            </a:lvl8pPr>
            <a:lvl9pPr>
              <a:buNone/>
              <a:defRPr sz="1875" b="0">
                <a:solidFill>
                  <a:srgbClr val="243344"/>
                </a:solidFill>
                <a:latin typeface="DejaVu Sans"/>
                <a:ea typeface="DejaVu Sans"/>
                <a:cs typeface="DejaVu Sans"/>
              </a:defRPr>
            </a:lvl9pPr>
          </a:lstStyle>
          <a:p xmlns:a="http://schemas.openxmlformats.org/drawingml/2006/main">
            <a:pPr>
              <a:buNone/>
              <a:defRPr sz="1875" b="0">
                <a:solidFill>
                  <a:srgbClr val="243344"/>
                </a:solidFill>
                <a:latin typeface="DejaVu Sans"/>
                <a:ea typeface="DejaVu Sans"/>
                <a:cs typeface="DejaVu Sans"/>
              </a:defRPr>
            </a:pPr>
            <a:r>
              <a:rPr sz="1875" b="0">
                <a:solidFill>
                  <a:srgbClr val="243344"/>
                </a:solidFill>
                <a:latin typeface="DejaVu Sans"/>
                <a:ea typeface="DejaVu Sans"/>
                <a:cs typeface="DejaVu Sans"/>
              </a:rPr>
              <a:t>Previous, Choose month and Next open monthly views.</a:t>
            </a:r>
          </a:p>
        </p:txBody>
      </p:sp>
      <p:sp>
        <p:nvSpPr>
          <p:cNvPr id="6" name="">
            <a:extLst xmlns:a="http://schemas.openxmlformats.org/drawingml/2006/main">
              <a:ext uri="{FF2B5EF4-FFF2-40B4-BE49-F238E27FC236}">
                <a16:creationId xmlns:a16="http://schemas.microsoft.com/office/drawing/2014/main" id="{4A31345D-852E-43D3-BFDE-C2D76552C2FA}"/>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Browser-rendered example; Obsidian APIs mocked</a:t>
            </a:r>
          </a:p>
        </p:txBody>
      </p:sp>
      <p:sp>
        <p:nvSpPr>
          <p:cNvPr id="7" name="">
            <a:extLst xmlns:a="http://schemas.openxmlformats.org/drawingml/2006/main">
              <a:ext uri="{FF2B5EF4-FFF2-40B4-BE49-F238E27FC236}">
                <a16:creationId xmlns:a16="http://schemas.microsoft.com/office/drawing/2014/main" id="{848B168D-B283-40A3-8097-78940FD5F862}"/>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03</a:t>
            </a:r>
          </a:p>
        </p:txBody>
      </p:sp>
    </p:spTree>
    <p:extLst>
      <p:ext uri="{BB962C8B-B14F-4D97-AF65-F5344CB8AC3E}">
        <p14:creationId xmlns:p14="http://schemas.microsoft.com/office/powerpoint/2010/main" val="913623309"/>
      </p:ext>
    </p:extLst>
  </p:cSld>
</p:sld>
</file>

<file path=ppt/slides/slide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3B0DB2-A314-4CF0-B73D-F6C0BB21C70B}"/>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Phone and tablet layout</a:t>
            </a:r>
          </a:p>
        </p:txBody>
      </p:sp>
      <p:pic>
        <p:nvPicPr>
          <p:cNvPr id="2" name="">
            <a:extLst xmlns:a="http://schemas.openxmlformats.org/drawingml/2006/main">
              <a:ext uri="{FF2B5EF4-FFF2-40B4-BE49-F238E27FC236}">
                <a16:creationId xmlns:a16="http://schemas.microsoft.com/office/drawing/2014/main" id="{51E574E8-ED85-4440-8927-601E8A64B95D}"/>
              </a:ext>
            </a:extLst>
          </p:cNvPr>
          <p:cNvPicPr>
            <a:picLocks xmlns:a="http://schemas.openxmlformats.org/drawingml/2006/main" noChangeAspect="1"/>
          </p:cNvPicPr>
          <p:nvPr/>
        </p:nvPicPr>
        <p:blipFill>
          <a:blip xmlns:r="http://schemas.openxmlformats.org/officeDocument/2006/relationships" xmlns:a="http://schemas.openxmlformats.org/drawingml/2006/main" r:embed="R63e06d6ae4e346f9"/>
          <a:stretch xmlns:a="http://schemas.openxmlformats.org/drawingml/2006/main"/>
        </p:blipFill>
        <p:spPr>
          <a:xfrm xmlns:a="http://schemas.openxmlformats.org/drawingml/2006/main">
            <a:off x="8403322" y="1371600"/>
            <a:ext cx="2243356" cy="48577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3F1FAFA-C9F9-4E6F-A429-C4045041896A}"/>
              </a:ext>
            </a:extLst>
          </p:cNvPr>
          <p:cNvSpPr>
            <a:spLocks xmlns:a="http://schemas.openxmlformats.org/drawingml/2006/main" noGrp="1"/>
          </p:cNvSpPr>
          <p:nvPr/>
        </p:nvSpPr>
        <p:spPr>
          <a:xfrm xmlns:a="http://schemas.openxmlformats.org/drawingml/2006/main">
            <a:off x="647700" y="165735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One calendar per row.</a:t>
            </a:r>
          </a:p>
        </p:txBody>
      </p:sp>
      <p:sp>
        <p:nvSpPr>
          <p:cNvPr id="4" name="">
            <a:extLst xmlns:a="http://schemas.openxmlformats.org/drawingml/2006/main">
              <a:ext uri="{FF2B5EF4-FFF2-40B4-BE49-F238E27FC236}">
                <a16:creationId xmlns:a16="http://schemas.microsoft.com/office/drawing/2014/main" id="{F36E2888-7A87-42FE-BBC0-6915D1C9EC81}"/>
              </a:ext>
            </a:extLst>
          </p:cNvPr>
          <p:cNvSpPr>
            <a:spLocks xmlns:a="http://schemas.openxmlformats.org/drawingml/2006/main" noGrp="1"/>
          </p:cNvSpPr>
          <p:nvPr/>
        </p:nvSpPr>
        <p:spPr>
          <a:xfrm xmlns:a="http://schemas.openxmlformats.org/drawingml/2006/main">
            <a:off x="647700" y="270510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Includes iPad in landscape.</a:t>
            </a:r>
          </a:p>
        </p:txBody>
      </p:sp>
      <p:sp>
        <p:nvSpPr>
          <p:cNvPr id="5" name="">
            <a:extLst xmlns:a="http://schemas.openxmlformats.org/drawingml/2006/main">
              <a:ext uri="{FF2B5EF4-FFF2-40B4-BE49-F238E27FC236}">
                <a16:creationId xmlns:a16="http://schemas.microsoft.com/office/drawing/2014/main" id="{D3289F8D-BAF7-48AE-831A-E01AA175BC00}"/>
              </a:ext>
            </a:extLst>
          </p:cNvPr>
          <p:cNvSpPr>
            <a:spLocks xmlns:a="http://schemas.openxmlformats.org/drawingml/2006/main" noGrp="1"/>
          </p:cNvSpPr>
          <p:nvPr/>
        </p:nvSpPr>
        <p:spPr>
          <a:xfrm xmlns:a="http://schemas.openxmlformats.org/drawingml/2006/main">
            <a:off x="647700" y="375285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Tap a day to change its mark.</a:t>
            </a:r>
          </a:p>
        </p:txBody>
      </p:sp>
      <p:sp>
        <p:nvSpPr>
          <p:cNvPr id="6" name="">
            <a:extLst xmlns:a="http://schemas.openxmlformats.org/drawingml/2006/main">
              <a:ext uri="{FF2B5EF4-FFF2-40B4-BE49-F238E27FC236}">
                <a16:creationId xmlns:a16="http://schemas.microsoft.com/office/drawing/2014/main" id="{CD95C8E3-4D03-4B6F-90C8-688C991443DD}"/>
              </a:ext>
            </a:extLst>
          </p:cNvPr>
          <p:cNvSpPr>
            <a:spLocks xmlns:a="http://schemas.openxmlformats.org/drawingml/2006/main" noGrp="1"/>
          </p:cNvSpPr>
          <p:nvPr/>
        </p:nvSpPr>
        <p:spPr>
          <a:xfrm xmlns:a="http://schemas.openxmlformats.org/drawingml/2006/main">
            <a:off x="647700" y="480060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Scroll vertically through all habits.</a:t>
            </a:r>
          </a:p>
        </p:txBody>
      </p:sp>
      <p:sp>
        <p:nvSpPr>
          <p:cNvPr id="7" name="">
            <a:extLst xmlns:a="http://schemas.openxmlformats.org/drawingml/2006/main">
              <a:ext uri="{FF2B5EF4-FFF2-40B4-BE49-F238E27FC236}">
                <a16:creationId xmlns:a16="http://schemas.microsoft.com/office/drawing/2014/main" id="{7A779D75-4030-4E75-A622-6175C81389D7}"/>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Browser-rendered example; Obsidian APIs mocked</a:t>
            </a:r>
          </a:p>
        </p:txBody>
      </p:sp>
      <p:sp>
        <p:nvSpPr>
          <p:cNvPr id="8" name="">
            <a:extLst xmlns:a="http://schemas.openxmlformats.org/drawingml/2006/main">
              <a:ext uri="{FF2B5EF4-FFF2-40B4-BE49-F238E27FC236}">
                <a16:creationId xmlns:a16="http://schemas.microsoft.com/office/drawing/2014/main" id="{61E96537-A482-4522-93FD-71FCAC05E537}"/>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04</a:t>
            </a:r>
          </a:p>
        </p:txBody>
      </p:sp>
    </p:spTree>
    <p:extLst>
      <p:ext uri="{BB962C8B-B14F-4D97-AF65-F5344CB8AC3E}">
        <p14:creationId xmlns:p14="http://schemas.microsoft.com/office/powerpoint/2010/main" val="2017110114"/>
      </p:ext>
    </p:extLst>
  </p:cSld>
</p:sld>
</file>

<file path=ppt/slides/slide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1BA218-737E-49D7-AC64-CEB86BA78033}"/>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Requirements and test vault</a:t>
            </a:r>
          </a:p>
        </p:txBody>
      </p:sp>
      <p:sp>
        <p:nvSpPr>
          <p:cNvPr id="2" name="">
            <a:extLst xmlns:a="http://schemas.openxmlformats.org/drawingml/2006/main">
              <a:ext uri="{FF2B5EF4-FFF2-40B4-BE49-F238E27FC236}">
                <a16:creationId xmlns:a16="http://schemas.microsoft.com/office/drawing/2014/main" id="{049C8C91-9E9E-4E44-91B3-F3F18CB72114}"/>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Install Obsidian and create rsn-test-vault for first-use exercises.</a:t>
            </a:r>
          </a:p>
        </p:txBody>
      </p:sp>
      <p:sp>
        <p:nvSpPr>
          <p:cNvPr id="3" name="">
            <a:extLst xmlns:a="http://schemas.openxmlformats.org/drawingml/2006/main">
              <a:ext uri="{FF2B5EF4-FFF2-40B4-BE49-F238E27FC236}">
                <a16:creationId xmlns:a16="http://schemas.microsoft.com/office/drawing/2014/main" id="{A85EF0AF-1B64-4CAB-9B78-0C9406EC44E2}"/>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Targets: Windows 11, Ubuntu 24.04.3 and current Apple/Android systems.</a:t>
            </a:r>
          </a:p>
        </p:txBody>
      </p:sp>
      <p:sp>
        <p:nvSpPr>
          <p:cNvPr id="4" name="">
            <a:extLst xmlns:a="http://schemas.openxmlformats.org/drawingml/2006/main">
              <a:ext uri="{FF2B5EF4-FFF2-40B4-BE49-F238E27FC236}">
                <a16:creationId xmlns:a16="http://schemas.microsoft.com/office/drawing/2014/main" id="{1789FD55-202A-4403-8323-50D278CC9EB6}"/>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Manual Android setup needs an accessible vault and a file manager with hidden files.</a:t>
            </a:r>
          </a:p>
        </p:txBody>
      </p:sp>
      <p:sp>
        <p:nvSpPr>
          <p:cNvPr id="5" name="">
            <a:extLst xmlns:a="http://schemas.openxmlformats.org/drawingml/2006/main">
              <a:ext uri="{FF2B5EF4-FFF2-40B4-BE49-F238E27FC236}">
                <a16:creationId xmlns:a16="http://schemas.microsoft.com/office/drawing/2014/main" id="{D55EBFC3-05B0-4D96-BD0A-A379E6DBD6FE}"/>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Normal use needs no Node.js or Python. Obsidian Sync is optional.</a:t>
            </a:r>
          </a:p>
        </p:txBody>
      </p:sp>
      <p:sp>
        <p:nvSpPr>
          <p:cNvPr id="6" name="">
            <a:extLst xmlns:a="http://schemas.openxmlformats.org/drawingml/2006/main">
              <a:ext uri="{FF2B5EF4-FFF2-40B4-BE49-F238E27FC236}">
                <a16:creationId xmlns:a16="http://schemas.microsoft.com/office/drawing/2014/main" id="{C4B612E7-7E1A-4C10-9566-F1860293BAB4}"/>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5DD66439-C5BB-431E-B9A0-31C30D46E5D9}"/>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05</a:t>
            </a:r>
          </a:p>
        </p:txBody>
      </p:sp>
    </p:spTree>
    <p:extLst>
      <p:ext uri="{BB962C8B-B14F-4D97-AF65-F5344CB8AC3E}">
        <p14:creationId xmlns:p14="http://schemas.microsoft.com/office/powerpoint/2010/main" val="475616675"/>
      </p:ext>
    </p:extLst>
  </p:cSld>
</p:sld>
</file>

<file path=ppt/slides/slide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A4A631-B6AD-4432-82DE-B108A4977570}"/>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GitHub release downloads</a:t>
            </a:r>
          </a:p>
        </p:txBody>
      </p:sp>
      <p:sp>
        <p:nvSpPr>
          <p:cNvPr id="2" name="">
            <a:extLst xmlns:a="http://schemas.openxmlformats.org/drawingml/2006/main">
              <a:ext uri="{FF2B5EF4-FFF2-40B4-BE49-F238E27FC236}">
                <a16:creationId xmlns:a16="http://schemas.microsoft.com/office/drawing/2014/main" id="{22169782-A26F-4F59-81AC-E2AA72FC399C}"/>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Open harharhari/rsn-habit-tracker-obsidian-plugin on GitHub, then Releases.</a:t>
            </a:r>
          </a:p>
        </p:txBody>
      </p:sp>
      <p:sp>
        <p:nvSpPr>
          <p:cNvPr id="3" name="">
            <a:extLst xmlns:a="http://schemas.openxmlformats.org/drawingml/2006/main">
              <a:ext uri="{FF2B5EF4-FFF2-40B4-BE49-F238E27FC236}">
                <a16:creationId xmlns:a16="http://schemas.microsoft.com/office/drawing/2014/main" id="{ED349A8F-5577-4F75-B934-6342B0EFB299}"/>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Select release tag 1.1.5 and expand Assets.</a:t>
            </a:r>
          </a:p>
        </p:txBody>
      </p:sp>
      <p:sp>
        <p:nvSpPr>
          <p:cNvPr id="4" name="">
            <a:extLst xmlns:a="http://schemas.openxmlformats.org/drawingml/2006/main">
              <a:ext uri="{FF2B5EF4-FFF2-40B4-BE49-F238E27FC236}">
                <a16:creationId xmlns:a16="http://schemas.microsoft.com/office/drawing/2014/main" id="{88FEB46C-A9CA-46F7-9A51-1A29034E9846}"/>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Download main.js, manifest.json and styles.css into one folder.</a:t>
            </a:r>
          </a:p>
        </p:txBody>
      </p:sp>
      <p:sp>
        <p:nvSpPr>
          <p:cNvPr id="5" name="">
            <a:extLst xmlns:a="http://schemas.openxmlformats.org/drawingml/2006/main">
              <a:ext uri="{FF2B5EF4-FFF2-40B4-BE49-F238E27FC236}">
                <a16:creationId xmlns:a16="http://schemas.microsoft.com/office/drawing/2014/main" id="{F535ECBA-C6B4-45C8-980A-44019DF44D4F}"/>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The color starter is embedded. Source code ZIP links require a developer build.</a:t>
            </a:r>
          </a:p>
        </p:txBody>
      </p:sp>
      <p:sp>
        <p:nvSpPr>
          <p:cNvPr id="6" name="">
            <a:extLst xmlns:a="http://schemas.openxmlformats.org/drawingml/2006/main">
              <a:ext uri="{FF2B5EF4-FFF2-40B4-BE49-F238E27FC236}">
                <a16:creationId xmlns:a16="http://schemas.microsoft.com/office/drawing/2014/main" id="{49CFCB37-4531-4EE8-9A05-9D6ABBBB9F2B}"/>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41303526-D347-4CC4-A41D-03A2A8FC0179}"/>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06</a:t>
            </a:r>
          </a:p>
        </p:txBody>
      </p:sp>
    </p:spTree>
    <p:extLst>
      <p:ext uri="{BB962C8B-B14F-4D97-AF65-F5344CB8AC3E}">
        <p14:creationId xmlns:p14="http://schemas.microsoft.com/office/powerpoint/2010/main" val="1368981099"/>
      </p:ext>
    </p:extLst>
  </p:cSld>
</p:sld>
</file>

<file path=ppt/slides/slide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302D56-1A1F-450E-8CD6-371C366AA79F}"/>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Download provenance</a:t>
            </a:r>
          </a:p>
        </p:txBody>
      </p:sp>
      <p:sp>
        <p:nvSpPr>
          <p:cNvPr id="2" name="">
            <a:extLst xmlns:a="http://schemas.openxmlformats.org/drawingml/2006/main">
              <a:ext uri="{FF2B5EF4-FFF2-40B4-BE49-F238E27FC236}">
                <a16:creationId xmlns:a16="http://schemas.microsoft.com/office/drawing/2014/main" id="{C90E453B-3D59-483E-92BD-E51269F53EFB}"/>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The maintainer workflow attests the files built from the reviewed tag.</a:t>
            </a:r>
          </a:p>
        </p:txBody>
      </p:sp>
      <p:sp>
        <p:nvSpPr>
          <p:cNvPr id="3" name="">
            <a:extLst xmlns:a="http://schemas.openxmlformats.org/drawingml/2006/main">
              <a:ext uri="{FF2B5EF4-FFF2-40B4-BE49-F238E27FC236}">
                <a16:creationId xmlns:a16="http://schemas.microsoft.com/office/drawing/2014/main" id="{A46161F6-DD00-4C55-BEB5-46C8B0552712}"/>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With GitHub CLI, verify each downloaded file against the repository.</a:t>
            </a:r>
          </a:p>
        </p:txBody>
      </p:sp>
      <p:sp>
        <p:nvSpPr>
          <p:cNvPr id="4" name="">
            <a:extLst xmlns:a="http://schemas.openxmlformats.org/drawingml/2006/main">
              <a:ext uri="{FF2B5EF4-FFF2-40B4-BE49-F238E27FC236}">
                <a16:creationId xmlns:a16="http://schemas.microsoft.com/office/drawing/2014/main" id="{674E68EE-1F2C-418F-8939-9855683C03B2}"/>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Check the verification result’s source commit and workflow.</a:t>
            </a:r>
          </a:p>
        </p:txBody>
      </p:sp>
      <p:sp>
        <p:nvSpPr>
          <p:cNvPr id="5" name="">
            <a:extLst xmlns:a="http://schemas.openxmlformats.org/drawingml/2006/main">
              <a:ext uri="{FF2B5EF4-FFF2-40B4-BE49-F238E27FC236}">
                <a16:creationId xmlns:a16="http://schemas.microsoft.com/office/drawing/2014/main" id="{8904CB2A-2292-4F1F-AC27-27CA35ED3BDA}"/>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Local handoff files have checksums; they are not described as attested.</a:t>
            </a:r>
          </a:p>
        </p:txBody>
      </p:sp>
      <p:sp>
        <p:nvSpPr>
          <p:cNvPr id="6" name="">
            <a:extLst xmlns:a="http://schemas.openxmlformats.org/drawingml/2006/main">
              <a:ext uri="{FF2B5EF4-FFF2-40B4-BE49-F238E27FC236}">
                <a16:creationId xmlns:a16="http://schemas.microsoft.com/office/drawing/2014/main" id="{8D498089-4ACE-4939-B551-878765B82C05}"/>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FF16F759-6FB7-4740-9EFF-38BF4EC57B69}"/>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07</a:t>
            </a:r>
          </a:p>
        </p:txBody>
      </p:sp>
    </p:spTree>
    <p:extLst>
      <p:ext uri="{BB962C8B-B14F-4D97-AF65-F5344CB8AC3E}">
        <p14:creationId xmlns:p14="http://schemas.microsoft.com/office/powerpoint/2010/main" val="1830379072"/>
      </p:ext>
    </p:extLst>
  </p:cSld>
</p:sld>
</file>

<file path=ppt/slides/slide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63D151-DE20-42D2-BE6B-C2CB73B3A028}"/>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Checksum verification</a:t>
            </a:r>
          </a:p>
        </p:txBody>
      </p:sp>
      <p:sp>
        <p:nvSpPr>
          <p:cNvPr id="2" name="">
            <a:extLst xmlns:a="http://schemas.openxmlformats.org/drawingml/2006/main">
              <a:ext uri="{FF2B5EF4-FFF2-40B4-BE49-F238E27FC236}">
                <a16:creationId xmlns:a16="http://schemas.microsoft.com/office/drawing/2014/main" id="{F37A68DA-3427-4578-9AC1-7178A087A62C}"/>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Use docs/RELEASE-ASSET-SHA256SUMS from the exact version tag.</a:t>
            </a:r>
          </a:p>
        </p:txBody>
      </p:sp>
      <p:sp>
        <p:nvSpPr>
          <p:cNvPr id="3" name="">
            <a:extLst xmlns:a="http://schemas.openxmlformats.org/drawingml/2006/main">
              <a:ext uri="{FF2B5EF4-FFF2-40B4-BE49-F238E27FC236}">
                <a16:creationId xmlns:a16="http://schemas.microsoft.com/office/drawing/2014/main" id="{64F316B3-141B-4E87-9CF2-5D54C84290F9}"/>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Ubuntu: sha256sum -c RELEASE-ASSET-SHA256SUMS</a:t>
            </a:r>
          </a:p>
        </p:txBody>
      </p:sp>
      <p:sp>
        <p:nvSpPr>
          <p:cNvPr id="4" name="">
            <a:extLst xmlns:a="http://schemas.openxmlformats.org/drawingml/2006/main">
              <a:ext uri="{FF2B5EF4-FFF2-40B4-BE49-F238E27FC236}">
                <a16:creationId xmlns:a16="http://schemas.microsoft.com/office/drawing/2014/main" id="{0C6515C7-3AF7-4C9E-AD41-9ABB440556FB}"/>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Mac: shasum -a 256 -c RELEASE-ASSET-SHA256SUMS</a:t>
            </a:r>
          </a:p>
        </p:txBody>
      </p:sp>
      <p:sp>
        <p:nvSpPr>
          <p:cNvPr id="5" name="">
            <a:extLst xmlns:a="http://schemas.openxmlformats.org/drawingml/2006/main">
              <a:ext uri="{FF2B5EF4-FFF2-40B4-BE49-F238E27FC236}">
                <a16:creationId xmlns:a16="http://schemas.microsoft.com/office/drawing/2014/main" id="{E545C97B-91A3-4CA4-964E-F323728C6768}"/>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Windows: use the PowerShell loop in docs/CHECKSUMS.md.</a:t>
            </a:r>
          </a:p>
        </p:txBody>
      </p:sp>
      <p:sp>
        <p:nvSpPr>
          <p:cNvPr id="6" name="">
            <a:extLst xmlns:a="http://schemas.openxmlformats.org/drawingml/2006/main">
              <a:ext uri="{FF2B5EF4-FFF2-40B4-BE49-F238E27FC236}">
                <a16:creationId xmlns:a16="http://schemas.microsoft.com/office/drawing/2014/main" id="{026D6412-B0F9-4072-9729-022794FF5C48}"/>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5CDAF044-D0EA-4689-8070-B591B6E78B54}"/>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08</a:t>
            </a:r>
          </a:p>
        </p:txBody>
      </p:sp>
    </p:spTree>
    <p:extLst>
      <p:ext uri="{BB962C8B-B14F-4D97-AF65-F5344CB8AC3E}">
        <p14:creationId xmlns:p14="http://schemas.microsoft.com/office/powerpoint/2010/main" val="710706009"/>
      </p:ext>
    </p:extLst>
  </p:cSld>
</p:sld>
</file>

<file path=ppt/slides/slide9.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1AB162-3FF1-4263-8EFC-D1D3B601C86F}"/>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Windows 11: plugin files</a:t>
            </a:r>
          </a:p>
        </p:txBody>
      </p:sp>
      <p:sp>
        <p:nvSpPr>
          <p:cNvPr id="2" name="">
            <a:extLst xmlns:a="http://schemas.openxmlformats.org/drawingml/2006/main">
              <a:ext uri="{FF2B5EF4-FFF2-40B4-BE49-F238E27FC236}">
                <a16:creationId xmlns:a16="http://schemas.microsoft.com/office/drawing/2014/main" id="{C581371B-3E79-49F2-B43B-9BD1A8AA9C9F}"/>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1. Open rsn-test-vault once, then close Obsidian.</a:t>
            </a:r>
          </a:p>
        </p:txBody>
      </p:sp>
      <p:sp>
        <p:nvSpPr>
          <p:cNvPr id="3" name="">
            <a:extLst xmlns:a="http://schemas.openxmlformats.org/drawingml/2006/main">
              <a:ext uri="{FF2B5EF4-FFF2-40B4-BE49-F238E27FC236}">
                <a16:creationId xmlns:a16="http://schemas.microsoft.com/office/drawing/2014/main" id="{27065130-D423-4F60-89E3-7FD732CBF07F}"/>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2. In File Explorer, enable Hidden items and File name extensions.</a:t>
            </a:r>
          </a:p>
        </p:txBody>
      </p:sp>
      <p:sp>
        <p:nvSpPr>
          <p:cNvPr id="4" name="">
            <a:extLst xmlns:a="http://schemas.openxmlformats.org/drawingml/2006/main">
              <a:ext uri="{FF2B5EF4-FFF2-40B4-BE49-F238E27FC236}">
                <a16:creationId xmlns:a16="http://schemas.microsoft.com/office/drawing/2014/main" id="{52F886D8-1320-4D4F-AE8C-C764C3657D1C}"/>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3. Create .obsidian/plugins/rsn-habit-calendar-one-b/ inside the vault.</a:t>
            </a:r>
          </a:p>
        </p:txBody>
      </p:sp>
      <p:sp>
        <p:nvSpPr>
          <p:cNvPr id="5" name="">
            <a:extLst xmlns:a="http://schemas.openxmlformats.org/drawingml/2006/main">
              <a:ext uri="{FF2B5EF4-FFF2-40B4-BE49-F238E27FC236}">
                <a16:creationId xmlns:a16="http://schemas.microsoft.com/office/drawing/2014/main" id="{03978F37-9529-4506-9C55-8383946FE1FE}"/>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4. Copy main.js, manifest.json and styles.css directly into that folder.</a:t>
            </a:r>
          </a:p>
        </p:txBody>
      </p:sp>
      <p:sp>
        <p:nvSpPr>
          <p:cNvPr id="6" name="">
            <a:extLst xmlns:a="http://schemas.openxmlformats.org/drawingml/2006/main">
              <a:ext uri="{FF2B5EF4-FFF2-40B4-BE49-F238E27FC236}">
                <a16:creationId xmlns:a16="http://schemas.microsoft.com/office/drawing/2014/main" id="{8361FF5B-A976-487C-A587-D42F2E408947}"/>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A1A81FA9-04B6-4224-9778-91929AE4CFCC}"/>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09</a:t>
            </a:r>
          </a:p>
        </p:txBody>
      </p:sp>
    </p:spTree>
    <p:extLst>
      <p:ext uri="{BB962C8B-B14F-4D97-AF65-F5344CB8AC3E}">
        <p14:creationId xmlns:p14="http://schemas.microsoft.com/office/powerpoint/2010/main" val="1593458384"/>
      </p:ext>
    </p:extLst>
  </p:cSld>
</p:sld>
</file>

<file path=ppt/slides/slide10.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14C88E-1716-459A-B691-B3C7ACBF2744}"/>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Windows 11: first opening</a:t>
            </a:r>
          </a:p>
        </p:txBody>
      </p:sp>
      <p:sp>
        <p:nvSpPr>
          <p:cNvPr id="2" name="">
            <a:extLst xmlns:a="http://schemas.openxmlformats.org/drawingml/2006/main">
              <a:ext uri="{FF2B5EF4-FFF2-40B4-BE49-F238E27FC236}">
                <a16:creationId xmlns:a16="http://schemas.microsoft.com/office/drawing/2014/main" id="{497644C1-ACE3-494F-97FB-38D28163C8DA}"/>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1. Reopen rsn-test-vault in Obsidian.</a:t>
            </a:r>
          </a:p>
        </p:txBody>
      </p:sp>
      <p:sp>
        <p:nvSpPr>
          <p:cNvPr id="3" name="">
            <a:extLst xmlns:a="http://schemas.openxmlformats.org/drawingml/2006/main">
              <a:ext uri="{FF2B5EF4-FFF2-40B4-BE49-F238E27FC236}">
                <a16:creationId xmlns:a16="http://schemas.microsoft.com/office/drawing/2014/main" id="{1DBE2D49-B278-47C9-AD64-20D43A1A282C}"/>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2. Under Settings, Community plugins, enable rsn habit calendar one b.</a:t>
            </a:r>
          </a:p>
        </p:txBody>
      </p:sp>
      <p:sp>
        <p:nvSpPr>
          <p:cNvPr id="4" name="">
            <a:extLst xmlns:a="http://schemas.openxmlformats.org/drawingml/2006/main">
              <a:ext uri="{FF2B5EF4-FFF2-40B4-BE49-F238E27FC236}">
                <a16:creationId xmlns:a16="http://schemas.microsoft.com/office/drawing/2014/main" id="{3651F853-197A-4644-B3F4-2188B438B068}"/>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3. Verify version 1.1.5. Press Ctrl+P and run Open current month.</a:t>
            </a:r>
          </a:p>
        </p:txBody>
      </p:sp>
      <p:sp>
        <p:nvSpPr>
          <p:cNvPr id="5" name="">
            <a:extLst xmlns:a="http://schemas.openxmlformats.org/drawingml/2006/main">
              <a:ext uri="{FF2B5EF4-FFF2-40B4-BE49-F238E27FC236}">
                <a16:creationId xmlns:a16="http://schemas.microsoft.com/office/drawing/2014/main" id="{BC18746C-2F3D-4058-B112-2B16D450AA53}"/>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4. Add generic habits using the later practice exercise. Wide panes show six calendars per row.</a:t>
            </a:r>
          </a:p>
        </p:txBody>
      </p:sp>
      <p:sp>
        <p:nvSpPr>
          <p:cNvPr id="6" name="">
            <a:extLst xmlns:a="http://schemas.openxmlformats.org/drawingml/2006/main">
              <a:ext uri="{FF2B5EF4-FFF2-40B4-BE49-F238E27FC236}">
                <a16:creationId xmlns:a16="http://schemas.microsoft.com/office/drawing/2014/main" id="{FFAEA162-B4D2-4744-94C4-8B6939F98927}"/>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39D16D75-9E50-4FA5-B55A-E76279F69B85}"/>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10</a:t>
            </a:r>
          </a:p>
        </p:txBody>
      </p:sp>
    </p:spTree>
    <p:extLst>
      <p:ext uri="{BB962C8B-B14F-4D97-AF65-F5344CB8AC3E}">
        <p14:creationId xmlns:p14="http://schemas.microsoft.com/office/powerpoint/2010/main" val="6819817"/>
      </p:ext>
    </p:extLst>
  </p:cSld>
</p:sld>
</file>

<file path=ppt/slides/slide1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41B3B4-D258-4899-BA2D-F6CEC6635271}"/>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Ubuntu installation: files</a:t>
            </a:r>
          </a:p>
        </p:txBody>
      </p:sp>
      <p:sp>
        <p:nvSpPr>
          <p:cNvPr id="2" name="">
            <a:extLst xmlns:a="http://schemas.openxmlformats.org/drawingml/2006/main">
              <a:ext uri="{FF2B5EF4-FFF2-40B4-BE49-F238E27FC236}">
                <a16:creationId xmlns:a16="http://schemas.microsoft.com/office/drawing/2014/main" id="{8BF1B1FF-21FD-4C8D-B930-63E31BDB934E}"/>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1. Open rsn-test-vault once in Obsidian, then close the app.</a:t>
            </a:r>
          </a:p>
        </p:txBody>
      </p:sp>
      <p:sp>
        <p:nvSpPr>
          <p:cNvPr id="3" name="">
            <a:extLst xmlns:a="http://schemas.openxmlformats.org/drawingml/2006/main">
              <a:ext uri="{FF2B5EF4-FFF2-40B4-BE49-F238E27FC236}">
                <a16:creationId xmlns:a16="http://schemas.microsoft.com/office/drawing/2014/main" id="{BBFDE196-9162-44A8-A53C-95D039657067}"/>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2. In Files, press Ctrl+H to show hidden files. Open the vault’s .obsidian folder.</a:t>
            </a:r>
          </a:p>
        </p:txBody>
      </p:sp>
      <p:sp>
        <p:nvSpPr>
          <p:cNvPr id="4" name="">
            <a:extLst xmlns:a="http://schemas.openxmlformats.org/drawingml/2006/main">
              <a:ext uri="{FF2B5EF4-FFF2-40B4-BE49-F238E27FC236}">
                <a16:creationId xmlns:a16="http://schemas.microsoft.com/office/drawing/2014/main" id="{55FA51A2-D991-45CA-B13F-EFE5AA7E44A1}"/>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3. Create plugins/rsn-habit-calendar-one-b/ if needed.</a:t>
            </a:r>
          </a:p>
        </p:txBody>
      </p:sp>
      <p:sp>
        <p:nvSpPr>
          <p:cNvPr id="5" name="">
            <a:extLst xmlns:a="http://schemas.openxmlformats.org/drawingml/2006/main">
              <a:ext uri="{FF2B5EF4-FFF2-40B4-BE49-F238E27FC236}">
                <a16:creationId xmlns:a16="http://schemas.microsoft.com/office/drawing/2014/main" id="{47ECDFC4-DF97-4A02-971B-BA20AC56D7AE}"/>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4. Copy the three downloaded plugin files directly into that folder.</a:t>
            </a:r>
          </a:p>
        </p:txBody>
      </p:sp>
      <p:sp>
        <p:nvSpPr>
          <p:cNvPr id="6" name="">
            <a:extLst xmlns:a="http://schemas.openxmlformats.org/drawingml/2006/main">
              <a:ext uri="{FF2B5EF4-FFF2-40B4-BE49-F238E27FC236}">
                <a16:creationId xmlns:a16="http://schemas.microsoft.com/office/drawing/2014/main" id="{FF084F78-B6FD-4156-976E-BC4851332719}"/>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3EEF7305-BA13-4BED-93C3-08B3BD28DDBA}"/>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11</a:t>
            </a:r>
          </a:p>
        </p:txBody>
      </p:sp>
    </p:spTree>
    <p:extLst>
      <p:ext uri="{BB962C8B-B14F-4D97-AF65-F5344CB8AC3E}">
        <p14:creationId xmlns:p14="http://schemas.microsoft.com/office/powerpoint/2010/main" val="736176942"/>
      </p:ext>
    </p:extLst>
  </p:cSld>
</p:sld>
</file>

<file path=ppt/slides/slide1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51E964-E625-413F-9B72-F6B2DCC595F2}"/>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Ubuntu installation: first opening</a:t>
            </a:r>
          </a:p>
        </p:txBody>
      </p:sp>
      <p:sp>
        <p:nvSpPr>
          <p:cNvPr id="2" name="">
            <a:extLst xmlns:a="http://schemas.openxmlformats.org/drawingml/2006/main">
              <a:ext uri="{FF2B5EF4-FFF2-40B4-BE49-F238E27FC236}">
                <a16:creationId xmlns:a16="http://schemas.microsoft.com/office/drawing/2014/main" id="{F0019085-F0E3-4D11-AAD1-56341210BE0B}"/>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1. Reopen the correct vault in Obsidian.</a:t>
            </a:r>
          </a:p>
        </p:txBody>
      </p:sp>
      <p:sp>
        <p:nvSpPr>
          <p:cNvPr id="3" name="">
            <a:extLst xmlns:a="http://schemas.openxmlformats.org/drawingml/2006/main">
              <a:ext uri="{FF2B5EF4-FFF2-40B4-BE49-F238E27FC236}">
                <a16:creationId xmlns:a16="http://schemas.microsoft.com/office/drawing/2014/main" id="{00AE1274-3D37-4718-87EF-E40AAEFDD959}"/>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2. Open Settings, then Community plugins. Allow community plugins.</a:t>
            </a:r>
          </a:p>
        </p:txBody>
      </p:sp>
      <p:sp>
        <p:nvSpPr>
          <p:cNvPr id="4" name="">
            <a:extLst xmlns:a="http://schemas.openxmlformats.org/drawingml/2006/main">
              <a:ext uri="{FF2B5EF4-FFF2-40B4-BE49-F238E27FC236}">
                <a16:creationId xmlns:a16="http://schemas.microsoft.com/office/drawing/2014/main" id="{45833DA5-F538-4A11-B78D-5FBFFE7C1CCD}"/>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3. Enable rsn habit calendar one b and verify version 1.1.5.</a:t>
            </a:r>
          </a:p>
        </p:txBody>
      </p:sp>
      <p:sp>
        <p:nvSpPr>
          <p:cNvPr id="5" name="">
            <a:extLst xmlns:a="http://schemas.openxmlformats.org/drawingml/2006/main">
              <a:ext uri="{FF2B5EF4-FFF2-40B4-BE49-F238E27FC236}">
                <a16:creationId xmlns:a16="http://schemas.microsoft.com/office/drawing/2014/main" id="{74F6CBB6-9775-40AD-9C8D-3454D3550298}"/>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4. Press Ctrl+P. Run rsn habit calendar one b: Open current month.</a:t>
            </a:r>
          </a:p>
        </p:txBody>
      </p:sp>
      <p:sp>
        <p:nvSpPr>
          <p:cNvPr id="6" name="">
            <a:extLst xmlns:a="http://schemas.openxmlformats.org/drawingml/2006/main">
              <a:ext uri="{FF2B5EF4-FFF2-40B4-BE49-F238E27FC236}">
                <a16:creationId xmlns:a16="http://schemas.microsoft.com/office/drawing/2014/main" id="{0CD60739-67B3-4680-A351-6393D8F622D8}"/>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1AE7AC84-14EB-43F2-9917-55396AD53881}"/>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12</a:t>
            </a:r>
          </a:p>
        </p:txBody>
      </p:sp>
    </p:spTree>
    <p:extLst>
      <p:ext uri="{BB962C8B-B14F-4D97-AF65-F5344CB8AC3E}">
        <p14:creationId xmlns:p14="http://schemas.microsoft.com/office/powerpoint/2010/main" val="1582797616"/>
      </p:ext>
    </p:extLst>
  </p:cSld>
</p:sld>
</file>

<file path=ppt/slides/slide1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98C0B6-90DC-4FAE-8BD2-818A202B25B1}"/>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Mac: plugin files</a:t>
            </a:r>
          </a:p>
        </p:txBody>
      </p:sp>
      <p:sp>
        <p:nvSpPr>
          <p:cNvPr id="2" name="">
            <a:extLst xmlns:a="http://schemas.openxmlformats.org/drawingml/2006/main">
              <a:ext uri="{FF2B5EF4-FFF2-40B4-BE49-F238E27FC236}">
                <a16:creationId xmlns:a16="http://schemas.microsoft.com/office/drawing/2014/main" id="{A9699BA8-574C-4B74-9365-94F3A94C6EEE}"/>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1. Open rsn-test-vault once, then quit Obsidian.</a:t>
            </a:r>
          </a:p>
        </p:txBody>
      </p:sp>
      <p:sp>
        <p:nvSpPr>
          <p:cNvPr id="3" name="">
            <a:extLst xmlns:a="http://schemas.openxmlformats.org/drawingml/2006/main">
              <a:ext uri="{FF2B5EF4-FFF2-40B4-BE49-F238E27FC236}">
                <a16:creationId xmlns:a16="http://schemas.microsoft.com/office/drawing/2014/main" id="{92A93A49-E9A0-447C-BE9D-FBE34CA144C0}"/>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2. In Finder, press Command+Shift+period to reveal hidden files.</a:t>
            </a:r>
          </a:p>
        </p:txBody>
      </p:sp>
      <p:sp>
        <p:nvSpPr>
          <p:cNvPr id="4" name="">
            <a:extLst xmlns:a="http://schemas.openxmlformats.org/drawingml/2006/main">
              <a:ext uri="{FF2B5EF4-FFF2-40B4-BE49-F238E27FC236}">
                <a16:creationId xmlns:a16="http://schemas.microsoft.com/office/drawing/2014/main" id="{2232B9F3-5DA9-4A56-B971-6C5575F0641C}"/>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3. Create .obsidian/plugins/rsn-habit-calendar-one-b/ inside the vault.</a:t>
            </a:r>
          </a:p>
        </p:txBody>
      </p:sp>
      <p:sp>
        <p:nvSpPr>
          <p:cNvPr id="5" name="">
            <a:extLst xmlns:a="http://schemas.openxmlformats.org/drawingml/2006/main">
              <a:ext uri="{FF2B5EF4-FFF2-40B4-BE49-F238E27FC236}">
                <a16:creationId xmlns:a16="http://schemas.microsoft.com/office/drawing/2014/main" id="{D0C83A28-9F72-4853-B32E-03E4C1AAED1D}"/>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4. Copy main.js, manifest.json and styles.css directly into that folder.</a:t>
            </a:r>
          </a:p>
        </p:txBody>
      </p:sp>
      <p:sp>
        <p:nvSpPr>
          <p:cNvPr id="6" name="">
            <a:extLst xmlns:a="http://schemas.openxmlformats.org/drawingml/2006/main">
              <a:ext uri="{FF2B5EF4-FFF2-40B4-BE49-F238E27FC236}">
                <a16:creationId xmlns:a16="http://schemas.microsoft.com/office/drawing/2014/main" id="{4059CEA3-153D-4D95-9807-89761ACA06B8}"/>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916EAAD0-4758-464E-B6F3-CD9305C9A0D6}"/>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13</a:t>
            </a:r>
          </a:p>
        </p:txBody>
      </p:sp>
    </p:spTree>
    <p:extLst>
      <p:ext uri="{BB962C8B-B14F-4D97-AF65-F5344CB8AC3E}">
        <p14:creationId xmlns:p14="http://schemas.microsoft.com/office/powerpoint/2010/main" val="1278278692"/>
      </p:ext>
    </p:extLst>
  </p:cSld>
</p:sld>
</file>

<file path=ppt/slides/slide1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538F11-CF83-40FB-A679-824379FF05C8}"/>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Mac: first opening</a:t>
            </a:r>
          </a:p>
        </p:txBody>
      </p:sp>
      <p:sp>
        <p:nvSpPr>
          <p:cNvPr id="2" name="">
            <a:extLst xmlns:a="http://schemas.openxmlformats.org/drawingml/2006/main">
              <a:ext uri="{FF2B5EF4-FFF2-40B4-BE49-F238E27FC236}">
                <a16:creationId xmlns:a16="http://schemas.microsoft.com/office/drawing/2014/main" id="{EC55CD4F-559D-4931-BF0C-B80EDF660806}"/>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1. Reopen the same vault. Enable rsn habit calendar one b under Community plugins.</a:t>
            </a:r>
          </a:p>
        </p:txBody>
      </p:sp>
      <p:sp>
        <p:nvSpPr>
          <p:cNvPr id="3" name="">
            <a:extLst xmlns:a="http://schemas.openxmlformats.org/drawingml/2006/main">
              <a:ext uri="{FF2B5EF4-FFF2-40B4-BE49-F238E27FC236}">
                <a16:creationId xmlns:a16="http://schemas.microsoft.com/office/drawing/2014/main" id="{E1058CFC-79E3-40F0-8184-F1DE9A0E51C7}"/>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2. Confirm version 1.1.5. Press Command+P to open the command palette.</a:t>
            </a:r>
          </a:p>
        </p:txBody>
      </p:sp>
      <p:sp>
        <p:nvSpPr>
          <p:cNvPr id="4" name="">
            <a:extLst xmlns:a="http://schemas.openxmlformats.org/drawingml/2006/main">
              <a:ext uri="{FF2B5EF4-FFF2-40B4-BE49-F238E27FC236}">
                <a16:creationId xmlns:a16="http://schemas.microsoft.com/office/drawing/2014/main" id="{343FB0EE-5E7C-449B-A434-305AD587987C}"/>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3. Run rsn habit calendar one b: Open current month.</a:t>
            </a:r>
          </a:p>
        </p:txBody>
      </p:sp>
      <p:sp>
        <p:nvSpPr>
          <p:cNvPr id="5" name="">
            <a:extLst xmlns:a="http://schemas.openxmlformats.org/drawingml/2006/main">
              <a:ext uri="{FF2B5EF4-FFF2-40B4-BE49-F238E27FC236}">
                <a16:creationId xmlns:a16="http://schemas.microsoft.com/office/drawing/2014/main" id="{D5345230-8B69-4391-B306-4A9E61F12115}"/>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4. Test marking, restart and a narrow split pane before using personal data.</a:t>
            </a:r>
          </a:p>
        </p:txBody>
      </p:sp>
      <p:sp>
        <p:nvSpPr>
          <p:cNvPr id="6" name="">
            <a:extLst xmlns:a="http://schemas.openxmlformats.org/drawingml/2006/main">
              <a:ext uri="{FF2B5EF4-FFF2-40B4-BE49-F238E27FC236}">
                <a16:creationId xmlns:a16="http://schemas.microsoft.com/office/drawing/2014/main" id="{07E672DF-2135-40E2-8B9D-AE6D30F48DC0}"/>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7F1C6112-873C-4D2D-9D25-201448F2046E}"/>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14</a:t>
            </a:r>
          </a:p>
        </p:txBody>
      </p:sp>
    </p:spTree>
    <p:extLst>
      <p:ext uri="{BB962C8B-B14F-4D97-AF65-F5344CB8AC3E}">
        <p14:creationId xmlns:p14="http://schemas.microsoft.com/office/powerpoint/2010/main" val="960552169"/>
      </p:ext>
    </p:extLst>
  </p:cSld>
</p:sld>
</file>

<file path=ppt/slides/slide1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273891-9129-41F2-83DD-104AB8EF508F}"/>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Android installation: vault location</a:t>
            </a:r>
          </a:p>
        </p:txBody>
      </p:sp>
      <p:sp>
        <p:nvSpPr>
          <p:cNvPr id="2" name="">
            <a:extLst xmlns:a="http://schemas.openxmlformats.org/drawingml/2006/main">
              <a:ext uri="{FF2B5EF4-FFF2-40B4-BE49-F238E27FC236}">
                <a16:creationId xmlns:a16="http://schemas.microsoft.com/office/drawing/2014/main" id="{23992636-A6FA-414A-B731-80B0B099D71C}"/>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1. Install the official Obsidian app and create or open rsn-test-vault.</a:t>
            </a:r>
          </a:p>
        </p:txBody>
      </p:sp>
      <p:sp>
        <p:nvSpPr>
          <p:cNvPr id="3" name="">
            <a:extLst xmlns:a="http://schemas.openxmlformats.org/drawingml/2006/main">
              <a:ext uri="{FF2B5EF4-FFF2-40B4-BE49-F238E27FC236}">
                <a16:creationId xmlns:a16="http://schemas.microsoft.com/office/drawing/2014/main" id="{A93F0109-216E-4E41-A2D9-BD5405D2192E}"/>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2. For manual file copying, choose device storage and note the real folder location.</a:t>
            </a:r>
          </a:p>
        </p:txBody>
      </p:sp>
      <p:sp>
        <p:nvSpPr>
          <p:cNvPr id="4" name="">
            <a:extLst xmlns:a="http://schemas.openxmlformats.org/drawingml/2006/main">
              <a:ext uri="{FF2B5EF4-FFF2-40B4-BE49-F238E27FC236}">
                <a16:creationId xmlns:a16="http://schemas.microsoft.com/office/drawing/2014/main" id="{B35AE66D-1E40-44BC-B33A-A7C344661E43}"/>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3. Open the vault once. Force-stop Obsidian using Android Settings.</a:t>
            </a:r>
          </a:p>
        </p:txBody>
      </p:sp>
      <p:sp>
        <p:nvSpPr>
          <p:cNvPr id="5" name="">
            <a:extLst xmlns:a="http://schemas.openxmlformats.org/drawingml/2006/main">
              <a:ext uri="{FF2B5EF4-FFF2-40B4-BE49-F238E27FC236}">
                <a16:creationId xmlns:a16="http://schemas.microsoft.com/office/drawing/2014/main" id="{0008389E-CF5E-4B88-9E2D-46F8C2C10818}"/>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4. Transfer verified files from Ubuntu, or download the same release on the phone.</a:t>
            </a:r>
          </a:p>
        </p:txBody>
      </p:sp>
      <p:sp>
        <p:nvSpPr>
          <p:cNvPr id="6" name="">
            <a:extLst xmlns:a="http://schemas.openxmlformats.org/drawingml/2006/main">
              <a:ext uri="{FF2B5EF4-FFF2-40B4-BE49-F238E27FC236}">
                <a16:creationId xmlns:a16="http://schemas.microsoft.com/office/drawing/2014/main" id="{FDBEAA13-127F-4FE0-85B0-8A11708CED7A}"/>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574A62E6-74AD-41AC-9704-FF52F89948D4}"/>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15</a:t>
            </a:r>
          </a:p>
        </p:txBody>
      </p:sp>
    </p:spTree>
    <p:extLst>
      <p:ext uri="{BB962C8B-B14F-4D97-AF65-F5344CB8AC3E}">
        <p14:creationId xmlns:p14="http://schemas.microsoft.com/office/powerpoint/2010/main" val="2108830735"/>
      </p:ext>
    </p:extLst>
  </p:cSld>
</p:sld>
</file>

<file path=ppt/slides/slide1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BE388D-14BC-41B2-9EBE-5A3E18EA8DBE}"/>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Android installation: plugin files</a:t>
            </a:r>
          </a:p>
        </p:txBody>
      </p:sp>
      <p:sp>
        <p:nvSpPr>
          <p:cNvPr id="2" name="">
            <a:extLst xmlns:a="http://schemas.openxmlformats.org/drawingml/2006/main">
              <a:ext uri="{FF2B5EF4-FFF2-40B4-BE49-F238E27FC236}">
                <a16:creationId xmlns:a16="http://schemas.microsoft.com/office/drawing/2014/main" id="{A6FBFDE2-22F7-4F1D-A467-3960F32A09DC}"/>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1. Enable Show hidden files in your file manager.</a:t>
            </a:r>
          </a:p>
        </p:txBody>
      </p:sp>
      <p:sp>
        <p:nvSpPr>
          <p:cNvPr id="3" name="">
            <a:extLst xmlns:a="http://schemas.openxmlformats.org/drawingml/2006/main">
              <a:ext uri="{FF2B5EF4-FFF2-40B4-BE49-F238E27FC236}">
                <a16:creationId xmlns:a16="http://schemas.microsoft.com/office/drawing/2014/main" id="{F008F0FC-CAF7-47E7-99F5-2089ED14B186}"/>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2. Inside the vault, create .obsidian/plugins/rsn-habit-calendar-one-b/.</a:t>
            </a:r>
          </a:p>
        </p:txBody>
      </p:sp>
      <p:sp>
        <p:nvSpPr>
          <p:cNvPr id="4" name="">
            <a:extLst xmlns:a="http://schemas.openxmlformats.org/drawingml/2006/main">
              <a:ext uri="{FF2B5EF4-FFF2-40B4-BE49-F238E27FC236}">
                <a16:creationId xmlns:a16="http://schemas.microsoft.com/office/drawing/2014/main" id="{4B4605F3-93FB-4C69-BBB3-531D6CAC4704}"/>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3. Copy main.js, manifest.json and styles.css directly into it.</a:t>
            </a:r>
          </a:p>
        </p:txBody>
      </p:sp>
      <p:sp>
        <p:nvSpPr>
          <p:cNvPr id="5" name="">
            <a:extLst xmlns:a="http://schemas.openxmlformats.org/drawingml/2006/main">
              <a:ext uri="{FF2B5EF4-FFF2-40B4-BE49-F238E27FC236}">
                <a16:creationId xmlns:a16="http://schemas.microsoft.com/office/drawing/2014/main" id="{5ED7A5D1-4CFD-463E-977B-7001F9BFD67A}"/>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4. Reopen Obsidian, allow community plugins and enable rsn habit calendar one b.</a:t>
            </a:r>
          </a:p>
        </p:txBody>
      </p:sp>
      <p:sp>
        <p:nvSpPr>
          <p:cNvPr id="6" name="">
            <a:extLst xmlns:a="http://schemas.openxmlformats.org/drawingml/2006/main">
              <a:ext uri="{FF2B5EF4-FFF2-40B4-BE49-F238E27FC236}">
                <a16:creationId xmlns:a16="http://schemas.microsoft.com/office/drawing/2014/main" id="{FC5AF531-FF7E-45DB-BE16-98AEF8B3939F}"/>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C51E06EB-D76E-4CD3-ACAC-C51B9E92BD5E}"/>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16</a:t>
            </a:r>
          </a:p>
        </p:txBody>
      </p:sp>
    </p:spTree>
    <p:extLst>
      <p:ext uri="{BB962C8B-B14F-4D97-AF65-F5344CB8AC3E}">
        <p14:creationId xmlns:p14="http://schemas.microsoft.com/office/powerpoint/2010/main" val="1835774108"/>
      </p:ext>
    </p:extLst>
  </p:cSld>
</p:sld>
</file>

<file path=ppt/slides/slide1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231E953-F531-4F2B-9ABB-0E2CB3FF47CB}"/>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Android installation: first opening</a:t>
            </a:r>
          </a:p>
        </p:txBody>
      </p:sp>
      <p:sp>
        <p:nvSpPr>
          <p:cNvPr id="2" name="">
            <a:extLst xmlns:a="http://schemas.openxmlformats.org/drawingml/2006/main">
              <a:ext uri="{FF2B5EF4-FFF2-40B4-BE49-F238E27FC236}">
                <a16:creationId xmlns:a16="http://schemas.microsoft.com/office/drawing/2014/main" id="{1FD9EA94-A0FA-493E-9CE4-6DE966F87A51}"/>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Open the command palette from the mobile ribbon or menu.</a:t>
            </a:r>
          </a:p>
        </p:txBody>
      </p:sp>
      <p:sp>
        <p:nvSpPr>
          <p:cNvPr id="3" name="">
            <a:extLst xmlns:a="http://schemas.openxmlformats.org/drawingml/2006/main">
              <a:ext uri="{FF2B5EF4-FFF2-40B4-BE49-F238E27FC236}">
                <a16:creationId xmlns:a16="http://schemas.microsoft.com/office/drawing/2014/main" id="{0EBDE102-AF8A-4BB0-BA69-37CA50D22FAF}"/>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Run rsn habit calendar one b: Open current month.</a:t>
            </a:r>
          </a:p>
        </p:txBody>
      </p:sp>
      <p:sp>
        <p:nvSpPr>
          <p:cNvPr id="4" name="">
            <a:extLst xmlns:a="http://schemas.openxmlformats.org/drawingml/2006/main">
              <a:ext uri="{FF2B5EF4-FFF2-40B4-BE49-F238E27FC236}">
                <a16:creationId xmlns:a16="http://schemas.microsoft.com/office/drawing/2014/main" id="{D77C7487-13F7-4D53-8304-178F76AC79D3}"/>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Expect a title such as 2026-10 October 2026.</a:t>
            </a:r>
          </a:p>
        </p:txBody>
      </p:sp>
      <p:sp>
        <p:nvSpPr>
          <p:cNvPr id="5" name="">
            <a:extLst xmlns:a="http://schemas.openxmlformats.org/drawingml/2006/main">
              <a:ext uri="{FF2B5EF4-FFF2-40B4-BE49-F238E27FC236}">
                <a16:creationId xmlns:a16="http://schemas.microsoft.com/office/drawing/2014/main" id="{DBE43BC6-2F2B-4EAF-BD79-4729613D51DD}"/>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A monthly Markdown note renders its calendar in Reading view; Source mode shows code.</a:t>
            </a:r>
          </a:p>
        </p:txBody>
      </p:sp>
      <p:sp>
        <p:nvSpPr>
          <p:cNvPr id="6" name="">
            <a:extLst xmlns:a="http://schemas.openxmlformats.org/drawingml/2006/main">
              <a:ext uri="{FF2B5EF4-FFF2-40B4-BE49-F238E27FC236}">
                <a16:creationId xmlns:a16="http://schemas.microsoft.com/office/drawing/2014/main" id="{221CC4BC-FDDD-4BF9-9817-CFC03B4E76C3}"/>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13C65B99-80A9-43D2-B896-27A2D1B63C14}"/>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17</a:t>
            </a:r>
          </a:p>
        </p:txBody>
      </p:sp>
    </p:spTree>
    <p:extLst>
      <p:ext uri="{BB962C8B-B14F-4D97-AF65-F5344CB8AC3E}">
        <p14:creationId xmlns:p14="http://schemas.microsoft.com/office/powerpoint/2010/main" val="2083362008"/>
      </p:ext>
    </p:extLst>
  </p:cSld>
</p:sld>
</file>

<file path=ppt/slides/slide1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49F3B6-B6BD-4E0F-9F2B-D33119AF6354}"/>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iPhone and iPad: Sync preparation</a:t>
            </a:r>
          </a:p>
        </p:txBody>
      </p:sp>
      <p:sp>
        <p:nvSpPr>
          <p:cNvPr id="2" name="">
            <a:extLst xmlns:a="http://schemas.openxmlformats.org/drawingml/2006/main">
              <a:ext uri="{FF2B5EF4-FFF2-40B4-BE49-F238E27FC236}">
                <a16:creationId xmlns:a16="http://schemas.microsoft.com/office/drawing/2014/main" id="{7295E308-3B1B-4E5F-B497-73642819CF21}"/>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1. Install 1.1.5 in the desktop rsn-test-vault and confirm it works.</a:t>
            </a:r>
          </a:p>
        </p:txBody>
      </p:sp>
      <p:sp>
        <p:nvSpPr>
          <p:cNvPr id="3" name="">
            <a:extLst xmlns:a="http://schemas.openxmlformats.org/drawingml/2006/main">
              <a:ext uri="{FF2B5EF4-FFF2-40B4-BE49-F238E27FC236}">
                <a16:creationId xmlns:a16="http://schemas.microsoft.com/office/drawing/2014/main" id="{BCA953AD-C82B-49A4-BF2B-758BEA11422C}"/>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2. Connect that local vault to an Obsidian Sync remote vault.</a:t>
            </a:r>
          </a:p>
        </p:txBody>
      </p:sp>
      <p:sp>
        <p:nvSpPr>
          <p:cNvPr id="4" name="">
            <a:extLst xmlns:a="http://schemas.openxmlformats.org/drawingml/2006/main">
              <a:ext uri="{FF2B5EF4-FFF2-40B4-BE49-F238E27FC236}">
                <a16:creationId xmlns:a16="http://schemas.microsoft.com/office/drawing/2014/main" id="{59298707-C38D-45AC-98F1-A013D4849B40}"/>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3. Enable installed and active community plugin sync, plus plugin settings if wanted.</a:t>
            </a:r>
          </a:p>
        </p:txBody>
      </p:sp>
      <p:sp>
        <p:nvSpPr>
          <p:cNvPr id="5" name="">
            <a:extLst xmlns:a="http://schemas.openxmlformats.org/drawingml/2006/main">
              <a:ext uri="{FF2B5EF4-FFF2-40B4-BE49-F238E27FC236}">
                <a16:creationId xmlns:a16="http://schemas.microsoft.com/office/drawing/2014/main" id="{C5A392A1-C6C3-4491-85A2-4F692E4C02E8}"/>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4. Wait for upload completion. Keep this vault outside iCloud Drive.</a:t>
            </a:r>
          </a:p>
        </p:txBody>
      </p:sp>
      <p:sp>
        <p:nvSpPr>
          <p:cNvPr id="6" name="">
            <a:extLst xmlns:a="http://schemas.openxmlformats.org/drawingml/2006/main">
              <a:ext uri="{FF2B5EF4-FFF2-40B4-BE49-F238E27FC236}">
                <a16:creationId xmlns:a16="http://schemas.microsoft.com/office/drawing/2014/main" id="{FE4B625E-4CCE-43F8-B160-4489D26172C2}"/>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31452A2E-AA1C-4249-85B0-CE031B50028B}"/>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18</a:t>
            </a:r>
          </a:p>
        </p:txBody>
      </p:sp>
    </p:spTree>
    <p:extLst>
      <p:ext uri="{BB962C8B-B14F-4D97-AF65-F5344CB8AC3E}">
        <p14:creationId xmlns:p14="http://schemas.microsoft.com/office/powerpoint/2010/main" val="80303331"/>
      </p:ext>
    </p:extLst>
  </p:cSld>
</p:sld>
</file>

<file path=ppt/slides/slide19.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25D35A-9E59-48EC-9D27-8150128596CB}"/>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iPhone and iPad: Sync opening</a:t>
            </a:r>
          </a:p>
        </p:txBody>
      </p:sp>
      <p:sp>
        <p:nvSpPr>
          <p:cNvPr id="2" name="">
            <a:extLst xmlns:a="http://schemas.openxmlformats.org/drawingml/2006/main">
              <a:ext uri="{FF2B5EF4-FFF2-40B4-BE49-F238E27FC236}">
                <a16:creationId xmlns:a16="http://schemas.microsoft.com/office/drawing/2014/main" id="{0BD1A214-B645-4CA2-8F19-D567EEB17C93}"/>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1. Install the official Obsidian app and sign in. Choose the same remote Sync vault.</a:t>
            </a:r>
          </a:p>
        </p:txBody>
      </p:sp>
      <p:sp>
        <p:nvSpPr>
          <p:cNvPr id="3" name="">
            <a:extLst xmlns:a="http://schemas.openxmlformats.org/drawingml/2006/main">
              <a:ext uri="{FF2B5EF4-FFF2-40B4-BE49-F238E27FC236}">
                <a16:creationId xmlns:a16="http://schemas.microsoft.com/office/drawing/2014/main" id="{FD43C55F-F6C4-4EC7-B4B7-467FA621BCAA}"/>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2. Enable the matching plugin sync options on this device. Allow community plugins.</a:t>
            </a:r>
          </a:p>
        </p:txBody>
      </p:sp>
      <p:sp>
        <p:nvSpPr>
          <p:cNvPr id="4" name="">
            <a:extLst xmlns:a="http://schemas.openxmlformats.org/drawingml/2006/main">
              <a:ext uri="{FF2B5EF4-FFF2-40B4-BE49-F238E27FC236}">
                <a16:creationId xmlns:a16="http://schemas.microsoft.com/office/drawing/2014/main" id="{033FCFD4-BE77-4B1C-ADF7-EAF93584D334}"/>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3. Wait for files to arrive, restart Obsidian, and enable rsn habit calendar one b.</a:t>
            </a:r>
          </a:p>
        </p:txBody>
      </p:sp>
      <p:sp>
        <p:nvSpPr>
          <p:cNvPr id="5" name="">
            <a:extLst xmlns:a="http://schemas.openxmlformats.org/drawingml/2006/main">
              <a:ext uri="{FF2B5EF4-FFF2-40B4-BE49-F238E27FC236}">
                <a16:creationId xmlns:a16="http://schemas.microsoft.com/office/drawing/2014/main" id="{7B83EEDE-4B91-48B3-8DC5-3ACC547A7812}"/>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4. Verify 1.1.5 and run Open current month. Expect one calendar per row, even on iPad.</a:t>
            </a:r>
          </a:p>
        </p:txBody>
      </p:sp>
      <p:sp>
        <p:nvSpPr>
          <p:cNvPr id="6" name="">
            <a:extLst xmlns:a="http://schemas.openxmlformats.org/drawingml/2006/main">
              <a:ext uri="{FF2B5EF4-FFF2-40B4-BE49-F238E27FC236}">
                <a16:creationId xmlns:a16="http://schemas.microsoft.com/office/drawing/2014/main" id="{A9E8EAB0-88F8-488A-89EC-A7993A4E5728}"/>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07B51D5E-ABAA-479E-9828-9FE601B7318E}"/>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19</a:t>
            </a:r>
          </a:p>
        </p:txBody>
      </p:sp>
    </p:spTree>
    <p:extLst>
      <p:ext uri="{BB962C8B-B14F-4D97-AF65-F5344CB8AC3E}">
        <p14:creationId xmlns:p14="http://schemas.microsoft.com/office/powerpoint/2010/main" val="1132382461"/>
      </p:ext>
    </p:extLst>
  </p:cSld>
</p:sld>
</file>

<file path=ppt/slides/slide20.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2EA105-2E0C-4323-AD4E-9D52A5F4004D}"/>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Apple alternative: iCloud setup</a:t>
            </a:r>
          </a:p>
        </p:txBody>
      </p:sp>
      <p:sp>
        <p:nvSpPr>
          <p:cNvPr id="2" name="">
            <a:extLst xmlns:a="http://schemas.openxmlformats.org/drawingml/2006/main">
              <a:ext uri="{FF2B5EF4-FFF2-40B4-BE49-F238E27FC236}">
                <a16:creationId xmlns:a16="http://schemas.microsoft.com/office/drawing/2014/main" id="{FEA9BCA9-BF59-4E64-AF62-BB9CEC10F013}"/>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1. On iPhone or iPad, create rsn-test-vault in Obsidian with Store in iCloud enabled.</a:t>
            </a:r>
          </a:p>
        </p:txBody>
      </p:sp>
      <p:sp>
        <p:nvSpPr>
          <p:cNvPr id="3" name="">
            <a:extLst xmlns:a="http://schemas.openxmlformats.org/drawingml/2006/main">
              <a:ext uri="{FF2B5EF4-FFF2-40B4-BE49-F238E27FC236}">
                <a16:creationId xmlns:a16="http://schemas.microsoft.com/office/drawing/2014/main" id="{4A9A6041-CFEB-47AA-A785-5D9FD5FAAE95}"/>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2. On a Mac with the same Apple Account, locate iCloud Drive/Obsidian/rsn-test-vault.</a:t>
            </a:r>
          </a:p>
        </p:txBody>
      </p:sp>
      <p:sp>
        <p:nvSpPr>
          <p:cNvPr id="4" name="">
            <a:extLst xmlns:a="http://schemas.openxmlformats.org/drawingml/2006/main">
              <a:ext uri="{FF2B5EF4-FFF2-40B4-BE49-F238E27FC236}">
                <a16:creationId xmlns:a16="http://schemas.microsoft.com/office/drawing/2014/main" id="{54109B3D-0CC2-4C13-9937-EBBBBFA9141D}"/>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3. Keep that folder downloaded and open it as a vault in Obsidian on the Mac.</a:t>
            </a:r>
          </a:p>
        </p:txBody>
      </p:sp>
      <p:sp>
        <p:nvSpPr>
          <p:cNvPr id="5" name="">
            <a:extLst xmlns:a="http://schemas.openxmlformats.org/drawingml/2006/main">
              <a:ext uri="{FF2B5EF4-FFF2-40B4-BE49-F238E27FC236}">
                <a16:creationId xmlns:a16="http://schemas.microsoft.com/office/drawing/2014/main" id="{0EA096FA-0308-4C43-AC86-DBD323D02551}"/>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4. Close Obsidian before copying plugin files into this vault.</a:t>
            </a:r>
          </a:p>
        </p:txBody>
      </p:sp>
      <p:sp>
        <p:nvSpPr>
          <p:cNvPr id="6" name="">
            <a:extLst xmlns:a="http://schemas.openxmlformats.org/drawingml/2006/main">
              <a:ext uri="{FF2B5EF4-FFF2-40B4-BE49-F238E27FC236}">
                <a16:creationId xmlns:a16="http://schemas.microsoft.com/office/drawing/2014/main" id="{54EEC1D5-97F9-4D39-8BC3-F699C52F5634}"/>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C2D94A7F-2D10-4D92-92A5-E0DD96DFD907}"/>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20</a:t>
            </a:r>
          </a:p>
        </p:txBody>
      </p:sp>
    </p:spTree>
    <p:extLst>
      <p:ext uri="{BB962C8B-B14F-4D97-AF65-F5344CB8AC3E}">
        <p14:creationId xmlns:p14="http://schemas.microsoft.com/office/powerpoint/2010/main" val="1152377605"/>
      </p:ext>
    </p:extLst>
  </p:cSld>
</p:sld>
</file>

<file path=ppt/slides/slide2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99C7DE-F302-4A13-AE9C-E48E1B874F13}"/>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Apple alternative: manual plugin copy</a:t>
            </a:r>
          </a:p>
        </p:txBody>
      </p:sp>
      <p:sp>
        <p:nvSpPr>
          <p:cNvPr id="2" name="">
            <a:extLst xmlns:a="http://schemas.openxmlformats.org/drawingml/2006/main">
              <a:ext uri="{FF2B5EF4-FFF2-40B4-BE49-F238E27FC236}">
                <a16:creationId xmlns:a16="http://schemas.microsoft.com/office/drawing/2014/main" id="{6EAAF19D-FA58-4293-952C-D1EE115790ED}"/>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1. On the Mac, reveal hidden files with Command+Shift+period.</a:t>
            </a:r>
          </a:p>
        </p:txBody>
      </p:sp>
      <p:sp>
        <p:nvSpPr>
          <p:cNvPr id="3" name="">
            <a:extLst xmlns:a="http://schemas.openxmlformats.org/drawingml/2006/main">
              <a:ext uri="{FF2B5EF4-FFF2-40B4-BE49-F238E27FC236}">
                <a16:creationId xmlns:a16="http://schemas.microsoft.com/office/drawing/2014/main" id="{49579A54-7C5D-4F8F-A3B5-352F3C3B0450}"/>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2. Copy the three plugin files into the iCloud vault’s matching plugin folder.</a:t>
            </a:r>
          </a:p>
        </p:txBody>
      </p:sp>
      <p:sp>
        <p:nvSpPr>
          <p:cNvPr id="4" name="">
            <a:extLst xmlns:a="http://schemas.openxmlformats.org/drawingml/2006/main">
              <a:ext uri="{FF2B5EF4-FFF2-40B4-BE49-F238E27FC236}">
                <a16:creationId xmlns:a16="http://schemas.microsoft.com/office/drawing/2014/main" id="{228D2461-ED77-411F-9D21-0E66C19E7627}"/>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3. Wait for iCloud transfer. Reopen Obsidian on each Apple device and enable it.</a:t>
            </a:r>
          </a:p>
        </p:txBody>
      </p:sp>
      <p:sp>
        <p:nvSpPr>
          <p:cNvPr id="5" name="">
            <a:extLst xmlns:a="http://schemas.openxmlformats.org/drawingml/2006/main">
              <a:ext uri="{FF2B5EF4-FFF2-40B4-BE49-F238E27FC236}">
                <a16:creationId xmlns:a16="http://schemas.microsoft.com/office/drawing/2014/main" id="{1AAB3266-6D7E-4373-9970-786ADEC47A22}"/>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4. Verify 1.1.5 and persistence. Keep this vault separate from Obsidian Sync.</a:t>
            </a:r>
          </a:p>
        </p:txBody>
      </p:sp>
      <p:sp>
        <p:nvSpPr>
          <p:cNvPr id="6" name="">
            <a:extLst xmlns:a="http://schemas.openxmlformats.org/drawingml/2006/main">
              <a:ext uri="{FF2B5EF4-FFF2-40B4-BE49-F238E27FC236}">
                <a16:creationId xmlns:a16="http://schemas.microsoft.com/office/drawing/2014/main" id="{8E1E699D-ABA7-4A69-B14F-B6626CE46928}"/>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89982A05-79C2-4948-A215-E749FDA4024E}"/>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21</a:t>
            </a:r>
          </a:p>
        </p:txBody>
      </p:sp>
    </p:spTree>
    <p:extLst>
      <p:ext uri="{BB962C8B-B14F-4D97-AF65-F5344CB8AC3E}">
        <p14:creationId xmlns:p14="http://schemas.microsoft.com/office/powerpoint/2010/main" val="197244440"/>
      </p:ext>
    </p:extLst>
  </p:cSld>
</p:sld>
</file>

<file path=ppt/slides/slide2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0ED357-1DDD-4908-B276-3531C4F23CD8}"/>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The three-column habit list</a:t>
            </a:r>
          </a:p>
        </p:txBody>
      </p:sp>
      <p:sp>
        <p:nvSpPr>
          <p:cNvPr id="2" name="">
            <a:extLst xmlns:a="http://schemas.openxmlformats.org/drawingml/2006/main">
              <a:ext uri="{FF2B5EF4-FFF2-40B4-BE49-F238E27FC236}">
                <a16:creationId xmlns:a16="http://schemas.microsoft.com/office/drawing/2014/main" id="{27A52794-6F03-4672-9132-52531D1CE734}"/>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Use Habit list to open Habit Tracker/habit-tracker-list.md.</a:t>
            </a:r>
          </a:p>
        </p:txBody>
      </p:sp>
      <p:sp>
        <p:nvSpPr>
          <p:cNvPr id="3" name="">
            <a:extLst xmlns:a="http://schemas.openxmlformats.org/drawingml/2006/main">
              <a:ext uri="{FF2B5EF4-FFF2-40B4-BE49-F238E27FC236}">
                <a16:creationId xmlns:a16="http://schemas.microsoft.com/office/drawing/2014/main" id="{9C9AC20C-D9C5-42E8-B019-522693DE2175}"/>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Add Walking with Y and #90EE90. Add Reading with Y and #ADD8E6.</a:t>
            </a:r>
          </a:p>
        </p:txBody>
      </p:sp>
      <p:sp>
        <p:nvSpPr>
          <p:cNvPr id="4" name="">
            <a:extLst xmlns:a="http://schemas.openxmlformats.org/drawingml/2006/main">
              <a:ext uri="{FF2B5EF4-FFF2-40B4-BE49-F238E27FC236}">
                <a16:creationId xmlns:a16="http://schemas.microsoft.com/office/drawing/2014/main" id="{E288B4F9-5146-46DF-B0AE-0DA69EF13239}"/>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Add Yoga with N and #FFDAB9, then save.</a:t>
            </a:r>
          </a:p>
        </p:txBody>
      </p:sp>
      <p:sp>
        <p:nvSpPr>
          <p:cNvPr id="5" name="">
            <a:extLst xmlns:a="http://schemas.openxmlformats.org/drawingml/2006/main">
              <a:ext uri="{FF2B5EF4-FFF2-40B4-BE49-F238E27FC236}">
                <a16:creationId xmlns:a16="http://schemas.microsoft.com/office/drawing/2014/main" id="{7F1EE60D-6C32-4E8D-AAA0-358577CF9F27}"/>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Y includes a calendar when applied. N excludes it. Keep automatic habit-ID comments.</a:t>
            </a:r>
          </a:p>
        </p:txBody>
      </p:sp>
      <p:sp>
        <p:nvSpPr>
          <p:cNvPr id="6" name="">
            <a:extLst xmlns:a="http://schemas.openxmlformats.org/drawingml/2006/main">
              <a:ext uri="{FF2B5EF4-FFF2-40B4-BE49-F238E27FC236}">
                <a16:creationId xmlns:a16="http://schemas.microsoft.com/office/drawing/2014/main" id="{3A81F1D3-80C5-4997-BCB6-4E044C6E3242}"/>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85679262-2431-4834-818C-9F57BDBAABE6}"/>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22</a:t>
            </a:r>
          </a:p>
        </p:txBody>
      </p:sp>
    </p:spTree>
    <p:extLst>
      <p:ext uri="{BB962C8B-B14F-4D97-AF65-F5344CB8AC3E}">
        <p14:creationId xmlns:p14="http://schemas.microsoft.com/office/powerpoint/2010/main" val="80150058"/>
      </p:ext>
    </p:extLst>
  </p:cSld>
</p:sld>
</file>

<file path=ppt/slides/slide2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7C5C2B-8EB8-4E89-AF2B-F3FF715EC22D}"/>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The replacement warning</a:t>
            </a:r>
          </a:p>
        </p:txBody>
      </p:sp>
      <p:sp>
        <p:nvSpPr>
          <p:cNvPr id="2" name="">
            <a:extLst xmlns:a="http://schemas.openxmlformats.org/drawingml/2006/main">
              <a:ext uri="{FF2B5EF4-FFF2-40B4-BE49-F238E27FC236}">
                <a16:creationId xmlns:a16="http://schemas.microsoft.com/office/drawing/2014/main" id="{E79B531F-D1B2-4DF3-9311-1E4DD11210A4}"/>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The warning appears after a meaningful habit-list change.</a:t>
            </a:r>
          </a:p>
        </p:txBody>
      </p:sp>
      <p:sp>
        <p:nvSpPr>
          <p:cNvPr id="3" name="">
            <a:extLst xmlns:a="http://schemas.openxmlformats.org/drawingml/2006/main">
              <a:ext uri="{FF2B5EF4-FFF2-40B4-BE49-F238E27FC236}">
                <a16:creationId xmlns:a16="http://schemas.microsoft.com/office/drawing/2014/main" id="{1E46310C-9DF3-4F19-9BC2-11AC6FB78BB4}"/>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Yes clears every current-month mark and applies the new list.</a:t>
            </a:r>
          </a:p>
        </p:txBody>
      </p:sp>
      <p:sp>
        <p:nvSpPr>
          <p:cNvPr id="4" name="">
            <a:extLst xmlns:a="http://schemas.openxmlformats.org/drawingml/2006/main">
              <a:ext uri="{FF2B5EF4-FFF2-40B4-BE49-F238E27FC236}">
                <a16:creationId xmlns:a16="http://schemas.microsoft.com/office/drawing/2014/main" id="{00703BAA-7E27-4532-9EDE-63F8CD5C203D}"/>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No preserves displayed calendars and marks. Your edited list remains saved.</a:t>
            </a:r>
          </a:p>
        </p:txBody>
      </p:sp>
      <p:sp>
        <p:nvSpPr>
          <p:cNvPr id="5" name="">
            <a:extLst xmlns:a="http://schemas.openxmlformats.org/drawingml/2006/main">
              <a:ext uri="{FF2B5EF4-FFF2-40B4-BE49-F238E27FC236}">
                <a16:creationId xmlns:a16="http://schemas.microsoft.com/office/drawing/2014/main" id="{AB638F9E-5CAA-4D41-BCA4-BE66B9B4EB88}"/>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Use Apply habit list to reconsider a change previously declined.</a:t>
            </a:r>
          </a:p>
        </p:txBody>
      </p:sp>
      <p:sp>
        <p:nvSpPr>
          <p:cNvPr id="6" name="">
            <a:extLst xmlns:a="http://schemas.openxmlformats.org/drawingml/2006/main">
              <a:ext uri="{FF2B5EF4-FFF2-40B4-BE49-F238E27FC236}">
                <a16:creationId xmlns:a16="http://schemas.microsoft.com/office/drawing/2014/main" id="{01A93F06-79DA-4E04-AB50-F0D494246260}"/>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42962C69-AA78-4641-AF32-6BF58DEC8940}"/>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23</a:t>
            </a:r>
          </a:p>
        </p:txBody>
      </p:sp>
    </p:spTree>
    <p:extLst>
      <p:ext uri="{BB962C8B-B14F-4D97-AF65-F5344CB8AC3E}">
        <p14:creationId xmlns:p14="http://schemas.microsoft.com/office/powerpoint/2010/main" val="1867211310"/>
      </p:ext>
    </p:extLst>
  </p:cSld>
</p:sld>
</file>

<file path=ppt/slides/slide2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0017B6-68B9-40FA-A848-A12F8A9E7B6B}"/>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Daily marking exercise</a:t>
            </a:r>
          </a:p>
        </p:txBody>
      </p:sp>
      <p:sp>
        <p:nvSpPr>
          <p:cNvPr id="2" name="">
            <a:extLst xmlns:a="http://schemas.openxmlformats.org/drawingml/2006/main">
              <a:ext uri="{FF2B5EF4-FFF2-40B4-BE49-F238E27FC236}">
                <a16:creationId xmlns:a16="http://schemas.microsoft.com/office/drawing/2014/main" id="{2271BF7E-7857-4DC3-9E5E-27CDCD9FA790}"/>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Tap today in Walking once: green means activity completed.</a:t>
            </a:r>
          </a:p>
        </p:txBody>
      </p:sp>
      <p:sp>
        <p:nvSpPr>
          <p:cNvPr id="3" name="">
            <a:extLst xmlns:a="http://schemas.openxmlformats.org/drawingml/2006/main">
              <a:ext uri="{FF2B5EF4-FFF2-40B4-BE49-F238E27FC236}">
                <a16:creationId xmlns:a16="http://schemas.microsoft.com/office/drawing/2014/main" id="{38E140E1-03D8-43FF-9940-A7144202090A}"/>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Tap again: pink is your manual not-done mark.</a:t>
            </a:r>
          </a:p>
        </p:txBody>
      </p:sp>
      <p:sp>
        <p:nvSpPr>
          <p:cNvPr id="4" name="">
            <a:extLst xmlns:a="http://schemas.openxmlformats.org/drawingml/2006/main">
              <a:ext uri="{FF2B5EF4-FFF2-40B4-BE49-F238E27FC236}">
                <a16:creationId xmlns:a16="http://schemas.microsoft.com/office/drawing/2014/main" id="{6BF125A1-7F6D-4472-8B3F-E01ACE7BF64F}"/>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Tap a third time: the date has no color.</a:t>
            </a:r>
          </a:p>
        </p:txBody>
      </p:sp>
      <p:sp>
        <p:nvSpPr>
          <p:cNvPr id="5" name="">
            <a:extLst xmlns:a="http://schemas.openxmlformats.org/drawingml/2006/main">
              <a:ext uri="{FF2B5EF4-FFF2-40B4-BE49-F238E27FC236}">
                <a16:creationId xmlns:a16="http://schemas.microsoft.com/office/drawing/2014/main" id="{DE57F77A-A0E3-46F8-B879-173915667593}"/>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Mark an earlier current-month date, restart Obsidian and confirm the mark persists.</a:t>
            </a:r>
          </a:p>
        </p:txBody>
      </p:sp>
      <p:sp>
        <p:nvSpPr>
          <p:cNvPr id="6" name="">
            <a:extLst xmlns:a="http://schemas.openxmlformats.org/drawingml/2006/main">
              <a:ext uri="{FF2B5EF4-FFF2-40B4-BE49-F238E27FC236}">
                <a16:creationId xmlns:a16="http://schemas.microsoft.com/office/drawing/2014/main" id="{2C03644C-1687-482C-8B1F-738D54D1975B}"/>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AA42F33F-46BC-452D-8592-1A4006B1AC9A}"/>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24</a:t>
            </a:r>
          </a:p>
        </p:txBody>
      </p:sp>
    </p:spTree>
    <p:extLst>
      <p:ext uri="{BB962C8B-B14F-4D97-AF65-F5344CB8AC3E}">
        <p14:creationId xmlns:p14="http://schemas.microsoft.com/office/powerpoint/2010/main" val="810063287"/>
      </p:ext>
    </p:extLst>
  </p:cSld>
</p:sld>
</file>

<file path=ppt/slides/slide2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14612D-877A-4B18-835E-E18C8CF1D93B}"/>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Colors and custom shades</a:t>
            </a:r>
          </a:p>
        </p:txBody>
      </p:sp>
      <p:sp>
        <p:nvSpPr>
          <p:cNvPr id="2" name="">
            <a:extLst xmlns:a="http://schemas.openxmlformats.org/drawingml/2006/main">
              <a:ext uri="{FF2B5EF4-FFF2-40B4-BE49-F238E27FC236}">
                <a16:creationId xmlns:a16="http://schemas.microsoft.com/office/drawing/2014/main" id="{FE9F92D2-190C-4082-ACEB-99BE605C5C94}"/>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Open Color reference and switch to Reading view for swatches.</a:t>
            </a:r>
          </a:p>
        </p:txBody>
      </p:sp>
      <p:sp>
        <p:nvSpPr>
          <p:cNvPr id="3" name="">
            <a:extLst xmlns:a="http://schemas.openxmlformats.org/drawingml/2006/main">
              <a:ext uri="{FF2B5EF4-FFF2-40B4-BE49-F238E27FC236}">
                <a16:creationId xmlns:a16="http://schemas.microsoft.com/office/drawing/2014/main" id="{9E867E22-7DAE-463D-9DB0-438C8CB06FFA}"/>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Choose a six-digit code such as #ADD8E6 and copy it yourself into the habit list.</a:t>
            </a:r>
          </a:p>
        </p:txBody>
      </p:sp>
      <p:sp>
        <p:nvSpPr>
          <p:cNvPr id="4" name="">
            <a:extLst xmlns:a="http://schemas.openxmlformats.org/drawingml/2006/main">
              <a:ext uri="{FF2B5EF4-FFF2-40B4-BE49-F238E27FC236}">
                <a16:creationId xmlns:a16="http://schemas.microsoft.com/office/drawing/2014/main" id="{A22F3E81-FB3A-4136-BEF9-FA58B033E96F}"/>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To add a shade, append My lavender with #B8A9E8 and an empty third cell.</a:t>
            </a:r>
          </a:p>
        </p:txBody>
      </p:sp>
      <p:sp>
        <p:nvSpPr>
          <p:cNvPr id="5" name="">
            <a:extLst xmlns:a="http://schemas.openxmlformats.org/drawingml/2006/main">
              <a:ext uri="{FF2B5EF4-FFF2-40B4-BE49-F238E27FC236}">
                <a16:creationId xmlns:a16="http://schemas.microsoft.com/office/drawing/2014/main" id="{C6DBF7CE-2849-4BDB-806C-E0D3D480CBC1}"/>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Changing the color reference alone never changes an existing calendar.</a:t>
            </a:r>
          </a:p>
        </p:txBody>
      </p:sp>
      <p:sp>
        <p:nvSpPr>
          <p:cNvPr id="6" name="">
            <a:extLst xmlns:a="http://schemas.openxmlformats.org/drawingml/2006/main">
              <a:ext uri="{FF2B5EF4-FFF2-40B4-BE49-F238E27FC236}">
                <a16:creationId xmlns:a16="http://schemas.microsoft.com/office/drawing/2014/main" id="{FFD3AF34-A468-4D96-B565-CBEA4B0EC020}"/>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4A103488-13DF-4F9F-B3AB-5C8909FF3533}"/>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25</a:t>
            </a:r>
          </a:p>
        </p:txBody>
      </p:sp>
    </p:spTree>
    <p:extLst>
      <p:ext uri="{BB962C8B-B14F-4D97-AF65-F5344CB8AC3E}">
        <p14:creationId xmlns:p14="http://schemas.microsoft.com/office/powerpoint/2010/main" val="1854032132"/>
      </p:ext>
    </p:extLst>
  </p:cSld>
</p:sld>
</file>

<file path=ppt/slides/slide2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A0914C-F360-4D58-93AD-06161E8B1A68}"/>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Habit maintenance</a:t>
            </a:r>
          </a:p>
        </p:txBody>
      </p:sp>
      <p:sp>
        <p:nvSpPr>
          <p:cNvPr id="2" name="">
            <a:extLst xmlns:a="http://schemas.openxmlformats.org/drawingml/2006/main">
              <a:ext uri="{FF2B5EF4-FFF2-40B4-BE49-F238E27FC236}">
                <a16:creationId xmlns:a16="http://schemas.microsoft.com/office/drawing/2014/main" id="{FF90B09A-4670-456F-AE8C-1C918A3CDB5F}"/>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Rename the visible label while retaining the hidden habit ID.</a:t>
            </a:r>
          </a:p>
        </p:txBody>
      </p:sp>
      <p:sp>
        <p:nvSpPr>
          <p:cNvPr id="3" name="">
            <a:extLst xmlns:a="http://schemas.openxmlformats.org/drawingml/2006/main">
              <a:ext uri="{FF2B5EF4-FFF2-40B4-BE49-F238E27FC236}">
                <a16:creationId xmlns:a16="http://schemas.microsoft.com/office/drawing/2014/main" id="{FB562CF2-C98F-4396-8119-5258A4750BC1}"/>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Move whole table rows to reorder calendars.</a:t>
            </a:r>
          </a:p>
        </p:txBody>
      </p:sp>
      <p:sp>
        <p:nvSpPr>
          <p:cNvPr id="4" name="">
            <a:extLst xmlns:a="http://schemas.openxmlformats.org/drawingml/2006/main">
              <a:ext uri="{FF2B5EF4-FFF2-40B4-BE49-F238E27FC236}">
                <a16:creationId xmlns:a16="http://schemas.microsoft.com/office/drawing/2014/main" id="{E2A8C3D0-29C4-4F88-BD4D-4C5C566FD890}"/>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Add a row, change Y to N, or delete a row to alter the next applied catalog.</a:t>
            </a:r>
          </a:p>
        </p:txBody>
      </p:sp>
      <p:sp>
        <p:nvSpPr>
          <p:cNvPr id="5" name="">
            <a:extLst xmlns:a="http://schemas.openxmlformats.org/drawingml/2006/main">
              <a:ext uri="{FF2B5EF4-FFF2-40B4-BE49-F238E27FC236}">
                <a16:creationId xmlns:a16="http://schemas.microsoft.com/office/drawing/2014/main" id="{CC174A51-6472-40AF-B68C-C70DA18FBBB1}"/>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Batch changes deliberately. Every accepted catalog change resets all current marks.</a:t>
            </a:r>
          </a:p>
        </p:txBody>
      </p:sp>
      <p:sp>
        <p:nvSpPr>
          <p:cNvPr id="6" name="">
            <a:extLst xmlns:a="http://schemas.openxmlformats.org/drawingml/2006/main">
              <a:ext uri="{FF2B5EF4-FFF2-40B4-BE49-F238E27FC236}">
                <a16:creationId xmlns:a16="http://schemas.microsoft.com/office/drawing/2014/main" id="{F11801A8-7942-42D3-A2E2-5C8F10347D47}"/>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D3710A3D-8576-4535-A211-DC7462AF9434}"/>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26</a:t>
            </a:r>
          </a:p>
        </p:txBody>
      </p:sp>
    </p:spTree>
    <p:extLst>
      <p:ext uri="{BB962C8B-B14F-4D97-AF65-F5344CB8AC3E}">
        <p14:creationId xmlns:p14="http://schemas.microsoft.com/office/powerpoint/2010/main" val="1771761476"/>
      </p:ext>
    </p:extLst>
  </p:cSld>
</p:sld>
</file>

<file path=ppt/slides/slide2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4BC4D2-71D6-4A63-A518-7B35DFF75CF7}"/>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Statistics without schedules</a:t>
            </a:r>
          </a:p>
        </p:txBody>
      </p:sp>
      <p:sp>
        <p:nvSpPr>
          <p:cNvPr id="2" name="">
            <a:extLst xmlns:a="http://schemas.openxmlformats.org/drawingml/2006/main">
              <a:ext uri="{FF2B5EF4-FFF2-40B4-BE49-F238E27FC236}">
                <a16:creationId xmlns:a16="http://schemas.microsoft.com/office/drawing/2014/main" id="{6083BA14-B07C-400A-B87A-F72399983F8A}"/>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Completion is green days divided by elapsed calendar days.</a:t>
            </a:r>
          </a:p>
        </p:txBody>
      </p:sp>
      <p:sp>
        <p:nvSpPr>
          <p:cNvPr id="3" name="">
            <a:extLst xmlns:a="http://schemas.openxmlformats.org/drawingml/2006/main">
              <a:ext uri="{FF2B5EF4-FFF2-40B4-BE49-F238E27FC236}">
                <a16:creationId xmlns:a16="http://schemas.microsoft.com/office/drawing/2014/main" id="{EC4ACAEE-D897-4CE2-95FC-CB44B0A1F044}"/>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Example: 6 green days after 10 days gives 60% for that habit.</a:t>
            </a:r>
          </a:p>
        </p:txBody>
      </p:sp>
      <p:sp>
        <p:nvSpPr>
          <p:cNvPr id="4" name="">
            <a:extLst xmlns:a="http://schemas.openxmlformats.org/drawingml/2006/main">
              <a:ext uri="{FF2B5EF4-FFF2-40B4-BE49-F238E27FC236}">
                <a16:creationId xmlns:a16="http://schemas.microsoft.com/office/drawing/2014/main" id="{E3E3E2BE-6F3D-4A7A-B6B9-DFF6EC159B18}"/>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Pink and blank dates break streaks. Streaks stay within one month.</a:t>
            </a:r>
          </a:p>
        </p:txBody>
      </p:sp>
      <p:sp>
        <p:nvSpPr>
          <p:cNvPr id="5" name="">
            <a:extLst xmlns:a="http://schemas.openxmlformats.org/drawingml/2006/main">
              <a:ext uri="{FF2B5EF4-FFF2-40B4-BE49-F238E27FC236}">
                <a16:creationId xmlns:a16="http://schemas.microsoft.com/office/drawing/2014/main" id="{4A9C979E-EF5B-4334-BAF6-24B6DEA91E5A}"/>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Historical reports keep their saved as-of date and totals.</a:t>
            </a:r>
          </a:p>
        </p:txBody>
      </p:sp>
      <p:sp>
        <p:nvSpPr>
          <p:cNvPr id="6" name="">
            <a:extLst xmlns:a="http://schemas.openxmlformats.org/drawingml/2006/main">
              <a:ext uri="{FF2B5EF4-FFF2-40B4-BE49-F238E27FC236}">
                <a16:creationId xmlns:a16="http://schemas.microsoft.com/office/drawing/2014/main" id="{C22653BE-D0A1-484F-88DF-8ADEBD44DF88}"/>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865A0AD0-A11B-4A24-9DCC-0DD802B62E7B}"/>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27</a:t>
            </a:r>
          </a:p>
        </p:txBody>
      </p:sp>
    </p:spTree>
    <p:extLst>
      <p:ext uri="{BB962C8B-B14F-4D97-AF65-F5344CB8AC3E}">
        <p14:creationId xmlns:p14="http://schemas.microsoft.com/office/powerpoint/2010/main" val="930045280"/>
      </p:ext>
    </p:extLst>
  </p:cSld>
</p:sld>
</file>

<file path=ppt/slides/slide2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EB89EB-3B5C-4287-85E0-5062CF062B36}"/>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New months and frozen history</a:t>
            </a:r>
          </a:p>
        </p:txBody>
      </p:sp>
      <p:sp>
        <p:nvSpPr>
          <p:cNvPr id="2" name="">
            <a:extLst xmlns:a="http://schemas.openxmlformats.org/drawingml/2006/main">
              <a:ext uri="{FF2B5EF4-FFF2-40B4-BE49-F238E27FC236}">
                <a16:creationId xmlns:a16="http://schemas.microsoft.com/office/drawing/2014/main" id="{2CC3ABB4-9143-4BBE-A127-C200C6167C50}"/>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A new month appears while Obsidian is open or on the next opening.</a:t>
            </a:r>
          </a:p>
        </p:txBody>
      </p:sp>
      <p:sp>
        <p:nvSpPr>
          <p:cNvPr id="3" name="">
            <a:extLst xmlns:a="http://schemas.openxmlformats.org/drawingml/2006/main">
              <a:ext uri="{FF2B5EF4-FFF2-40B4-BE49-F238E27FC236}">
                <a16:creationId xmlns:a16="http://schemas.microsoft.com/office/drawing/2014/main" id="{825CDBDA-0EAE-42ED-A873-FBCFF6681D27}"/>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The new month uses the current habit list and starts with blank marks.</a:t>
            </a:r>
          </a:p>
        </p:txBody>
      </p:sp>
      <p:sp>
        <p:nvSpPr>
          <p:cNvPr id="4" name="">
            <a:extLst xmlns:a="http://schemas.openxmlformats.org/drawingml/2006/main">
              <a:ext uri="{FF2B5EF4-FFF2-40B4-BE49-F238E27FC236}">
                <a16:creationId xmlns:a16="http://schemas.microsoft.com/office/drawing/2014/main" id="{F82B076E-F8B5-4DC9-94BD-D7A7382FF00C}"/>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Previous months keep their saved calendars and statistics.</a:t>
            </a:r>
          </a:p>
        </p:txBody>
      </p:sp>
      <p:sp>
        <p:nvSpPr>
          <p:cNvPr id="5" name="">
            <a:extLst xmlns:a="http://schemas.openxmlformats.org/drawingml/2006/main">
              <a:ext uri="{FF2B5EF4-FFF2-40B4-BE49-F238E27FC236}">
                <a16:creationId xmlns:a16="http://schemas.microsoft.com/office/drawing/2014/main" id="{35A46CB7-28DD-45BB-A2AA-84AD7C889A57}"/>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Late synced marks remain excluded from frozen history.</a:t>
            </a:r>
          </a:p>
        </p:txBody>
      </p:sp>
      <p:sp>
        <p:nvSpPr>
          <p:cNvPr id="6" name="">
            <a:extLst xmlns:a="http://schemas.openxmlformats.org/drawingml/2006/main">
              <a:ext uri="{FF2B5EF4-FFF2-40B4-BE49-F238E27FC236}">
                <a16:creationId xmlns:a16="http://schemas.microsoft.com/office/drawing/2014/main" id="{2AE3EEA3-AC06-4E6D-863A-E9B629808759}"/>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2FA61C9D-FE72-4CBE-B537-77CF094A910C}"/>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28</a:t>
            </a:r>
          </a:p>
        </p:txBody>
      </p:sp>
    </p:spTree>
    <p:extLst>
      <p:ext uri="{BB962C8B-B14F-4D97-AF65-F5344CB8AC3E}">
        <p14:creationId xmlns:p14="http://schemas.microsoft.com/office/powerpoint/2010/main" val="685441260"/>
      </p:ext>
    </p:extLst>
  </p:cSld>
</p:sld>
</file>

<file path=ppt/slides/slide29.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67BED7-7845-4F8C-BAB7-1CE50D332642}"/>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Month selection on every platform</a:t>
            </a:r>
          </a:p>
        </p:txBody>
      </p:sp>
      <p:sp>
        <p:nvSpPr>
          <p:cNvPr id="2" name="">
            <a:extLst xmlns:a="http://schemas.openxmlformats.org/drawingml/2006/main">
              <a:ext uri="{FF2B5EF4-FFF2-40B4-BE49-F238E27FC236}">
                <a16:creationId xmlns:a16="http://schemas.microsoft.com/office/drawing/2014/main" id="{8A090893-25A3-4FC8-A691-25B6BB606AE7}"/>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Choose month opens the same Month dropdown and Year field on all devices.</a:t>
            </a:r>
          </a:p>
        </p:txBody>
      </p:sp>
      <p:sp>
        <p:nvSpPr>
          <p:cNvPr id="3" name="">
            <a:extLst xmlns:a="http://schemas.openxmlformats.org/drawingml/2006/main">
              <a:ext uri="{FF2B5EF4-FFF2-40B4-BE49-F238E27FC236}">
                <a16:creationId xmlns:a16="http://schemas.microsoft.com/office/drawing/2014/main" id="{6DD7C0A2-92CD-4051-9B00-3F6C2D9210D2}"/>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Select February and enter 2028 to inspect a leap-year month.</a:t>
            </a:r>
          </a:p>
        </p:txBody>
      </p:sp>
      <p:sp>
        <p:nvSpPr>
          <p:cNvPr id="4" name="">
            <a:extLst xmlns:a="http://schemas.openxmlformats.org/drawingml/2006/main">
              <a:ext uri="{FF2B5EF4-FFF2-40B4-BE49-F238E27FC236}">
                <a16:creationId xmlns:a16="http://schemas.microsoft.com/office/drawing/2014/main" id="{83409E37-0B65-45F3-A161-A8F86AC8BA6A}"/>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Use Open, or press Enter in the Year field with a keyboard.</a:t>
            </a:r>
          </a:p>
        </p:txBody>
      </p:sp>
      <p:sp>
        <p:nvSpPr>
          <p:cNvPr id="5" name="">
            <a:extLst xmlns:a="http://schemas.openxmlformats.org/drawingml/2006/main">
              <a:ext uri="{FF2B5EF4-FFF2-40B4-BE49-F238E27FC236}">
                <a16:creationId xmlns:a16="http://schemas.microsoft.com/office/drawing/2014/main" id="{57762F12-541B-4A20-A286-D4720202BB46}"/>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Years must be 1970–9999. Choosing a month never makes historical dates editable.</a:t>
            </a:r>
          </a:p>
        </p:txBody>
      </p:sp>
      <p:sp>
        <p:nvSpPr>
          <p:cNvPr id="6" name="">
            <a:extLst xmlns:a="http://schemas.openxmlformats.org/drawingml/2006/main">
              <a:ext uri="{FF2B5EF4-FFF2-40B4-BE49-F238E27FC236}">
                <a16:creationId xmlns:a16="http://schemas.microsoft.com/office/drawing/2014/main" id="{FF39510A-C3E8-4623-AC9F-4FBBF740A46D}"/>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55162A19-CFEC-400E-97C1-E88341DF4B38}"/>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29</a:t>
            </a:r>
          </a:p>
        </p:txBody>
      </p:sp>
    </p:spTree>
    <p:extLst>
      <p:ext uri="{BB962C8B-B14F-4D97-AF65-F5344CB8AC3E}">
        <p14:creationId xmlns:p14="http://schemas.microsoft.com/office/powerpoint/2010/main" val="1692503126"/>
      </p:ext>
    </p:extLst>
  </p:cSld>
</p:sld>
</file>

<file path=ppt/slides/slide30.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57A1F0-AF91-4EF4-BA85-C860F809714C}"/>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Optional Obsidian Sync</a:t>
            </a:r>
          </a:p>
        </p:txBody>
      </p:sp>
      <p:sp>
        <p:nvSpPr>
          <p:cNvPr id="2" name="">
            <a:extLst xmlns:a="http://schemas.openxmlformats.org/drawingml/2006/main">
              <a:ext uri="{FF2B5EF4-FFF2-40B4-BE49-F238E27FC236}">
                <a16:creationId xmlns:a16="http://schemas.microsoft.com/office/drawing/2014/main" id="{6A402F38-18BD-48CF-82BF-D56F6BEAD4F5}"/>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Connect every local vault to the same remote vault. Matching names alone do not connect them.</a:t>
            </a:r>
          </a:p>
        </p:txBody>
      </p:sp>
      <p:sp>
        <p:nvSpPr>
          <p:cNvPr id="3" name="">
            <a:extLst xmlns:a="http://schemas.openxmlformats.org/drawingml/2006/main">
              <a:ext uri="{FF2B5EF4-FFF2-40B4-BE49-F238E27FC236}">
                <a16:creationId xmlns:a16="http://schemas.microsoft.com/office/drawing/2014/main" id="{FBA8ADE5-9730-43CF-A547-1F5497ED23D6}"/>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On each device, enable installed and active community plugin sync options.</a:t>
            </a:r>
          </a:p>
        </p:txBody>
      </p:sp>
      <p:sp>
        <p:nvSpPr>
          <p:cNvPr id="4" name="">
            <a:extLst xmlns:a="http://schemas.openxmlformats.org/drawingml/2006/main">
              <a:ext uri="{FF2B5EF4-FFF2-40B4-BE49-F238E27FC236}">
                <a16:creationId xmlns:a16="http://schemas.microsoft.com/office/drawing/2014/main" id="{70E33F9F-109F-404C-B19F-04D96A2459A8}"/>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Include the entire Habit Tracker folder, including Records, Statistics and System.</a:t>
            </a:r>
          </a:p>
        </p:txBody>
      </p:sp>
      <p:sp>
        <p:nvSpPr>
          <p:cNvPr id="5" name="">
            <a:extLst xmlns:a="http://schemas.openxmlformats.org/drawingml/2006/main">
              <a:ext uri="{FF2B5EF4-FFF2-40B4-BE49-F238E27FC236}">
                <a16:creationId xmlns:a16="http://schemas.microsoft.com/office/drawing/2014/main" id="{052FC262-7D83-440D-AA1A-D46E1FFFAC3E}"/>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Wait for downloads, then restart Obsidian to load plugin changes.</a:t>
            </a:r>
          </a:p>
        </p:txBody>
      </p:sp>
      <p:sp>
        <p:nvSpPr>
          <p:cNvPr id="6" name="">
            <a:extLst xmlns:a="http://schemas.openxmlformats.org/drawingml/2006/main">
              <a:ext uri="{FF2B5EF4-FFF2-40B4-BE49-F238E27FC236}">
                <a16:creationId xmlns:a16="http://schemas.microsoft.com/office/drawing/2014/main" id="{D8086E17-D29C-4932-87B4-347DD1927595}"/>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B4633153-877C-400A-840D-130F1C9D4415}"/>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30</a:t>
            </a:r>
          </a:p>
        </p:txBody>
      </p:sp>
    </p:spTree>
    <p:extLst>
      <p:ext uri="{BB962C8B-B14F-4D97-AF65-F5344CB8AC3E}">
        <p14:creationId xmlns:p14="http://schemas.microsoft.com/office/powerpoint/2010/main" val="786956386"/>
      </p:ext>
    </p:extLst>
  </p:cSld>
</p:sld>
</file>

<file path=ppt/slides/slide3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669D61-6B0B-4239-99E8-AEA08B3360C1}"/>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Safe work across devices</a:t>
            </a:r>
          </a:p>
        </p:txBody>
      </p:sp>
      <p:sp>
        <p:nvSpPr>
          <p:cNvPr id="2" name="">
            <a:extLst xmlns:a="http://schemas.openxmlformats.org/drawingml/2006/main">
              <a:ext uri="{FF2B5EF4-FFF2-40B4-BE49-F238E27FC236}">
                <a16:creationId xmlns:a16="http://schemas.microsoft.com/office/drawing/2014/main" id="{37EEB8B1-3551-4AD6-B9A8-C1A6164FB239}"/>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Finish syncing before a habit-list reset on the primary laptop.</a:t>
            </a:r>
          </a:p>
        </p:txBody>
      </p:sp>
      <p:sp>
        <p:nvSpPr>
          <p:cNvPr id="3" name="">
            <a:extLst xmlns:a="http://schemas.openxmlformats.org/drawingml/2006/main">
              <a:ext uri="{FF2B5EF4-FFF2-40B4-BE49-F238E27FC236}">
                <a16:creationId xmlns:a16="http://schemas.microsoft.com/office/drawing/2014/main" id="{A100CE90-B0EF-4999-95D4-91F0B1AAF7DA}"/>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Let that reset reach other devices before adding marks there.</a:t>
            </a:r>
          </a:p>
        </p:txBody>
      </p:sp>
      <p:sp>
        <p:nvSpPr>
          <p:cNvPr id="4" name="">
            <a:extLst xmlns:a="http://schemas.openxmlformats.org/drawingml/2006/main">
              <a:ext uri="{FF2B5EF4-FFF2-40B4-BE49-F238E27FC236}">
                <a16:creationId xmlns:a16="http://schemas.microsoft.com/office/drawing/2014/main" id="{A76B460E-72B3-431D-93A8-E56EC99F82EA}"/>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Sync before month rollover so pending activity reaches the saved report.</a:t>
            </a:r>
          </a:p>
        </p:txBody>
      </p:sp>
      <p:sp>
        <p:nvSpPr>
          <p:cNvPr id="5" name="">
            <a:extLst xmlns:a="http://schemas.openxmlformats.org/drawingml/2006/main">
              <a:ext uri="{FF2B5EF4-FFF2-40B4-BE49-F238E27FC236}">
                <a16:creationId xmlns:a16="http://schemas.microsoft.com/office/drawing/2014/main" id="{20E1E9CA-7304-4B3C-B061-A308C880FBE8}"/>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Avoid simultaneous offline resets. Keep a separate backup.</a:t>
            </a:r>
          </a:p>
        </p:txBody>
      </p:sp>
      <p:sp>
        <p:nvSpPr>
          <p:cNvPr id="6" name="">
            <a:extLst xmlns:a="http://schemas.openxmlformats.org/drawingml/2006/main">
              <a:ext uri="{FF2B5EF4-FFF2-40B4-BE49-F238E27FC236}">
                <a16:creationId xmlns:a16="http://schemas.microsoft.com/office/drawing/2014/main" id="{251EAA0E-ED52-44D4-ADD0-C4FEF2ABD8A8}"/>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E795C91A-D5C5-491F-A2B4-234D72067D83}"/>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31</a:t>
            </a:r>
          </a:p>
        </p:txBody>
      </p:sp>
    </p:spTree>
    <p:extLst>
      <p:ext uri="{BB962C8B-B14F-4D97-AF65-F5344CB8AC3E}">
        <p14:creationId xmlns:p14="http://schemas.microsoft.com/office/powerpoint/2010/main" val="365177639"/>
      </p:ext>
    </p:extLst>
  </p:cSld>
</p:sld>
</file>

<file path=ppt/slides/slide3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56443A-A4DB-44C2-86AF-14A7DEB3A4E6}"/>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Upgrade to version 1.1.5</a:t>
            </a:r>
          </a:p>
        </p:txBody>
      </p:sp>
      <p:sp>
        <p:nvSpPr>
          <p:cNvPr id="2" name="">
            <a:extLst xmlns:a="http://schemas.openxmlformats.org/drawingml/2006/main">
              <a:ext uri="{FF2B5EF4-FFF2-40B4-BE49-F238E27FC236}">
                <a16:creationId xmlns:a16="http://schemas.microsoft.com/office/drawing/2014/main" id="{26DB71BB-F962-4ECA-AB94-DB73975BF3AA}"/>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From 1.1.3 or 1.1.4: close Obsidian, back up the vault and keep the same plugin folder.</a:t>
            </a:r>
          </a:p>
        </p:txBody>
      </p:sp>
      <p:sp>
        <p:nvSpPr>
          <p:cNvPr id="3" name="">
            <a:extLst xmlns:a="http://schemas.openxmlformats.org/drawingml/2006/main">
              <a:ext uri="{FF2B5EF4-FFF2-40B4-BE49-F238E27FC236}">
                <a16:creationId xmlns:a16="http://schemas.microsoft.com/office/drawing/2014/main" id="{9C388016-A379-49CF-8A27-096687D04FD0}"/>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Replace main.js, manifest.json and styles.css with matching 1.1.5 files.</a:t>
            </a:r>
          </a:p>
        </p:txBody>
      </p:sp>
      <p:sp>
        <p:nvSpPr>
          <p:cNvPr id="4" name="">
            <a:extLst xmlns:a="http://schemas.openxmlformats.org/drawingml/2006/main">
              <a:ext uri="{FF2B5EF4-FFF2-40B4-BE49-F238E27FC236}">
                <a16:creationId xmlns:a16="http://schemas.microsoft.com/office/drawing/2014/main" id="{648A606A-8B41-4E74-A576-560A65ECFC7E}"/>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Preserve data.json and the entire Habit Tracker folder, including custom colors.</a:t>
            </a:r>
          </a:p>
        </p:txBody>
      </p:sp>
      <p:sp>
        <p:nvSpPr>
          <p:cNvPr id="5" name="">
            <a:extLst xmlns:a="http://schemas.openxmlformats.org/drawingml/2006/main">
              <a:ext uri="{FF2B5EF4-FFF2-40B4-BE49-F238E27FC236}">
                <a16:creationId xmlns:a16="http://schemas.microsoft.com/office/drawing/2014/main" id="{5A4E16F1-7BA1-4A31-87C6-921E54C691D3}"/>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Only old habit-calendar-001b installations need the identity migration guide.</a:t>
            </a:r>
          </a:p>
        </p:txBody>
      </p:sp>
      <p:sp>
        <p:nvSpPr>
          <p:cNvPr id="6" name="">
            <a:extLst xmlns:a="http://schemas.openxmlformats.org/drawingml/2006/main">
              <a:ext uri="{FF2B5EF4-FFF2-40B4-BE49-F238E27FC236}">
                <a16:creationId xmlns:a16="http://schemas.microsoft.com/office/drawing/2014/main" id="{7D951DC9-FA5E-42BE-8E3C-013EEF1FCD77}"/>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79C81EF3-7646-476B-B6EC-2BF010C41470}"/>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32</a:t>
            </a:r>
          </a:p>
        </p:txBody>
      </p:sp>
    </p:spTree>
    <p:extLst>
      <p:ext uri="{BB962C8B-B14F-4D97-AF65-F5344CB8AC3E}">
        <p14:creationId xmlns:p14="http://schemas.microsoft.com/office/powerpoint/2010/main" val="1733090487"/>
      </p:ext>
    </p:extLst>
  </p:cSld>
</p:sld>
</file>

<file path=ppt/slides/slide3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A0C2E2-ED7A-4DF1-93A0-4F2AC12515E0}"/>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Migration: activation and checks</a:t>
            </a:r>
          </a:p>
        </p:txBody>
      </p:sp>
      <p:sp>
        <p:nvSpPr>
          <p:cNvPr id="2" name="">
            <a:extLst xmlns:a="http://schemas.openxmlformats.org/drawingml/2006/main">
              <a:ext uri="{FF2B5EF4-FFF2-40B4-BE49-F238E27FC236}">
                <a16:creationId xmlns:a16="http://schemas.microsoft.com/office/drawing/2014/main" id="{BF1CB7FB-F9DA-4BA4-8B8B-E3E82222C773}"/>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Enable rsn habit calendar one b and confirm version 1.1.5. Keep the old plugin off.</a:t>
            </a:r>
          </a:p>
        </p:txBody>
      </p:sp>
      <p:sp>
        <p:nvSpPr>
          <p:cNvPr id="3" name="">
            <a:extLst xmlns:a="http://schemas.openxmlformats.org/drawingml/2006/main">
              <a:ext uri="{FF2B5EF4-FFF2-40B4-BE49-F238E27FC236}">
                <a16:creationId xmlns:a16="http://schemas.microsoft.com/office/drawing/2014/main" id="{3D430491-3259-4B36-BBB9-FE794E7AA8B1}"/>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Open current month. Compare existing marks, statistics and history with the backup.</a:t>
            </a:r>
          </a:p>
        </p:txBody>
      </p:sp>
      <p:sp>
        <p:nvSpPr>
          <p:cNvPr id="4" name="">
            <a:extLst xmlns:a="http://schemas.openxmlformats.org/drawingml/2006/main">
              <a:ext uri="{FF2B5EF4-FFF2-40B4-BE49-F238E27FC236}">
                <a16:creationId xmlns:a16="http://schemas.microsoft.com/office/drawing/2014/main" id="{E80C26B6-D77A-4845-BC02-BB9A0ABFECB5}"/>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Reassign hotkeys and command shortcuts to the new plugin name.</a:t>
            </a:r>
          </a:p>
        </p:txBody>
      </p:sp>
      <p:sp>
        <p:nvSpPr>
          <p:cNvPr id="5" name="">
            <a:extLst xmlns:a="http://schemas.openxmlformats.org/drawingml/2006/main">
              <a:ext uri="{FF2B5EF4-FFF2-40B4-BE49-F238E27FC236}">
                <a16:creationId xmlns:a16="http://schemas.microsoft.com/office/drawing/2014/main" id="{97C166DF-3302-4F80-A46B-977361790F17}"/>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If a pending habit-list edit prompts for replacement, choose No until you intend a reset.</a:t>
            </a:r>
          </a:p>
        </p:txBody>
      </p:sp>
      <p:sp>
        <p:nvSpPr>
          <p:cNvPr id="6" name="">
            <a:extLst xmlns:a="http://schemas.openxmlformats.org/drawingml/2006/main">
              <a:ext uri="{FF2B5EF4-FFF2-40B4-BE49-F238E27FC236}">
                <a16:creationId xmlns:a16="http://schemas.microsoft.com/office/drawing/2014/main" id="{B4296B63-B3BD-46D9-8CBB-DBC689AA9BD7}"/>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1065EB51-2E28-4819-8C80-3B718B795780}"/>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33</a:t>
            </a:r>
          </a:p>
        </p:txBody>
      </p:sp>
    </p:spTree>
    <p:extLst>
      <p:ext uri="{BB962C8B-B14F-4D97-AF65-F5344CB8AC3E}">
        <p14:creationId xmlns:p14="http://schemas.microsoft.com/office/powerpoint/2010/main" val="482428774"/>
      </p:ext>
    </p:extLst>
  </p:cSld>
</p:sld>
</file>

<file path=ppt/slides/slide3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98547A-4431-4608-B41D-3A990AA9D41E}"/>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Migration: phones and tablets</a:t>
            </a:r>
          </a:p>
        </p:txBody>
      </p:sp>
      <p:sp>
        <p:nvSpPr>
          <p:cNvPr id="2" name="">
            <a:extLst xmlns:a="http://schemas.openxmlformats.org/drawingml/2006/main">
              <a:ext uri="{FF2B5EF4-FFF2-40B4-BE49-F238E27FC236}">
                <a16:creationId xmlns:a16="http://schemas.microsoft.com/office/drawing/2014/main" id="{0440FEAC-DA74-44BC-8E6F-2CD37201089A}"/>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With Obsidian Sync, finish the desktop migration while other devices are idle.</a:t>
            </a:r>
          </a:p>
        </p:txBody>
      </p:sp>
      <p:sp>
        <p:nvSpPr>
          <p:cNvPr id="3" name="">
            <a:extLst xmlns:a="http://schemas.openxmlformats.org/drawingml/2006/main">
              <a:ext uri="{FF2B5EF4-FFF2-40B4-BE49-F238E27FC236}">
                <a16:creationId xmlns:a16="http://schemas.microsoft.com/office/drawing/2014/main" id="{361DD13C-0C8C-4E7B-AC00-948D6A46ACAA}"/>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Sync installed/active plugin lists and plugin settings to transfer data.json.</a:t>
            </a:r>
          </a:p>
        </p:txBody>
      </p:sp>
      <p:sp>
        <p:nvSpPr>
          <p:cNvPr id="4" name="">
            <a:extLst xmlns:a="http://schemas.openxmlformats.org/drawingml/2006/main">
              <a:ext uri="{FF2B5EF4-FFF2-40B4-BE49-F238E27FC236}">
                <a16:creationId xmlns:a16="http://schemas.microsoft.com/office/drawing/2014/main" id="{E61FC035-C152-4FDF-931D-44FBB81018ED}"/>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On each device, wait for transfer, restart, and verify the old plugin is off and 1.1.5 is on.</a:t>
            </a:r>
          </a:p>
        </p:txBody>
      </p:sp>
      <p:sp>
        <p:nvSpPr>
          <p:cNvPr id="5" name="">
            <a:extLst xmlns:a="http://schemas.openxmlformats.org/drawingml/2006/main">
              <a:ext uri="{FF2B5EF4-FFF2-40B4-BE49-F238E27FC236}">
                <a16:creationId xmlns:a16="http://schemas.microsoft.com/office/drawing/2014/main" id="{897F9C73-976A-46D0-891C-99F14508C77C}"/>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With iCloud, copy files and settings on the Mac, then verify each Apple device.</a:t>
            </a:r>
          </a:p>
        </p:txBody>
      </p:sp>
      <p:sp>
        <p:nvSpPr>
          <p:cNvPr id="6" name="">
            <a:extLst xmlns:a="http://schemas.openxmlformats.org/drawingml/2006/main">
              <a:ext uri="{FF2B5EF4-FFF2-40B4-BE49-F238E27FC236}">
                <a16:creationId xmlns:a16="http://schemas.microsoft.com/office/drawing/2014/main" id="{2295DC1A-CB85-475B-9C01-B92F24621FBD}"/>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AE1C4F83-BFD8-4EF6-BD10-200449A32D9E}"/>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34</a:t>
            </a:r>
          </a:p>
        </p:txBody>
      </p:sp>
    </p:spTree>
    <p:extLst>
      <p:ext uri="{BB962C8B-B14F-4D97-AF65-F5344CB8AC3E}">
        <p14:creationId xmlns:p14="http://schemas.microsoft.com/office/powerpoint/2010/main" val="1767922385"/>
      </p:ext>
    </p:extLst>
  </p:cSld>
</p:sld>
</file>

<file path=ppt/slides/slide3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92E051-3271-45CA-A864-1E2137E06480}"/>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Troubleshooting</a:t>
            </a:r>
          </a:p>
        </p:txBody>
      </p:sp>
      <p:sp>
        <p:nvSpPr>
          <p:cNvPr id="2" name="">
            <a:extLst xmlns:a="http://schemas.openxmlformats.org/drawingml/2006/main">
              <a:ext uri="{FF2B5EF4-FFF2-40B4-BE49-F238E27FC236}">
                <a16:creationId xmlns:a16="http://schemas.microsoft.com/office/drawing/2014/main" id="{6BA89E72-43DE-4F5D-9B30-59FE10295783}"/>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Plugin missing: check vault, directory nesting and exact filenames.</a:t>
            </a:r>
          </a:p>
        </p:txBody>
      </p:sp>
      <p:sp>
        <p:nvSpPr>
          <p:cNvPr id="3" name="">
            <a:extLst xmlns:a="http://schemas.openxmlformats.org/drawingml/2006/main">
              <a:ext uri="{FF2B5EF4-FFF2-40B4-BE49-F238E27FC236}">
                <a16:creationId xmlns:a16="http://schemas.microsoft.com/office/drawing/2014/main" id="{8CD508DD-F2E1-419D-802E-7063B1AF2E64}"/>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Controls visible but no calendars: check Y rows and whether list changes were declined.</a:t>
            </a:r>
          </a:p>
        </p:txBody>
      </p:sp>
      <p:sp>
        <p:nvSpPr>
          <p:cNvPr id="4" name="">
            <a:extLst xmlns:a="http://schemas.openxmlformats.org/drawingml/2006/main">
              <a:ext uri="{FF2B5EF4-FFF2-40B4-BE49-F238E27FC236}">
                <a16:creationId xmlns:a16="http://schemas.microsoft.com/office/drawing/2014/main" id="{39144E2E-A9BA-427C-ABD9-EEC462E09491}"/>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Blank view: run Open current month and try the note in Reading view.</a:t>
            </a:r>
          </a:p>
        </p:txBody>
      </p:sp>
      <p:sp>
        <p:nvSpPr>
          <p:cNvPr id="5" name="">
            <a:extLst xmlns:a="http://schemas.openxmlformats.org/drawingml/2006/main">
              <a:ext uri="{FF2B5EF4-FFF2-40B4-BE49-F238E27FC236}">
                <a16:creationId xmlns:a16="http://schemas.microsoft.com/office/drawing/2014/main" id="{E4855899-9F88-49D7-9E63-FFF04749F6EE}"/>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Report the app version, plugin version, phone/OS, steps and exact error text.</a:t>
            </a:r>
          </a:p>
        </p:txBody>
      </p:sp>
      <p:sp>
        <p:nvSpPr>
          <p:cNvPr id="6" name="">
            <a:extLst xmlns:a="http://schemas.openxmlformats.org/drawingml/2006/main">
              <a:ext uri="{FF2B5EF4-FFF2-40B4-BE49-F238E27FC236}">
                <a16:creationId xmlns:a16="http://schemas.microsoft.com/office/drawing/2014/main" id="{C5F7D7FB-6BA2-4363-B914-EA14713B7CE7}"/>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7B5899B0-F394-420B-8408-A240FF3F030B}"/>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35</a:t>
            </a:r>
          </a:p>
        </p:txBody>
      </p:sp>
    </p:spTree>
    <p:extLst>
      <p:ext uri="{BB962C8B-B14F-4D97-AF65-F5344CB8AC3E}">
        <p14:creationId xmlns:p14="http://schemas.microsoft.com/office/powerpoint/2010/main" val="1641408293"/>
      </p:ext>
    </p:extLst>
  </p:cSld>
</p:sld>
</file>

<file path=ppt/slides/slide3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C40C2D-0918-4846-9F03-8A1D3C350FCC}"/>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Maintainer: source and release files</a:t>
            </a:r>
          </a:p>
        </p:txBody>
      </p:sp>
      <p:sp>
        <p:nvSpPr>
          <p:cNvPr id="2" name="">
            <a:extLst xmlns:a="http://schemas.openxmlformats.org/drawingml/2006/main">
              <a:ext uri="{FF2B5EF4-FFF2-40B4-BE49-F238E27FC236}">
                <a16:creationId xmlns:a16="http://schemas.microsoft.com/office/drawing/2014/main" id="{7EA2AEA9-E7CB-4E7D-BACA-ABF166387137}"/>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Upload repository/ contents at the GitHub root, including hidden .github files.</a:t>
            </a:r>
          </a:p>
        </p:txBody>
      </p:sp>
      <p:sp>
        <p:nvSpPr>
          <p:cNvPr id="3" name="">
            <a:extLst xmlns:a="http://schemas.openxmlformats.org/drawingml/2006/main">
              <a:ext uri="{FF2B5EF4-FFF2-40B4-BE49-F238E27FC236}">
                <a16:creationId xmlns:a16="http://schemas.microsoft.com/office/drawing/2014/main" id="{AB941E87-DBA6-419E-9AC5-A171E82CD305}"/>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Delete old src/core.js and src/plugin-source.js. Upload the .ts replacements.</a:t>
            </a:r>
          </a:p>
        </p:txBody>
      </p:sp>
      <p:sp>
        <p:nvSpPr>
          <p:cNvPr id="4" name="">
            <a:extLst xmlns:a="http://schemas.openxmlformats.org/drawingml/2006/main">
              <a:ext uri="{FF2B5EF4-FFF2-40B4-BE49-F238E27FC236}">
                <a16:creationId xmlns:a16="http://schemas.microsoft.com/office/drawing/2014/main" id="{9335952C-09DB-430E-B65C-612FCF049F9D}"/>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Keep only main.js, manifest.json and styles.css as release attachments.</a:t>
            </a:r>
          </a:p>
        </p:txBody>
      </p:sp>
      <p:sp>
        <p:nvSpPr>
          <p:cNvPr id="5" name="">
            <a:extLst xmlns:a="http://schemas.openxmlformats.org/drawingml/2006/main">
              <a:ext uri="{FF2B5EF4-FFF2-40B4-BE49-F238E27FC236}">
                <a16:creationId xmlns:a16="http://schemas.microsoft.com/office/drawing/2014/main" id="{14E3083E-E789-4C62-974F-246F41D58CF7}"/>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The optional ZIP, color file and checksums stay in the separate manual kit.</a:t>
            </a:r>
          </a:p>
        </p:txBody>
      </p:sp>
      <p:sp>
        <p:nvSpPr>
          <p:cNvPr id="6" name="">
            <a:extLst xmlns:a="http://schemas.openxmlformats.org/drawingml/2006/main">
              <a:ext uri="{FF2B5EF4-FFF2-40B4-BE49-F238E27FC236}">
                <a16:creationId xmlns:a16="http://schemas.microsoft.com/office/drawing/2014/main" id="{DA43C288-7589-4AC9-A044-9D842C4DD30E}"/>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7D99D835-3676-4671-90F9-64CCE7AAE813}"/>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36</a:t>
            </a:r>
          </a:p>
        </p:txBody>
      </p:sp>
    </p:spTree>
    <p:extLst>
      <p:ext uri="{BB962C8B-B14F-4D97-AF65-F5344CB8AC3E}">
        <p14:creationId xmlns:p14="http://schemas.microsoft.com/office/powerpoint/2010/main" val="109499648"/>
      </p:ext>
    </p:extLst>
  </p:cSld>
</p:sld>
</file>

<file path=ppt/slides/slide3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2F8E3B-7A58-40BD-9738-25BFF0214E48}"/>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Update the existing GitHub repository</a:t>
            </a:r>
          </a:p>
        </p:txBody>
      </p:sp>
      <p:sp>
        <p:nvSpPr>
          <p:cNvPr id="2" name="">
            <a:extLst xmlns:a="http://schemas.openxmlformats.org/drawingml/2006/main">
              <a:ext uri="{FF2B5EF4-FFF2-40B4-BE49-F238E27FC236}">
                <a16:creationId xmlns:a16="http://schemas.microsoft.com/office/drawing/2014/main" id="{ECA63C7F-F30D-4C4C-9F29-BA3EA5F90F38}"/>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Keep the repository, history, tags and previous releases. Do not delete everything.</a:t>
            </a:r>
          </a:p>
        </p:txBody>
      </p:sp>
      <p:sp>
        <p:nvSpPr>
          <p:cNvPr id="3" name="">
            <a:extLst xmlns:a="http://schemas.openxmlformats.org/drawingml/2006/main">
              <a:ext uri="{FF2B5EF4-FFF2-40B4-BE49-F238E27FC236}">
                <a16:creationId xmlns:a16="http://schemas.microsoft.com/office/drawing/2014/main" id="{656619A2-2F92-4150-9002-4715EF18203C}"/>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Copy repository/ contents into the source root, including hidden .github files.</a:t>
            </a:r>
          </a:p>
        </p:txBody>
      </p:sp>
      <p:sp>
        <p:nvSpPr>
          <p:cNvPr id="4" name="">
            <a:extLst xmlns:a="http://schemas.openxmlformats.org/drawingml/2006/main">
              <a:ext uri="{FF2B5EF4-FFF2-40B4-BE49-F238E27FC236}">
                <a16:creationId xmlns:a16="http://schemas.microsoft.com/office/drawing/2014/main" id="{E87C7AA2-1FFC-4BD4-B174-7290C6388888}"/>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Delete only the superseded src/core.js and src/plugin-source.js source files.</a:t>
            </a:r>
          </a:p>
        </p:txBody>
      </p:sp>
      <p:sp>
        <p:nvSpPr>
          <p:cNvPr id="5" name="">
            <a:extLst xmlns:a="http://schemas.openxmlformats.org/drawingml/2006/main">
              <a:ext uri="{FF2B5EF4-FFF2-40B4-BE49-F238E27FC236}">
                <a16:creationId xmlns:a16="http://schemas.microsoft.com/office/drawing/2014/main" id="{FF3D0051-4852-40FF-B24D-F0F7DEED938E}"/>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Review a branch/PR, run all three OS checks, then merge the complete update.</a:t>
            </a:r>
          </a:p>
        </p:txBody>
      </p:sp>
      <p:sp>
        <p:nvSpPr>
          <p:cNvPr id="6" name="">
            <a:extLst xmlns:a="http://schemas.openxmlformats.org/drawingml/2006/main">
              <a:ext uri="{FF2B5EF4-FFF2-40B4-BE49-F238E27FC236}">
                <a16:creationId xmlns:a16="http://schemas.microsoft.com/office/drawing/2014/main" id="{06467542-16CB-4AF9-910B-CCC63427F9A0}"/>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1A2588D1-41F0-42B6-8FF8-C4A019276EFC}"/>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37</a:t>
            </a:r>
          </a:p>
        </p:txBody>
      </p:sp>
    </p:spTree>
    <p:extLst>
      <p:ext uri="{BB962C8B-B14F-4D97-AF65-F5344CB8AC3E}">
        <p14:creationId xmlns:p14="http://schemas.microsoft.com/office/powerpoint/2010/main" val="1914632812"/>
      </p:ext>
    </p:extLst>
  </p:cSld>
</p:sld>
</file>

<file path=ppt/slides/slide3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DE105E-02D1-420D-B98D-2C2C2E904733}"/>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Manual kit: GitHub Actions artifacts</a:t>
            </a:r>
          </a:p>
        </p:txBody>
      </p:sp>
      <p:sp>
        <p:nvSpPr>
          <p:cNvPr id="2" name="">
            <a:extLst xmlns:a="http://schemas.openxmlformats.org/drawingml/2006/main">
              <a:ext uri="{FF2B5EF4-FFF2-40B4-BE49-F238E27FC236}">
                <a16:creationId xmlns:a16="http://schemas.microsoft.com/office/drawing/2014/main" id="{60AA2628-8826-427F-A6C2-175094EB2387}"/>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The workflow uploads the kit automatically; do not commit manual-downloads/.</a:t>
            </a:r>
          </a:p>
        </p:txBody>
      </p:sp>
      <p:sp>
        <p:nvSpPr>
          <p:cNvPr id="3" name="">
            <a:extLst xmlns:a="http://schemas.openxmlformats.org/drawingml/2006/main">
              <a:ext uri="{FF2B5EF4-FFF2-40B4-BE49-F238E27FC236}">
                <a16:creationId xmlns:a16="http://schemas.microsoft.com/office/drawing/2014/main" id="{89E8ABD7-CC72-4AF5-9806-E6443C92930D}"/>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Open Actions → Build and review → the successful run for your intended commit.</a:t>
            </a:r>
          </a:p>
        </p:txBody>
      </p:sp>
      <p:sp>
        <p:nvSpPr>
          <p:cNvPr id="4" name="">
            <a:extLst xmlns:a="http://schemas.openxmlformats.org/drawingml/2006/main">
              <a:ext uri="{FF2B5EF4-FFF2-40B4-BE49-F238E27FC236}">
                <a16:creationId xmlns:a16="http://schemas.microsoft.com/office/drawing/2014/main" id="{6E94B584-9093-42D5-ADD8-5C22E51EC4A1}"/>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Under Artifacts, download habit-calendar-test-kit-Linux and extract it.</a:t>
            </a:r>
          </a:p>
        </p:txBody>
      </p:sp>
      <p:sp>
        <p:nvSpPr>
          <p:cNvPr id="5" name="">
            <a:extLst xmlns:a="http://schemas.openxmlformats.org/drawingml/2006/main">
              <a:ext uri="{FF2B5EF4-FFF2-40B4-BE49-F238E27FC236}">
                <a16:creationId xmlns:a16="http://schemas.microsoft.com/office/drawing/2014/main" id="{EBFA09BB-1666-48CF-8A4D-1D006D02C61F}"/>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Verify SHA256SUMS. Extract the inner plugin ZIP or copy the three program files.</a:t>
            </a:r>
          </a:p>
        </p:txBody>
      </p:sp>
      <p:sp>
        <p:nvSpPr>
          <p:cNvPr id="6" name="">
            <a:extLst xmlns:a="http://schemas.openxmlformats.org/drawingml/2006/main">
              <a:ext uri="{FF2B5EF4-FFF2-40B4-BE49-F238E27FC236}">
                <a16:creationId xmlns:a16="http://schemas.microsoft.com/office/drawing/2014/main" id="{05E754DF-C038-4D6E-AA9F-D01840D96710}"/>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514D7B09-387B-4E03-9757-075DC9F9898A}"/>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38</a:t>
            </a:r>
          </a:p>
        </p:txBody>
      </p:sp>
    </p:spTree>
    <p:extLst>
      <p:ext uri="{BB962C8B-B14F-4D97-AF65-F5344CB8AC3E}">
        <p14:creationId xmlns:p14="http://schemas.microsoft.com/office/powerpoint/2010/main" val="1674005716"/>
      </p:ext>
    </p:extLst>
  </p:cSld>
</p:sld>
</file>

<file path=ppt/slides/slide39.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0C1D1E-900C-4FE0-9250-8BECE362E7A5}"/>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Optional permanent manual downloads</a:t>
            </a:r>
          </a:p>
        </p:txBody>
      </p:sp>
      <p:sp>
        <p:nvSpPr>
          <p:cNvPr id="2" name="">
            <a:extLst xmlns:a="http://schemas.openxmlformats.org/drawingml/2006/main">
              <a:ext uri="{FF2B5EF4-FFF2-40B4-BE49-F238E27FC236}">
                <a16:creationId xmlns:a16="http://schemas.microsoft.com/office/drawing/2014/main" id="{D0192BC5-CCB6-4335-A572-7FE6588AC20B}"/>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Most users need only the three plugin release files or the Community installer.</a:t>
            </a:r>
          </a:p>
        </p:txBody>
      </p:sp>
      <p:sp>
        <p:nvSpPr>
          <p:cNvPr id="3" name="">
            <a:extLst xmlns:a="http://schemas.openxmlformats.org/drawingml/2006/main">
              <a:ext uri="{FF2B5EF4-FFF2-40B4-BE49-F238E27FC236}">
                <a16:creationId xmlns:a16="http://schemas.microsoft.com/office/drawing/2014/main" id="{7D849ADD-0615-459A-A910-4046DB46F912}"/>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For a permanent full kit, optionally create a separate downloads-only repository.</a:t>
            </a:r>
          </a:p>
        </p:txBody>
      </p:sp>
      <p:sp>
        <p:nvSpPr>
          <p:cNvPr id="4" name="">
            <a:extLst xmlns:a="http://schemas.openxmlformats.org/drawingml/2006/main">
              <a:ext uri="{FF2B5EF4-FFF2-40B4-BE49-F238E27FC236}">
                <a16:creationId xmlns:a16="http://schemas.microsoft.com/office/drawing/2014/main" id="{4D66FB73-11C1-4981-9BEC-E0400124D515}"/>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Attach the six verified kit files to its manual-kit-1.1.5 release; link the source/license.</a:t>
            </a:r>
          </a:p>
        </p:txBody>
      </p:sp>
      <p:sp>
        <p:nvSpPr>
          <p:cNvPr id="5" name="">
            <a:extLst xmlns:a="http://schemas.openxmlformats.org/drawingml/2006/main">
              <a:ext uri="{FF2B5EF4-FFF2-40B4-BE49-F238E27FC236}">
                <a16:creationId xmlns:a16="http://schemas.microsoft.com/office/drawing/2014/main" id="{EA4F86B3-6393-4CB7-B067-712F29C70AAA}"/>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Keep the plugin’s own Community release limited to its three supported files.</a:t>
            </a:r>
          </a:p>
        </p:txBody>
      </p:sp>
      <p:sp>
        <p:nvSpPr>
          <p:cNvPr id="6" name="">
            <a:extLst xmlns:a="http://schemas.openxmlformats.org/drawingml/2006/main">
              <a:ext uri="{FF2B5EF4-FFF2-40B4-BE49-F238E27FC236}">
                <a16:creationId xmlns:a16="http://schemas.microsoft.com/office/drawing/2014/main" id="{0C243B7C-8CB2-4031-9F20-0DEE8B9E146C}"/>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718902C9-8CF2-42F2-A2E5-DB1C1AD4C4DC}"/>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39</a:t>
            </a:r>
          </a:p>
        </p:txBody>
      </p:sp>
    </p:spTree>
    <p:extLst>
      <p:ext uri="{BB962C8B-B14F-4D97-AF65-F5344CB8AC3E}">
        <p14:creationId xmlns:p14="http://schemas.microsoft.com/office/powerpoint/2010/main" val="1013240923"/>
      </p:ext>
    </p:extLst>
  </p:cSld>
</p:sld>
</file>

<file path=ppt/slides/slide40.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89086D-14EA-4A91-BB4A-08B2C2B7AE74}"/>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Maintainer: build and device tests</a:t>
            </a:r>
          </a:p>
        </p:txBody>
      </p:sp>
      <p:sp>
        <p:nvSpPr>
          <p:cNvPr id="2" name="">
            <a:extLst xmlns:a="http://schemas.openxmlformats.org/drawingml/2006/main">
              <a:ext uri="{FF2B5EF4-FFF2-40B4-BE49-F238E27FC236}">
                <a16:creationId xmlns:a16="http://schemas.microsoft.com/office/drawing/2014/main" id="{13182906-30DD-4469-85B9-223B02884987}"/>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Run npm ci --ignore-scripts, npm run check and npm run test:helper.</a:t>
            </a:r>
          </a:p>
        </p:txBody>
      </p:sp>
      <p:sp>
        <p:nvSpPr>
          <p:cNvPr id="3" name="">
            <a:extLst xmlns:a="http://schemas.openxmlformats.org/drawingml/2006/main">
              <a:ext uri="{FF2B5EF4-FFF2-40B4-BE49-F238E27FC236}">
                <a16:creationId xmlns:a16="http://schemas.microsoft.com/office/drawing/2014/main" id="{C3E663D3-3EAA-492E-A9F9-7BF48F9FA300}"/>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Strict TypeScript and all reported unsafe-code lint rules must pass.</a:t>
            </a:r>
          </a:p>
        </p:txBody>
      </p:sp>
      <p:sp>
        <p:nvSpPr>
          <p:cNvPr id="4" name="">
            <a:extLst xmlns:a="http://schemas.openxmlformats.org/drawingml/2006/main">
              <a:ext uri="{FF2B5EF4-FFF2-40B4-BE49-F238E27FC236}">
                <a16:creationId xmlns:a16="http://schemas.microsoft.com/office/drawing/2014/main" id="{A9FD5195-9234-4CE7-BCB9-D46AF18DF490}"/>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Wait for Ubuntu, Windows and macOS CI on the updated source commit.</a:t>
            </a:r>
          </a:p>
        </p:txBody>
      </p:sp>
      <p:sp>
        <p:nvSpPr>
          <p:cNvPr id="5" name="">
            <a:extLst xmlns:a="http://schemas.openxmlformats.org/drawingml/2006/main">
              <a:ext uri="{FF2B5EF4-FFF2-40B4-BE49-F238E27FC236}">
                <a16:creationId xmlns:a16="http://schemas.microsoft.com/office/drawing/2014/main" id="{41DE0717-2035-49AA-9F39-A172F65B2468}"/>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Test downloaded files on actual devices; record exact app and OS versions.</a:t>
            </a:r>
          </a:p>
        </p:txBody>
      </p:sp>
      <p:sp>
        <p:nvSpPr>
          <p:cNvPr id="6" name="">
            <a:extLst xmlns:a="http://schemas.openxmlformats.org/drawingml/2006/main">
              <a:ext uri="{FF2B5EF4-FFF2-40B4-BE49-F238E27FC236}">
                <a16:creationId xmlns:a16="http://schemas.microsoft.com/office/drawing/2014/main" id="{CF609F5A-85D7-47F7-912F-A976A34CCCD7}"/>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38018F1F-8748-4D4F-8094-E40585F22D53}"/>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40</a:t>
            </a:r>
          </a:p>
        </p:txBody>
      </p:sp>
    </p:spTree>
    <p:extLst>
      <p:ext uri="{BB962C8B-B14F-4D97-AF65-F5344CB8AC3E}">
        <p14:creationId xmlns:p14="http://schemas.microsoft.com/office/powerpoint/2010/main" val="870038696"/>
      </p:ext>
    </p:extLst>
  </p:cSld>
</p:sld>
</file>

<file path=ppt/slides/slide4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A777C3-A4AE-42E4-BDED-1FA6F0B32E5D}"/>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Maintainer: Community review</a:t>
            </a:r>
          </a:p>
        </p:txBody>
      </p:sp>
      <p:sp>
        <p:nvSpPr>
          <p:cNvPr id="2" name="">
            <a:extLst xmlns:a="http://schemas.openxmlformats.org/drawingml/2006/main">
              <a:ext uri="{FF2B5EF4-FFF2-40B4-BE49-F238E27FC236}">
                <a16:creationId xmlns:a16="http://schemas.microsoft.com/office/drawing/2014/main" id="{85A30F59-6564-4FB1-8311-5503FE592CD8}"/>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Commit the 1.1.5 manifest on the default branch and keep the same plugin ID.</a:t>
            </a:r>
          </a:p>
        </p:txBody>
      </p:sp>
      <p:sp>
        <p:nvSpPr>
          <p:cNvPr id="3" name="">
            <a:extLst xmlns:a="http://schemas.openxmlformats.org/drawingml/2006/main">
              <a:ext uri="{FF2B5EF4-FFF2-40B4-BE49-F238E27FC236}">
                <a16:creationId xmlns:a16="http://schemas.microsoft.com/office/drawing/2014/main" id="{512FE2D3-903F-4239-9660-7847F5899534}"/>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Publish the tested, attested 1.1.5 release with exactly three attachments.</a:t>
            </a:r>
          </a:p>
        </p:txBody>
      </p:sp>
      <p:sp>
        <p:nvSpPr>
          <p:cNvPr id="4" name="">
            <a:extLst xmlns:a="http://schemas.openxmlformats.org/drawingml/2006/main">
              <a:ext uri="{FF2B5EF4-FFF2-40B4-BE49-F238E27FC236}">
                <a16:creationId xmlns:a16="http://schemas.microsoft.com/office/drawing/2014/main" id="{276C6C1D-24EB-4C45-A7F0-118C7C02849E}"/>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Return to the existing Community entry and check for the new review.</a:t>
            </a:r>
          </a:p>
        </p:txBody>
      </p:sp>
      <p:sp>
        <p:nvSpPr>
          <p:cNvPr id="5" name="">
            <a:extLst xmlns:a="http://schemas.openxmlformats.org/drawingml/2006/main">
              <a:ext uri="{FF2B5EF4-FFF2-40B4-BE49-F238E27FC236}">
                <a16:creationId xmlns:a16="http://schemas.microsoft.com/office/drawing/2014/main" id="{3E550686-513E-4E5E-A1F2-A7930E2A9377}"/>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Resolve findings, publish when ready and test installation from Community plugins.</a:t>
            </a:r>
          </a:p>
        </p:txBody>
      </p:sp>
      <p:sp>
        <p:nvSpPr>
          <p:cNvPr id="6" name="">
            <a:extLst xmlns:a="http://schemas.openxmlformats.org/drawingml/2006/main">
              <a:ext uri="{FF2B5EF4-FFF2-40B4-BE49-F238E27FC236}">
                <a16:creationId xmlns:a16="http://schemas.microsoft.com/office/drawing/2014/main" id="{D4E281EE-2599-4DA4-BC7C-66A58034E45D}"/>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157A1A35-8F75-4155-A265-0E75177ACC35}"/>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41</a:t>
            </a:r>
          </a:p>
        </p:txBody>
      </p:sp>
    </p:spTree>
    <p:extLst>
      <p:ext uri="{BB962C8B-B14F-4D97-AF65-F5344CB8AC3E}">
        <p14:creationId xmlns:p14="http://schemas.microsoft.com/office/powerpoint/2010/main" val="1623824042"/>
      </p:ext>
    </p:extLst>
  </p:cSld>
</p:sld>
</file>

<file path=ppt/slides/slide4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F0C14D-AC50-4823-B7A9-05FEA26744A2}"/>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Maintainer: attested draft release</a:t>
            </a:r>
          </a:p>
        </p:txBody>
      </p:sp>
      <p:sp>
        <p:nvSpPr>
          <p:cNvPr id="2" name="">
            <a:extLst xmlns:a="http://schemas.openxmlformats.org/drawingml/2006/main">
              <a:ext uri="{FF2B5EF4-FFF2-40B4-BE49-F238E27FC236}">
                <a16:creationId xmlns:a16="http://schemas.microsoft.com/office/drawing/2014/main" id="{2710934A-2E9A-4126-BAF6-FE419870A962}"/>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Create tag 1.1.5 on the reviewed commit; do not create its release manually yet.</a:t>
            </a:r>
          </a:p>
        </p:txBody>
      </p:sp>
      <p:sp>
        <p:nvSpPr>
          <p:cNvPr id="3" name="">
            <a:extLst xmlns:a="http://schemas.openxmlformats.org/drawingml/2006/main">
              <a:ext uri="{FF2B5EF4-FFF2-40B4-BE49-F238E27FC236}">
                <a16:creationId xmlns:a16="http://schemas.microsoft.com/office/drawing/2014/main" id="{7F001E33-58F3-4960-A4B2-4FA86B42CA7B}"/>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Run Actions → Prepare attested release with tag 1.1.5.</a:t>
            </a:r>
          </a:p>
        </p:txBody>
      </p:sp>
      <p:sp>
        <p:nvSpPr>
          <p:cNvPr id="4" name="">
            <a:extLst xmlns:a="http://schemas.openxmlformats.org/drawingml/2006/main">
              <a:ext uri="{FF2B5EF4-FFF2-40B4-BE49-F238E27FC236}">
                <a16:creationId xmlns:a16="http://schemas.microsoft.com/office/drawing/2014/main" id="{206F3415-1E64-495C-914C-3B102142F586}"/>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The workflow checks all three OSs, builds, attests and creates a draft release.</a:t>
            </a:r>
          </a:p>
        </p:txBody>
      </p:sp>
      <p:sp>
        <p:nvSpPr>
          <p:cNvPr id="5" name="">
            <a:extLst xmlns:a="http://schemas.openxmlformats.org/drawingml/2006/main">
              <a:ext uri="{FF2B5EF4-FFF2-40B4-BE49-F238E27FC236}">
                <a16:creationId xmlns:a16="http://schemas.microsoft.com/office/drawing/2014/main" id="{06EA9581-9CC6-4DA8-895B-7CB3E28725D3}"/>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Download and test its files, then publish. Do not replace the attested bytes.</a:t>
            </a:r>
          </a:p>
        </p:txBody>
      </p:sp>
      <p:sp>
        <p:nvSpPr>
          <p:cNvPr id="6" name="">
            <a:extLst xmlns:a="http://schemas.openxmlformats.org/drawingml/2006/main">
              <a:ext uri="{FF2B5EF4-FFF2-40B4-BE49-F238E27FC236}">
                <a16:creationId xmlns:a16="http://schemas.microsoft.com/office/drawing/2014/main" id="{0DF54007-CB05-4977-A0D5-82A86551F482}"/>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A6268A78-1966-4FA3-BBC3-2DF0529BC9EB}"/>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42</a:t>
            </a:r>
          </a:p>
        </p:txBody>
      </p:sp>
    </p:spTree>
    <p:extLst>
      <p:ext uri="{BB962C8B-B14F-4D97-AF65-F5344CB8AC3E}">
        <p14:creationId xmlns:p14="http://schemas.microsoft.com/office/powerpoint/2010/main" val="1387818242"/>
      </p:ext>
    </p:extLst>
  </p:cSld>
</p:sld>
</file>

<file path=ppt/slides/slide4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2EFAC1-7839-436A-9A4C-54BABB017259}"/>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buNone/>
              <a:defRPr sz="3300" b="1">
                <a:solidFill>
                  <a:srgbClr val="153D38"/>
                </a:solidFill>
                <a:latin typeface="DejaVu Sans"/>
                <a:ea typeface="DejaVu Sans"/>
                <a:cs typeface="DejaVu Sans"/>
              </a:defRPr>
            </a:lvl1pPr>
            <a:lvl2pPr>
              <a:buNone/>
              <a:defRPr sz="3300" b="1">
                <a:solidFill>
                  <a:srgbClr val="153D38"/>
                </a:solidFill>
                <a:latin typeface="DejaVu Sans"/>
                <a:ea typeface="DejaVu Sans"/>
                <a:cs typeface="DejaVu Sans"/>
              </a:defRPr>
            </a:lvl2pPr>
            <a:lvl3pPr>
              <a:buNone/>
              <a:defRPr sz="3300" b="1">
                <a:solidFill>
                  <a:srgbClr val="153D38"/>
                </a:solidFill>
                <a:latin typeface="DejaVu Sans"/>
                <a:ea typeface="DejaVu Sans"/>
                <a:cs typeface="DejaVu Sans"/>
              </a:defRPr>
            </a:lvl3pPr>
            <a:lvl4pPr>
              <a:buNone/>
              <a:defRPr sz="3300" b="1">
                <a:solidFill>
                  <a:srgbClr val="153D38"/>
                </a:solidFill>
                <a:latin typeface="DejaVu Sans"/>
                <a:ea typeface="DejaVu Sans"/>
                <a:cs typeface="DejaVu Sans"/>
              </a:defRPr>
            </a:lvl4pPr>
            <a:lvl5pPr>
              <a:buNone/>
              <a:defRPr sz="3300" b="1">
                <a:solidFill>
                  <a:srgbClr val="153D38"/>
                </a:solidFill>
                <a:latin typeface="DejaVu Sans"/>
                <a:ea typeface="DejaVu Sans"/>
                <a:cs typeface="DejaVu Sans"/>
              </a:defRPr>
            </a:lvl5pPr>
            <a:lvl6pPr>
              <a:buNone/>
              <a:defRPr sz="3300" b="1">
                <a:solidFill>
                  <a:srgbClr val="153D38"/>
                </a:solidFill>
                <a:latin typeface="DejaVu Sans"/>
                <a:ea typeface="DejaVu Sans"/>
                <a:cs typeface="DejaVu Sans"/>
              </a:defRPr>
            </a:lvl6pPr>
            <a:lvl7pPr>
              <a:buNone/>
              <a:defRPr sz="3300" b="1">
                <a:solidFill>
                  <a:srgbClr val="153D38"/>
                </a:solidFill>
                <a:latin typeface="DejaVu Sans"/>
                <a:ea typeface="DejaVu Sans"/>
                <a:cs typeface="DejaVu Sans"/>
              </a:defRPr>
            </a:lvl7pPr>
            <a:lvl8pPr>
              <a:buNone/>
              <a:defRPr sz="3300" b="1">
                <a:solidFill>
                  <a:srgbClr val="153D38"/>
                </a:solidFill>
                <a:latin typeface="DejaVu Sans"/>
                <a:ea typeface="DejaVu Sans"/>
                <a:cs typeface="DejaVu Sans"/>
              </a:defRPr>
            </a:lvl8pPr>
            <a:lvl9pPr>
              <a:buNone/>
              <a:defRPr sz="3300" b="1">
                <a:solidFill>
                  <a:srgbClr val="153D38"/>
                </a:solidFill>
                <a:latin typeface="DejaVu Sans"/>
                <a:ea typeface="DejaVu Sans"/>
                <a:cs typeface="DejaVu Sans"/>
              </a:defRPr>
            </a:lvl9pPr>
          </a:lstStyle>
          <a:p xmlns:a="http://schemas.openxmlformats.org/drawingml/2006/main">
            <a:pPr>
              <a:buNone/>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Reference files</a:t>
            </a:r>
          </a:p>
        </p:txBody>
      </p:sp>
      <p:sp>
        <p:nvSpPr>
          <p:cNvPr id="2" name="">
            <a:extLst xmlns:a="http://schemas.openxmlformats.org/drawingml/2006/main">
              <a:ext uri="{FF2B5EF4-FFF2-40B4-BE49-F238E27FC236}">
                <a16:creationId xmlns:a16="http://schemas.microsoft.com/office/drawing/2014/main" id="{37BCEE62-9B03-4A95-8034-C5C5EE7D5625}"/>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docs/INSTALL-DOWNLOAD.md: installation on every target platform.</a:t>
            </a:r>
          </a:p>
        </p:txBody>
      </p:sp>
      <p:sp>
        <p:nvSpPr>
          <p:cNvPr id="3" name="">
            <a:extLst xmlns:a="http://schemas.openxmlformats.org/drawingml/2006/main">
              <a:ext uri="{FF2B5EF4-FFF2-40B4-BE49-F238E27FC236}">
                <a16:creationId xmlns:a16="http://schemas.microsoft.com/office/drawing/2014/main" id="{28071F0C-E3F9-4AA2-8540-5EE38AC0E16B}"/>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docs/DEPLOYMENT-UPDATE-GUIDE.md: cleanup and manual-kit distribution.</a:t>
            </a:r>
          </a:p>
        </p:txBody>
      </p:sp>
      <p:sp>
        <p:nvSpPr>
          <p:cNvPr id="4" name="">
            <a:extLst xmlns:a="http://schemas.openxmlformats.org/drawingml/2006/main">
              <a:ext uri="{FF2B5EF4-FFF2-40B4-BE49-F238E27FC236}">
                <a16:creationId xmlns:a16="http://schemas.microsoft.com/office/drawing/2014/main" id="{917CFD41-94AA-4DDB-AE7C-5C10191ACB11}"/>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docs/GITHUB-AND-COMMUNITY-RELEASE.md: testing and submission.</a:t>
            </a:r>
          </a:p>
        </p:txBody>
      </p:sp>
      <p:sp>
        <p:nvSpPr>
          <p:cNvPr id="5" name="">
            <a:extLst xmlns:a="http://schemas.openxmlformats.org/drawingml/2006/main">
              <a:ext uri="{FF2B5EF4-FFF2-40B4-BE49-F238E27FC236}">
                <a16:creationId xmlns:a16="http://schemas.microsoft.com/office/drawing/2014/main" id="{65BDBBAE-99C3-489E-BB1D-CDDD178D630D}"/>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buNone/>
              <a:defRPr sz="2175" b="0">
                <a:solidFill>
                  <a:srgbClr val="243344"/>
                </a:solidFill>
                <a:latin typeface="DejaVu Sans"/>
                <a:ea typeface="DejaVu Sans"/>
                <a:cs typeface="DejaVu Sans"/>
              </a:defRPr>
            </a:lvl1pPr>
            <a:lvl2pPr>
              <a:buNone/>
              <a:defRPr sz="2175" b="0">
                <a:solidFill>
                  <a:srgbClr val="243344"/>
                </a:solidFill>
                <a:latin typeface="DejaVu Sans"/>
                <a:ea typeface="DejaVu Sans"/>
                <a:cs typeface="DejaVu Sans"/>
              </a:defRPr>
            </a:lvl2pPr>
            <a:lvl3pPr>
              <a:buNone/>
              <a:defRPr sz="2175" b="0">
                <a:solidFill>
                  <a:srgbClr val="243344"/>
                </a:solidFill>
                <a:latin typeface="DejaVu Sans"/>
                <a:ea typeface="DejaVu Sans"/>
                <a:cs typeface="DejaVu Sans"/>
              </a:defRPr>
            </a:lvl3pPr>
            <a:lvl4pPr>
              <a:buNone/>
              <a:defRPr sz="2175" b="0">
                <a:solidFill>
                  <a:srgbClr val="243344"/>
                </a:solidFill>
                <a:latin typeface="DejaVu Sans"/>
                <a:ea typeface="DejaVu Sans"/>
                <a:cs typeface="DejaVu Sans"/>
              </a:defRPr>
            </a:lvl4pPr>
            <a:lvl5pPr>
              <a:buNone/>
              <a:defRPr sz="2175" b="0">
                <a:solidFill>
                  <a:srgbClr val="243344"/>
                </a:solidFill>
                <a:latin typeface="DejaVu Sans"/>
                <a:ea typeface="DejaVu Sans"/>
                <a:cs typeface="DejaVu Sans"/>
              </a:defRPr>
            </a:lvl5pPr>
            <a:lvl6pPr>
              <a:buNone/>
              <a:defRPr sz="2175" b="0">
                <a:solidFill>
                  <a:srgbClr val="243344"/>
                </a:solidFill>
                <a:latin typeface="DejaVu Sans"/>
                <a:ea typeface="DejaVu Sans"/>
                <a:cs typeface="DejaVu Sans"/>
              </a:defRPr>
            </a:lvl6pPr>
            <a:lvl7pPr>
              <a:buNone/>
              <a:defRPr sz="2175" b="0">
                <a:solidFill>
                  <a:srgbClr val="243344"/>
                </a:solidFill>
                <a:latin typeface="DejaVu Sans"/>
                <a:ea typeface="DejaVu Sans"/>
                <a:cs typeface="DejaVu Sans"/>
              </a:defRPr>
            </a:lvl7pPr>
            <a:lvl8pPr>
              <a:buNone/>
              <a:defRPr sz="2175" b="0">
                <a:solidFill>
                  <a:srgbClr val="243344"/>
                </a:solidFill>
                <a:latin typeface="DejaVu Sans"/>
                <a:ea typeface="DejaVu Sans"/>
                <a:cs typeface="DejaVu Sans"/>
              </a:defRPr>
            </a:lvl8pPr>
            <a:lvl9pPr>
              <a:buNone/>
              <a:defRPr sz="2175" b="0">
                <a:solidFill>
                  <a:srgbClr val="243344"/>
                </a:solidFill>
                <a:latin typeface="DejaVu Sans"/>
                <a:ea typeface="DejaVu Sans"/>
                <a:cs typeface="DejaVu Sans"/>
              </a:defRPr>
            </a:lvl9pPr>
          </a:lstStyle>
          <a:p xmlns:a="http://schemas.openxmlformats.org/drawingml/2006/main">
            <a:pPr>
              <a:buNone/>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docs/DESIGN-DECISIONS.md: questions, answers and final design.</a:t>
            </a:r>
          </a:p>
        </p:txBody>
      </p:sp>
      <p:sp>
        <p:nvSpPr>
          <p:cNvPr id="6" name="">
            <a:extLst xmlns:a="http://schemas.openxmlformats.org/drawingml/2006/main">
              <a:ext uri="{FF2B5EF4-FFF2-40B4-BE49-F238E27FC236}">
                <a16:creationId xmlns:a16="http://schemas.microsoft.com/office/drawing/2014/main" id="{3188D099-E19B-472E-B859-47E4E86BFF4D}"/>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buNone/>
              <a:defRPr sz="1200" b="0">
                <a:solidFill>
                  <a:srgbClr val="577068"/>
                </a:solidFill>
                <a:latin typeface="DejaVu Sans"/>
                <a:ea typeface="DejaVu Sans"/>
                <a:cs typeface="DejaVu Sans"/>
              </a:defRPr>
            </a:lvl1pPr>
            <a:lvl2pPr>
              <a:buNone/>
              <a:defRPr sz="1200" b="0">
                <a:solidFill>
                  <a:srgbClr val="577068"/>
                </a:solidFill>
                <a:latin typeface="DejaVu Sans"/>
                <a:ea typeface="DejaVu Sans"/>
                <a:cs typeface="DejaVu Sans"/>
              </a:defRPr>
            </a:lvl2pPr>
            <a:lvl3pPr>
              <a:buNone/>
              <a:defRPr sz="1200" b="0">
                <a:solidFill>
                  <a:srgbClr val="577068"/>
                </a:solidFill>
                <a:latin typeface="DejaVu Sans"/>
                <a:ea typeface="DejaVu Sans"/>
                <a:cs typeface="DejaVu Sans"/>
              </a:defRPr>
            </a:lvl3pPr>
            <a:lvl4pPr>
              <a:buNone/>
              <a:defRPr sz="1200" b="0">
                <a:solidFill>
                  <a:srgbClr val="577068"/>
                </a:solidFill>
                <a:latin typeface="DejaVu Sans"/>
                <a:ea typeface="DejaVu Sans"/>
                <a:cs typeface="DejaVu Sans"/>
              </a:defRPr>
            </a:lvl4pPr>
            <a:lvl5pPr>
              <a:buNone/>
              <a:defRPr sz="1200" b="0">
                <a:solidFill>
                  <a:srgbClr val="577068"/>
                </a:solidFill>
                <a:latin typeface="DejaVu Sans"/>
                <a:ea typeface="DejaVu Sans"/>
                <a:cs typeface="DejaVu Sans"/>
              </a:defRPr>
            </a:lvl5pPr>
            <a:lvl6pPr>
              <a:buNone/>
              <a:defRPr sz="1200" b="0">
                <a:solidFill>
                  <a:srgbClr val="577068"/>
                </a:solidFill>
                <a:latin typeface="DejaVu Sans"/>
                <a:ea typeface="DejaVu Sans"/>
                <a:cs typeface="DejaVu Sans"/>
              </a:defRPr>
            </a:lvl6pPr>
            <a:lvl7pPr>
              <a:buNone/>
              <a:defRPr sz="1200" b="0">
                <a:solidFill>
                  <a:srgbClr val="577068"/>
                </a:solidFill>
                <a:latin typeface="DejaVu Sans"/>
                <a:ea typeface="DejaVu Sans"/>
                <a:cs typeface="DejaVu Sans"/>
              </a:defRPr>
            </a:lvl7pPr>
            <a:lvl8pPr>
              <a:buNone/>
              <a:defRPr sz="1200" b="0">
                <a:solidFill>
                  <a:srgbClr val="577068"/>
                </a:solidFill>
                <a:latin typeface="DejaVu Sans"/>
                <a:ea typeface="DejaVu Sans"/>
                <a:cs typeface="DejaVu Sans"/>
              </a:defRPr>
            </a:lvl8pPr>
            <a:lvl9pPr>
              <a:buNone/>
              <a:defRPr sz="1200" b="0">
                <a:solidFill>
                  <a:srgbClr val="577068"/>
                </a:solidFill>
                <a:latin typeface="DejaVu Sans"/>
                <a:ea typeface="DejaVu Sans"/>
                <a:cs typeface="DejaVu Sans"/>
              </a:defRPr>
            </a:lvl9pPr>
          </a:lstStyle>
          <a:p xmlns:a="http://schemas.openxmlformats.org/drawingml/2006/main">
            <a:pPr>
              <a:buNone/>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rsn habit calendar one b 1.1.5</a:t>
            </a:r>
          </a:p>
        </p:txBody>
      </p:sp>
      <p:sp>
        <p:nvSpPr>
          <p:cNvPr id="7" name="">
            <a:extLst xmlns:a="http://schemas.openxmlformats.org/drawingml/2006/main">
              <a:ext uri="{FF2B5EF4-FFF2-40B4-BE49-F238E27FC236}">
                <a16:creationId xmlns:a16="http://schemas.microsoft.com/office/drawing/2014/main" id="{B85461A2-8364-44C1-A271-F6128655B141}"/>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buNone/>
              <a:defRPr sz="1350" b="0">
                <a:solidFill>
                  <a:srgbClr val="577068"/>
                </a:solidFill>
                <a:latin typeface="DejaVu Sans"/>
                <a:ea typeface="DejaVu Sans"/>
                <a:cs typeface="DejaVu Sans"/>
              </a:defRPr>
            </a:lvl1pPr>
            <a:lvl2pPr>
              <a:buNone/>
              <a:defRPr sz="1350" b="0">
                <a:solidFill>
                  <a:srgbClr val="577068"/>
                </a:solidFill>
                <a:latin typeface="DejaVu Sans"/>
                <a:ea typeface="DejaVu Sans"/>
                <a:cs typeface="DejaVu Sans"/>
              </a:defRPr>
            </a:lvl2pPr>
            <a:lvl3pPr>
              <a:buNone/>
              <a:defRPr sz="1350" b="0">
                <a:solidFill>
                  <a:srgbClr val="577068"/>
                </a:solidFill>
                <a:latin typeface="DejaVu Sans"/>
                <a:ea typeface="DejaVu Sans"/>
                <a:cs typeface="DejaVu Sans"/>
              </a:defRPr>
            </a:lvl3pPr>
            <a:lvl4pPr>
              <a:buNone/>
              <a:defRPr sz="1350" b="0">
                <a:solidFill>
                  <a:srgbClr val="577068"/>
                </a:solidFill>
                <a:latin typeface="DejaVu Sans"/>
                <a:ea typeface="DejaVu Sans"/>
                <a:cs typeface="DejaVu Sans"/>
              </a:defRPr>
            </a:lvl4pPr>
            <a:lvl5pPr>
              <a:buNone/>
              <a:defRPr sz="1350" b="0">
                <a:solidFill>
                  <a:srgbClr val="577068"/>
                </a:solidFill>
                <a:latin typeface="DejaVu Sans"/>
                <a:ea typeface="DejaVu Sans"/>
                <a:cs typeface="DejaVu Sans"/>
              </a:defRPr>
            </a:lvl5pPr>
            <a:lvl6pPr>
              <a:buNone/>
              <a:defRPr sz="1350" b="0">
                <a:solidFill>
                  <a:srgbClr val="577068"/>
                </a:solidFill>
                <a:latin typeface="DejaVu Sans"/>
                <a:ea typeface="DejaVu Sans"/>
                <a:cs typeface="DejaVu Sans"/>
              </a:defRPr>
            </a:lvl6pPr>
            <a:lvl7pPr>
              <a:buNone/>
              <a:defRPr sz="1350" b="0">
                <a:solidFill>
                  <a:srgbClr val="577068"/>
                </a:solidFill>
                <a:latin typeface="DejaVu Sans"/>
                <a:ea typeface="DejaVu Sans"/>
                <a:cs typeface="DejaVu Sans"/>
              </a:defRPr>
            </a:lvl7pPr>
            <a:lvl8pPr>
              <a:buNone/>
              <a:defRPr sz="1350" b="0">
                <a:solidFill>
                  <a:srgbClr val="577068"/>
                </a:solidFill>
                <a:latin typeface="DejaVu Sans"/>
                <a:ea typeface="DejaVu Sans"/>
                <a:cs typeface="DejaVu Sans"/>
              </a:defRPr>
            </a:lvl8pPr>
            <a:lvl9pPr>
              <a:buNone/>
              <a:defRPr sz="1350" b="0">
                <a:solidFill>
                  <a:srgbClr val="577068"/>
                </a:solidFill>
                <a:latin typeface="DejaVu Sans"/>
                <a:ea typeface="DejaVu Sans"/>
                <a:cs typeface="DejaVu Sans"/>
              </a:defRPr>
            </a:lvl9pPr>
          </a:lstStyle>
          <a:p xmlns:a="http://schemas.openxmlformats.org/drawingml/2006/main">
            <a:pPr>
              <a:buNone/>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43</a:t>
            </a:r>
          </a:p>
        </p:txBody>
      </p:sp>
    </p:spTree>
    <p:extLst>
      <p:ext uri="{BB962C8B-B14F-4D97-AF65-F5344CB8AC3E}">
        <p14:creationId xmlns:p14="http://schemas.microsoft.com/office/powerpoint/2010/main" val="10081743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2026-10-24T03:07:10.4610000Z</dcterms:created>
  <dcterms:modified xsi:type="dcterms:W3CDTF">2026-10-24T03:07:10.4610000Z</dcterms:modified>
</coreProperties>
</file>