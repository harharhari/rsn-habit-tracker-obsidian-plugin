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840218c4ab41f3" /><Relationship Type="http://schemas.openxmlformats.org/officeDocument/2006/relationships/extended-properties" Target="/docProps/app.xml" Id="R22fe6912adf24666" /><Relationship Type="http://schemas.openxmlformats.org/officeDocument/2006/relationships/officeDocument" Target="/ppt/presentation.xml" Id="Rf70a2367f18c425a" /></Relationships>
</file>

<file path=ppt/presentation.xml><?xml version="1.0" encoding="utf-8"?>
<p:presentation xmlns:p="http://schemas.openxmlformats.org/presentationml/2006/main">
  <p:sldMasterIdLst>
    <p:sldMasterId xmlns:r="http://schemas.openxmlformats.org/officeDocument/2006/relationships" id="2147483648" r:id="R425f5c5d63904efd"/>
  </p:sldMasterIdLst>
  <p:notesMasterIdLst>
    <p:notesMasterId xmlns:r="http://schemas.openxmlformats.org/officeDocument/2006/relationships" r:id="Ra6b7738a9cd84fde"/>
  </p:notesMasterIdLst>
  <p:sldIdLst>
    <p:sldId xmlns:r="http://schemas.openxmlformats.org/officeDocument/2006/relationships" id="256" r:id="R3268d25aae0b453d"/>
    <p:sldId xmlns:r="http://schemas.openxmlformats.org/officeDocument/2006/relationships" id="257" r:id="Rbdf4146f63f7435a"/>
    <p:sldId xmlns:r="http://schemas.openxmlformats.org/officeDocument/2006/relationships" id="258" r:id="Rb63a34507a3e4568"/>
    <p:sldId xmlns:r="http://schemas.openxmlformats.org/officeDocument/2006/relationships" id="259" r:id="R71dba482264c4326"/>
    <p:sldId xmlns:r="http://schemas.openxmlformats.org/officeDocument/2006/relationships" id="260" r:id="Rf1477c6297db4baa"/>
    <p:sldId xmlns:r="http://schemas.openxmlformats.org/officeDocument/2006/relationships" id="261" r:id="R2269b9ca96734d1e"/>
    <p:sldId xmlns:r="http://schemas.openxmlformats.org/officeDocument/2006/relationships" id="262" r:id="R97ed9a9170e84ee4"/>
    <p:sldId xmlns:r="http://schemas.openxmlformats.org/officeDocument/2006/relationships" id="263" r:id="R07dac068bf24478f"/>
    <p:sldId xmlns:r="http://schemas.openxmlformats.org/officeDocument/2006/relationships" id="264" r:id="R782cff8c4aec4c8b"/>
    <p:sldId xmlns:r="http://schemas.openxmlformats.org/officeDocument/2006/relationships" id="265" r:id="R2674b155d3364c50"/>
    <p:sldId xmlns:r="http://schemas.openxmlformats.org/officeDocument/2006/relationships" id="266" r:id="Rf2ee019c0007487b"/>
    <p:sldId xmlns:r="http://schemas.openxmlformats.org/officeDocument/2006/relationships" id="267" r:id="Rf926705fba054db7"/>
    <p:sldId xmlns:r="http://schemas.openxmlformats.org/officeDocument/2006/relationships" id="268" r:id="R5c86e8d9b17943b8"/>
    <p:sldId xmlns:r="http://schemas.openxmlformats.org/officeDocument/2006/relationships" id="269" r:id="Rbf5d2071e9b64006"/>
    <p:sldId xmlns:r="http://schemas.openxmlformats.org/officeDocument/2006/relationships" id="270" r:id="R5da8c7d0682947e6"/>
    <p:sldId xmlns:r="http://schemas.openxmlformats.org/officeDocument/2006/relationships" id="271" r:id="R0dafa2eedf32482f"/>
    <p:sldId xmlns:r="http://schemas.openxmlformats.org/officeDocument/2006/relationships" id="272" r:id="Re38e08d518ff4bc7"/>
    <p:sldId xmlns:r="http://schemas.openxmlformats.org/officeDocument/2006/relationships" id="273" r:id="R2b5dc53ced2f4686"/>
    <p:sldId xmlns:r="http://schemas.openxmlformats.org/officeDocument/2006/relationships" id="274" r:id="R49aeb5e03bb94409"/>
    <p:sldId xmlns:r="http://schemas.openxmlformats.org/officeDocument/2006/relationships" id="275" r:id="R56967483947c40cf"/>
    <p:sldId xmlns:r="http://schemas.openxmlformats.org/officeDocument/2006/relationships" id="276" r:id="R58380da07b9d4f04"/>
    <p:sldId xmlns:r="http://schemas.openxmlformats.org/officeDocument/2006/relationships" id="277" r:id="R768f22ef3c484108"/>
    <p:sldId xmlns:r="http://schemas.openxmlformats.org/officeDocument/2006/relationships" id="278" r:id="Rccd04309b61f4271"/>
    <p:sldId xmlns:r="http://schemas.openxmlformats.org/officeDocument/2006/relationships" id="279" r:id="R38c2c6c797f04e29"/>
    <p:sldId xmlns:r="http://schemas.openxmlformats.org/officeDocument/2006/relationships" id="280" r:id="R731e0d579ebd4e37"/>
    <p:sldId xmlns:r="http://schemas.openxmlformats.org/officeDocument/2006/relationships" id="281" r:id="R6f5bd09cac6c4863"/>
    <p:sldId xmlns:r="http://schemas.openxmlformats.org/officeDocument/2006/relationships" id="282" r:id="Re2b2956258e8425e"/>
    <p:sldId xmlns:r="http://schemas.openxmlformats.org/officeDocument/2006/relationships" id="283" r:id="Rd685eff1e85943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598038c0ad4741" /><Relationship Type="http://schemas.openxmlformats.org/officeDocument/2006/relationships/slideMaster" Target="/ppt/slideMasters/slideMaster1.xml" Id="R425f5c5d63904efd" /><Relationship Type="http://schemas.openxmlformats.org/officeDocument/2006/relationships/notesMaster" Target="/ppt/notesMasters/notesMaster1.xml" Id="Ra6b7738a9cd84fde" /><Relationship Type="http://schemas.openxmlformats.org/officeDocument/2006/relationships/presProps" Target="/ppt/presProps.xml" Id="R962c67c7bb074c79" /><Relationship Type="http://schemas.openxmlformats.org/officeDocument/2006/relationships/tableStyles" Target="/ppt/tableStyles.xml" Id="R2e19485f8aa1460f" /><Relationship Type="http://schemas.openxmlformats.org/officeDocument/2006/relationships/slide" Target="/ppt/slides/slide1.xml" Id="R3268d25aae0b453d" /><Relationship Type="http://schemas.openxmlformats.org/officeDocument/2006/relationships/slide" Target="/ppt/slides/slide2.xml" Id="Rbdf4146f63f7435a" /><Relationship Type="http://schemas.openxmlformats.org/officeDocument/2006/relationships/slide" Target="/ppt/slides/slide3.xml" Id="Rb63a34507a3e4568" /><Relationship Type="http://schemas.openxmlformats.org/officeDocument/2006/relationships/slide" Target="/ppt/slides/slide4.xml" Id="R71dba482264c4326" /><Relationship Type="http://schemas.openxmlformats.org/officeDocument/2006/relationships/slide" Target="/ppt/slides/slide5.xml" Id="Rf1477c6297db4baa" /><Relationship Type="http://schemas.openxmlformats.org/officeDocument/2006/relationships/slide" Target="/ppt/slides/slide6.xml" Id="R2269b9ca96734d1e" /><Relationship Type="http://schemas.openxmlformats.org/officeDocument/2006/relationships/slide" Target="/ppt/slides/slide7.xml" Id="R97ed9a9170e84ee4" /><Relationship Type="http://schemas.openxmlformats.org/officeDocument/2006/relationships/slide" Target="/ppt/slides/slide8.xml" Id="R07dac068bf24478f" /><Relationship Type="http://schemas.openxmlformats.org/officeDocument/2006/relationships/slide" Target="/ppt/slides/slide9.xml" Id="R782cff8c4aec4c8b" /><Relationship Type="http://schemas.openxmlformats.org/officeDocument/2006/relationships/slide" Target="/ppt/slides/slide10.xml" Id="R2674b155d3364c50" /><Relationship Type="http://schemas.openxmlformats.org/officeDocument/2006/relationships/slide" Target="/ppt/slides/slide11.xml" Id="Rf2ee019c0007487b" /><Relationship Type="http://schemas.openxmlformats.org/officeDocument/2006/relationships/slide" Target="/ppt/slides/slide12.xml" Id="Rf926705fba054db7" /><Relationship Type="http://schemas.openxmlformats.org/officeDocument/2006/relationships/slide" Target="/ppt/slides/slide13.xml" Id="R5c86e8d9b17943b8" /><Relationship Type="http://schemas.openxmlformats.org/officeDocument/2006/relationships/slide" Target="/ppt/slides/slide14.xml" Id="Rbf5d2071e9b64006" /><Relationship Type="http://schemas.openxmlformats.org/officeDocument/2006/relationships/slide" Target="/ppt/slides/slide15.xml" Id="R5da8c7d0682947e6" /><Relationship Type="http://schemas.openxmlformats.org/officeDocument/2006/relationships/slide" Target="/ppt/slides/slide16.xml" Id="R0dafa2eedf32482f" /><Relationship Type="http://schemas.openxmlformats.org/officeDocument/2006/relationships/slide" Target="/ppt/slides/slide17.xml" Id="Re38e08d518ff4bc7" /><Relationship Type="http://schemas.openxmlformats.org/officeDocument/2006/relationships/slide" Target="/ppt/slides/slide18.xml" Id="R2b5dc53ced2f4686" /><Relationship Type="http://schemas.openxmlformats.org/officeDocument/2006/relationships/slide" Target="/ppt/slides/slide19.xml" Id="R49aeb5e03bb94409" /><Relationship Type="http://schemas.openxmlformats.org/officeDocument/2006/relationships/slide" Target="/ppt/slides/slide20.xml" Id="R56967483947c40cf" /><Relationship Type="http://schemas.openxmlformats.org/officeDocument/2006/relationships/slide" Target="/ppt/slides/slide21.xml" Id="R58380da07b9d4f04" /><Relationship Type="http://schemas.openxmlformats.org/officeDocument/2006/relationships/slide" Target="/ppt/slides/slide22.xml" Id="R768f22ef3c484108" /><Relationship Type="http://schemas.openxmlformats.org/officeDocument/2006/relationships/slide" Target="/ppt/slides/slide23.xml" Id="Rccd04309b61f4271" /><Relationship Type="http://schemas.openxmlformats.org/officeDocument/2006/relationships/slide" Target="/ppt/slides/slide24.xml" Id="R38c2c6c797f04e29" /><Relationship Type="http://schemas.openxmlformats.org/officeDocument/2006/relationships/slide" Target="/ppt/slides/slide25.xml" Id="R731e0d579ebd4e37" /><Relationship Type="http://schemas.openxmlformats.org/officeDocument/2006/relationships/slide" Target="/ppt/slides/slide26.xml" Id="R6f5bd09cac6c4863" /><Relationship Type="http://schemas.openxmlformats.org/officeDocument/2006/relationships/slide" Target="/ppt/slides/slide27.xml" Id="Re2b2956258e8425e" /><Relationship Type="http://schemas.openxmlformats.org/officeDocument/2006/relationships/slide" Target="/ppt/slides/slide28.xml" Id="Rd685eff1e85943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46d2c5252149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e4edda34b24071" /><Relationship Type="http://schemas.openxmlformats.org/officeDocument/2006/relationships/notesMaster" Target="/ppt/notesMasters/notesMaster1.xml" Id="R74e4a92a85564d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1b46ad9a0e485b" /><Relationship Type="http://schemas.openxmlformats.org/officeDocument/2006/relationships/notesMaster" Target="/ppt/notesMasters/notesMaster1.xml" Id="R35590e7e3b3e46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d465692b9b427a" /><Relationship Type="http://schemas.openxmlformats.org/officeDocument/2006/relationships/notesMaster" Target="/ppt/notesMasters/notesMaster1.xml" Id="Rb90865d0515948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938efcbf714a22" /><Relationship Type="http://schemas.openxmlformats.org/officeDocument/2006/relationships/notesMaster" Target="/ppt/notesMasters/notesMaster1.xml" Id="R480965cf932145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9d3506d96048ae" /><Relationship Type="http://schemas.openxmlformats.org/officeDocument/2006/relationships/notesMaster" Target="/ppt/notesMasters/notesMaster1.xml" Id="R5a6e04b6d7054d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d7a990e6aa4fbc" /><Relationship Type="http://schemas.openxmlformats.org/officeDocument/2006/relationships/notesMaster" Target="/ppt/notesMasters/notesMaster1.xml" Id="R159d5c9f56f449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41266c15e84df8" /><Relationship Type="http://schemas.openxmlformats.org/officeDocument/2006/relationships/notesMaster" Target="/ppt/notesMasters/notesMaster1.xml" Id="R10c98e8d4e3242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5233c870b34679" /><Relationship Type="http://schemas.openxmlformats.org/officeDocument/2006/relationships/notesMaster" Target="/ppt/notesMasters/notesMaster1.xml" Id="R257cd9eaf15645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bd1c1e9a754c22" /><Relationship Type="http://schemas.openxmlformats.org/officeDocument/2006/relationships/notesMaster" Target="/ppt/notesMasters/notesMaster1.xml" Id="Rca9a6911a0d245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8de4aa8e3e406d" /><Relationship Type="http://schemas.openxmlformats.org/officeDocument/2006/relationships/notesMaster" Target="/ppt/notesMasters/notesMaster1.xml" Id="Rbbd65b75eac44eb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8c558ea7634b51" /><Relationship Type="http://schemas.openxmlformats.org/officeDocument/2006/relationships/notesMaster" Target="/ppt/notesMasters/notesMaster1.xml" Id="R9d13d38424f848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ee5e557dd9499f" /><Relationship Type="http://schemas.openxmlformats.org/officeDocument/2006/relationships/notesMaster" Target="/ppt/notesMasters/notesMaster1.xml" Id="R8a5adc38841643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8f249d892f43cd" /><Relationship Type="http://schemas.openxmlformats.org/officeDocument/2006/relationships/notesMaster" Target="/ppt/notesMasters/notesMaster1.xml" Id="R88c4d07b7e8c4c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dfacc9ab644706" /><Relationship Type="http://schemas.openxmlformats.org/officeDocument/2006/relationships/notesMaster" Target="/ppt/notesMasters/notesMaster1.xml" Id="Re2b409c6dc2e4a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9b32008f964687" /><Relationship Type="http://schemas.openxmlformats.org/officeDocument/2006/relationships/notesMaster" Target="/ppt/notesMasters/notesMaster1.xml" Id="R7891b2b9037541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6cd800918d4758" /><Relationship Type="http://schemas.openxmlformats.org/officeDocument/2006/relationships/notesMaster" Target="/ppt/notesMasters/notesMaster1.xml" Id="Re3c8db38b53e4f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4f2740039c4db6" /><Relationship Type="http://schemas.openxmlformats.org/officeDocument/2006/relationships/notesMaster" Target="/ppt/notesMasters/notesMaster1.xml" Id="Rda135effe70b4b4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506e3159db4c6e" /><Relationship Type="http://schemas.openxmlformats.org/officeDocument/2006/relationships/notesMaster" Target="/ppt/notesMasters/notesMaster1.xml" Id="R1f2c89778a0b48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ee3272e88b640c2" /><Relationship Type="http://schemas.openxmlformats.org/officeDocument/2006/relationships/notesMaster" Target="/ppt/notesMasters/notesMaster1.xml" Id="R795f9bed9b9048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ecf87e411a419c" /><Relationship Type="http://schemas.openxmlformats.org/officeDocument/2006/relationships/notesMaster" Target="/ppt/notesMasters/notesMaster1.xml" Id="R1afa4ce787eb4c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61ec7baa3843ad" /><Relationship Type="http://schemas.openxmlformats.org/officeDocument/2006/relationships/notesMaster" Target="/ppt/notesMasters/notesMaster1.xml" Id="Rc6459c3ba0014c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156c6ba542141e9" /><Relationship Type="http://schemas.openxmlformats.org/officeDocument/2006/relationships/notesMaster" Target="/ppt/notesMasters/notesMaster1.xml" Id="Rce0b3efd51ab4b2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b71660735948cc" /><Relationship Type="http://schemas.openxmlformats.org/officeDocument/2006/relationships/notesMaster" Target="/ppt/notesMasters/notesMaster1.xml" Id="R02ae8f9be9ba48c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f7e785cfd8f4b4f" /><Relationship Type="http://schemas.openxmlformats.org/officeDocument/2006/relationships/notesMaster" Target="/ppt/notesMasters/notesMaster1.xml" Id="Rd9f3b38cb87841a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27104c45f864799" /><Relationship Type="http://schemas.openxmlformats.org/officeDocument/2006/relationships/notesMaster" Target="/ppt/notesMasters/notesMaster1.xml" Id="Ra8e2806243784be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b597f6714c94ddb" /><Relationship Type="http://schemas.openxmlformats.org/officeDocument/2006/relationships/notesMaster" Target="/ppt/notesMasters/notesMaster1.xml" Id="R3a9a86fbe30a4b4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183c006c5bf457a" /><Relationship Type="http://schemas.openxmlformats.org/officeDocument/2006/relationships/notesMaster" Target="/ppt/notesMasters/notesMaster1.xml" Id="Rd19eb8e7b4864d6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4abde4c6e1749ed" /><Relationship Type="http://schemas.openxmlformats.org/officeDocument/2006/relationships/notesMaster" Target="/ppt/notesMasters/notesMaster1.xml" Id="R5d5d09e1f22641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disposable rsn-test-vault for all first-use exercises. This tutorial includes manual installation on both devices, optional Obsidian Sync and a maintainer publication appendix.</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Browser-rendered example with mocked Obsidian APIs and generic habits. This is not an Ubuntu Obsidian screenshot.</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Browser-rendered mobile viewport, not an Android device screenshot. The maintainer separately reports working Android phones.</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declared minimum is based on API compatibility checks; the exact minimum app version has not been tested on devices. Ubuntu 24.04.3 is user-confirmed. The user assumes latest Obsidian and Android; exact versions/models remain unrecorded.</a:t>
            </a:r>
          </a:p>
          <a:p xmlns:a="http://schemas.openxmlformats.org/drawingml/2006/main">
            <a:r>
              <a:t>Official source: https://docs.obsidian.md/Plugins/Getting%20started/Build%20a%20plugin</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https://github.com/harharhari/rsn-habit-tracker-obsidian-plugin/releases/tag/1.1.1 . The link works only after the maintainer publishes the release and your account has access. A private repository requires authorized access. The six asset names are main.js, manifest.json, styles.css, hex-color-list.md, habit-calendar-001b-1.1.1.zip, SHA256SUMS.</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release checksum with release downloads. The repository root checksum describes source files instead. The checksum file cannot hash itself. Checksums detect corruption and mismatches but are not a signature proving publisher identity.</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path must be &lt;vault&gt;/.obsidian/plugins/habit-calendar-001b/main.js. Do not create habit-calendar-001b/habit-calendar-001b/main.js. A custom configuration folder replaces .obsidian if you have explicitly configured one.</a:t>
            </a:r>
          </a:p>
          <a:p xmlns:a="http://schemas.openxmlformats.org/drawingml/2006/main">
            <a:r>
              <a:t>Official source: https://docs.obsidian.md/Plugins/Getting%20started/Build%20a%20plugin</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new installation starts with an empty editable habit table. Controls should appear even before calendars exist. The old Habit Calendar 001 must stay disabled when using the same data. Restart Obsidian after changing the manifest.</a:t>
            </a:r>
          </a:p>
          <a:p xmlns:a="http://schemas.openxmlformats.org/drawingml/2006/main">
            <a:r>
              <a:t>Official source: https://docs.obsidian.md/Plugins/Getting%20started/Build%20a%20plugin</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location: Internal storage/Documents/Obsidian/rsn-test-vault. Actual names vary by phone. App-private storage is inaccessible to the ordinary manual file-copy workflow. Android may request file access for device storage. Do not uninstall Obsidian as an upgrade step.</a:t>
            </a:r>
          </a:p>
          <a:p xmlns:a="http://schemas.openxmlformats.org/drawingml/2006/main">
            <a:r>
              <a:t>Official source: https://obsidian.md/help/android</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Alternatively extract the ZIP and copy its enclosed folder into .obsidian/plugins. Do not copy a second nested folder. LICENSE and NOTICE can remain if using the ZIP. ZIP and SHA256SUMS are not runtime files.</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direct command opens the interactive view. If the plugin is absent, check the selected vault, folder nesting, hidden configuration folder and filenames. If the version is old, replace the correct files and restart. If no habits exist, continue to the habit-list exercise.</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Copy the complete starter table from examples/habit-tracker-list.md in the repository. Headers are Habit, Generate calendar, Header color. Edit in Source mode. The plugin inserts stable habit IDs; preserve them when renaming or moving existing rows.</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warning: “The current months entries will be overwritten and there would be loss of data”. Choose Yes for the new empty practice month. Later, never use Yes simply to troubleshoot a blank view. A color-only edit also resets all current marks when accepted. Closing the dialog behaves as No.</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dates are disabled. Previous months are read-only. No schedule runs in the background, and blank dates do not automatically become pink. Use the Statistics button to compare counts after restart.</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Source-mode row: | My lavender | #B8A9E8 | | . The editable vault reference has 147 CSS3 named colors. Its third column renders the actual shade. Applying a header-color change through the habit list requires the same destructive confirmation.</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No first, then Apply habit list and Yes in the disposable vault. Verify unchanged habits also lose current marks. The plugin saves a recovery snapshot under System/Backups but provides no one-click undo.</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simple denominator counts elapsed dates, not a custom schedule. A frozen report whose last update was before month-end retains that earlier as-of date. Do not assume historical percentages were recalculated to the last day of the month.</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a list change declined in the previous month can be used for the next month. Default timezone is Asia/Kolkata in Habit Tracker/System/config.md. Keep it consistent across devices. There is no Android background scheduler. The optional Linux helper is documented in SETUP-AND-USAGE.md.</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Obsidian Sync is an optional paid service. Configure sync preferences separately on each device. For remembered plugin settings, include community plugin settings where offered. See ANDROID-rsn-test-vault.md for the complete sequence. Independent manual copies do not synchronize automatically.</a:t>
            </a:r>
          </a:p>
          <a:p xmlns:a="http://schemas.openxmlformats.org/drawingml/2006/main">
            <a:r>
              <a:t>Official source: https://help.obsidian.md/sync/settings</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uses revision-tagged records. Old-generation marks cannot resurrect data after a reset. Simultaneous resets can discard another revision, and late historical marks are excluded by design. Neither this plugin nor GitHub supplies a sync service.</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data.json holds plugin preferences including remembered decisions. Habit Tracker holds your list, custom color reference, records, monthly notes, statistics and snapshots. There are two hex-color-list.md files: replace the packaged plugin copy and preserve your editable vault copy.</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delete Habit Tracker or accept a reset to investigate a blank screen. To inspect Android errors, enable USB debugging and use Chrome chrome://inspect/ on the laptop. The official mobile-development page covers this workflow.</a:t>
            </a:r>
          </a:p>
          <a:p xmlns:a="http://schemas.openxmlformats.org/drawingml/2006/main">
            <a:r>
              <a:t>Official source: https://docs.obsidian.md/Plugins/Getting%20started/Mobile%20development</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FILE-LOCATIONS.md in the outer delivery for the exact local-to-GitHub mapping. The source checksum and release checksum are different files. GitHub Actions validates pushes but does not publish. Do not replace a published binary silently; use a new version for changed code.</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 JavaScript and 6 Python tests pass. Browser desktop/mobile scenarios are separate from device testing. The user reports Ubuntu 24.04.3 and Android success, but exact app/phone versions and all-checklist results remain unrecorded. Test the declared minimum or revise the compatibility claim before submission.</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developer policies and maintenance commitment before submitting. The current directory-based workflow replaces old pull-request tutorials. Source: https://docs.obsidian.md/Plugins/Releasing/Submit%20your%20plugin</a:t>
            </a:r>
          </a:p>
          <a:p xmlns:a="http://schemas.openxmlformats.org/drawingml/2006/main">
            <a:r>
              <a:t>Account and form instructions: https://docs.obsidian.md/community-directory/set-up-and-claim</a:t>
            </a:r>
          </a:p>
          <a:p xmlns:a="http://schemas.openxmlformats.org/drawingml/2006/main">
            <a:r>
              <a:t>Review controls: https://docs.obsidian.md/community-directory/manage-entry</a:t>
            </a:r>
          </a:p>
          <a:p xmlns:a="http://schemas.openxmlformats.org/drawingml/2006/main">
            <a:r>
              <a:t>Official source: https://docs.obsidian.md/Plugins/Releasing/Submit%20your%20plugin</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https://docs.obsidian.md/community-directory/manage-entry . See docs/GITHUB-AND-COMMUNITY-RELEASE.md for step-by-step publication, official sources, test gates and future-release guidance.</a:t>
            </a:r>
          </a:p>
          <a:p xmlns:a="http://schemas.openxmlformats.org/drawingml/2006/main">
            <a:r>
              <a:t>Official source: https://docs.obsidian.md/community-directory/manage-entry</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includes a generic starter and 60-habit example. Personal 71-habit data is excluded. Official documentation was checked on 21 October 2026. The PowerPoint describes version 1.1.1; refer to current release notes for later versions.</a:t>
            </a:r>
          </a:p>
          <a:p xmlns:a="http://schemas.openxmlformats.org/drawingml/2006/main">
            <a:r>
              <a:t>Plugin behaviour: version 1.1.1 source and repository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3e5119327b4e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2f83e4543848b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312176f84442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d7a405e3364b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12d8b8c8284e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662066c0a341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404800-14F8-4587-9A24-E9199216D71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362089-3C9C-4386-B29E-35E59636C28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CD215D-C3B0-4BA5-822F-5D9887A2A8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B46F17-C6B0-4712-98AD-A0A88EEE90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8BACA3-A7D0-4008-8236-FDD6D1ABA74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DB70FA-3020-4954-8E61-0D9393968F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0AA129-1688-4CAD-8035-5EDCA73CCC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37C9BF2-B336-49E3-B1CF-C40E762C9B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9381EA-919E-4B0B-877E-B8774E4A68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C233A3-5821-475E-8497-EE1A4BFC44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3094d02f7c4aa4" /><Relationship Type="http://schemas.openxmlformats.org/officeDocument/2006/relationships/slideLayout" Target="/ppt/slideLayouts/slideLayout1.xml" Id="Ra4b9bca897af49fb" /><Relationship Type="http://schemas.openxmlformats.org/officeDocument/2006/relationships/slideLayout" Target="/ppt/slideLayouts/slideLayout2.xml" Id="R30b42dbae9604e33" /><Relationship Type="http://schemas.openxmlformats.org/officeDocument/2006/relationships/slideLayout" Target="/ppt/slideLayouts/slideLayout3.xml" Id="R85e5fb08a8c64613" /><Relationship Type="http://schemas.openxmlformats.org/officeDocument/2006/relationships/slideLayout" Target="/ppt/slideLayouts/slideLayout4.xml" Id="R4e01b50bc4af4bf8" /><Relationship Type="http://schemas.openxmlformats.org/officeDocument/2006/relationships/slideLayout" Target="/ppt/slideLayouts/slideLayout5.xml" Id="Rf3f1d53678b349f5" /><Relationship Type="http://schemas.openxmlformats.org/officeDocument/2006/relationships/slideLayout" Target="/ppt/slideLayouts/slideLayout6.xml" Id="Rf261d88d3c5f41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b9bca897af49fb"/>
    <p:sldLayoutId xmlns:r="http://schemas.openxmlformats.org/officeDocument/2006/relationships" id="2147483650" r:id="R30b42dbae9604e33"/>
    <p:sldLayoutId xmlns:r="http://schemas.openxmlformats.org/officeDocument/2006/relationships" id="2147483651" r:id="R85e5fb08a8c64613"/>
    <p:sldLayoutId xmlns:r="http://schemas.openxmlformats.org/officeDocument/2006/relationships" id="2147483652" r:id="R4e01b50bc4af4bf8"/>
    <p:sldLayoutId xmlns:r="http://schemas.openxmlformats.org/officeDocument/2006/relationships" id="2147483653" r:id="Rf3f1d53678b349f5"/>
    <p:sldLayoutId xmlns:r="http://schemas.openxmlformats.org/officeDocument/2006/relationships" id="2147483654" r:id="Rf261d88d3c5f41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8168c7ceeb46b5" /><Relationship Type="http://schemas.openxmlformats.org/officeDocument/2006/relationships/notesSlide" Target="/ppt/notesSlides/notesSlide1.xml" Id="R8b40f5065a3545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c9ed455dfa40c5" /><Relationship Type="http://schemas.openxmlformats.org/officeDocument/2006/relationships/notesSlide" Target="/ppt/notesSlides/notesSlide2.xml" Id="R350e6d214f0d41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b165357ea274fb5" /><Relationship Type="http://schemas.openxmlformats.org/officeDocument/2006/relationships/image" Target="/ppt/media/image.png" Id="R56e7f93602804527" /><Relationship Type="http://schemas.openxmlformats.org/officeDocument/2006/relationships/notesSlide" Target="/ppt/notesSlides/notesSlide3.xml" Id="R17cc336ba16048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09a9cde5c474766" /><Relationship Type="http://schemas.openxmlformats.org/officeDocument/2006/relationships/image" Target="/ppt/media/image2.png" Id="R1351c23dc51a407a" /><Relationship Type="http://schemas.openxmlformats.org/officeDocument/2006/relationships/notesSlide" Target="/ppt/notesSlides/notesSlide4.xml" Id="Ra58e5a7442404c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457490b5cdb49b2" /><Relationship Type="http://schemas.openxmlformats.org/officeDocument/2006/relationships/notesSlide" Target="/ppt/notesSlides/notesSlide5.xml" Id="Rd3836dd513a545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5c9cf8ccf74476" /><Relationship Type="http://schemas.openxmlformats.org/officeDocument/2006/relationships/notesSlide" Target="/ppt/notesSlides/notesSlide6.xml" Id="R7ce36f93923848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1215f088f043a3" /><Relationship Type="http://schemas.openxmlformats.org/officeDocument/2006/relationships/notesSlide" Target="/ppt/notesSlides/notesSlide7.xml" Id="Rcbe711e9a6c948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b551552f5a45de" /><Relationship Type="http://schemas.openxmlformats.org/officeDocument/2006/relationships/notesSlide" Target="/ppt/notesSlides/notesSlide8.xml" Id="R2119cfc7902d47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183ea526ec42fb" /><Relationship Type="http://schemas.openxmlformats.org/officeDocument/2006/relationships/notesSlide" Target="/ppt/notesSlides/notesSlide9.xml" Id="R924e434b5b8648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ad61d5b2184f4c" /><Relationship Type="http://schemas.openxmlformats.org/officeDocument/2006/relationships/notesSlide" Target="/ppt/notesSlides/notesSlide10.xml" Id="R1e5dc0b4b6d448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0c760fd1464b6a" /><Relationship Type="http://schemas.openxmlformats.org/officeDocument/2006/relationships/notesSlide" Target="/ppt/notesSlides/notesSlide11.xml" Id="Rb9219eb9827447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c604aec47eb461a" /><Relationship Type="http://schemas.openxmlformats.org/officeDocument/2006/relationships/notesSlide" Target="/ppt/notesSlides/notesSlide12.xml" Id="R10e6019f7d164e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92ed3d55fa49fe" /><Relationship Type="http://schemas.openxmlformats.org/officeDocument/2006/relationships/notesSlide" Target="/ppt/notesSlides/notesSlide13.xml" Id="R8be4dd3b8f724e1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ff869410b364ca7" /><Relationship Type="http://schemas.openxmlformats.org/officeDocument/2006/relationships/notesSlide" Target="/ppt/notesSlides/notesSlide14.xml" Id="Rda67063c502646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fa9db71b2884f91" /><Relationship Type="http://schemas.openxmlformats.org/officeDocument/2006/relationships/notesSlide" Target="/ppt/notesSlides/notesSlide15.xml" Id="Refa3bdfd919145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34d3a7279bd45de" /><Relationship Type="http://schemas.openxmlformats.org/officeDocument/2006/relationships/notesSlide" Target="/ppt/notesSlides/notesSlide16.xml" Id="Rb22b9c5d872240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07f73f52c1c45d0" /><Relationship Type="http://schemas.openxmlformats.org/officeDocument/2006/relationships/notesSlide" Target="/ppt/notesSlides/notesSlide17.xml" Id="Re00456781d2a4e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a5c87647fe84528" /><Relationship Type="http://schemas.openxmlformats.org/officeDocument/2006/relationships/notesSlide" Target="/ppt/notesSlides/notesSlide18.xml" Id="Rc38ddd47107849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546f6cdb5c1452e" /><Relationship Type="http://schemas.openxmlformats.org/officeDocument/2006/relationships/notesSlide" Target="/ppt/notesSlides/notesSlide19.xml" Id="R989036179df2476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ce45f43fbc849ed" /><Relationship Type="http://schemas.openxmlformats.org/officeDocument/2006/relationships/notesSlide" Target="/ppt/notesSlides/notesSlide20.xml" Id="R228ec1e65cb345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e90e1bf07404e27" /><Relationship Type="http://schemas.openxmlformats.org/officeDocument/2006/relationships/notesSlide" Target="/ppt/notesSlides/notesSlide21.xml" Id="Rac25e39357894f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34a5cea2f624a01" /><Relationship Type="http://schemas.openxmlformats.org/officeDocument/2006/relationships/notesSlide" Target="/ppt/notesSlides/notesSlide22.xml" Id="Rd0509cbb7550493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119447d32b240d9" /><Relationship Type="http://schemas.openxmlformats.org/officeDocument/2006/relationships/notesSlide" Target="/ppt/notesSlides/notesSlide23.xml" Id="Re818ed996e3f4f7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c817f788d804f46" /><Relationship Type="http://schemas.openxmlformats.org/officeDocument/2006/relationships/notesSlide" Target="/ppt/notesSlides/notesSlide24.xml" Id="Ra13924804667426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04c4be4de3c49fc" /><Relationship Type="http://schemas.openxmlformats.org/officeDocument/2006/relationships/notesSlide" Target="/ppt/notesSlides/notesSlide25.xml" Id="Rd10a78f32257473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2c92a4e2f494461" /><Relationship Type="http://schemas.openxmlformats.org/officeDocument/2006/relationships/notesSlide" Target="/ppt/notesSlides/notesSlide26.xml" Id="R61f1bd605cef42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2b6ad3fb67849de" /><Relationship Type="http://schemas.openxmlformats.org/officeDocument/2006/relationships/notesSlide" Target="/ppt/notesSlides/notesSlide27.xml" Id="R5fcb999633f44e3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4a9c4853f6547c8" /><Relationship Type="http://schemas.openxmlformats.org/officeDocument/2006/relationships/notesSlide" Target="/ppt/notesSlides/notesSlide28.xml" Id="Ra0352770b49f48d2" /></Relationships>
</file>

<file path=ppt/slides/slide1.xml><?xml version="1.0" encoding="utf-8"?>
<p:sld xmlns:p="http://schemas.openxmlformats.org/presentationml/2006/main">
  <p:cSld>
    <p:bg>
      <p:bgPr>
        <a:solidFill xmlns:a="http://schemas.openxmlformats.org/drawingml/2006/main">
          <a:srgbClr val="152D3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4BF73F-5E0B-4AA6-98DA-CC17C36539B1}"/>
              </a:ext>
            </a:extLst>
          </p:cNvPr>
          <p:cNvSpPr>
            <a:spLocks xmlns:a="http://schemas.openxmlformats.org/drawingml/2006/main" noGrp="1"/>
          </p:cNvSpPr>
          <p:nvPr/>
        </p:nvSpPr>
        <p:spPr>
          <a:xfrm xmlns:a="http://schemas.openxmlformats.org/drawingml/2006/main">
            <a:off x="762000" y="1285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DejaVu Sans"/>
                <a:ea typeface="DejaVu Sans"/>
                <a:cs typeface="DejaVu Sans"/>
              </a:defRPr>
            </a:defPPr>
            <a:lvl1pPr>
              <a:defRPr sz="4800" b="1">
                <a:solidFill>
                  <a:srgbClr val="FFFFFF"/>
                </a:solidFill>
                <a:latin typeface="DejaVu Sans"/>
                <a:ea typeface="DejaVu Sans"/>
                <a:cs typeface="DejaVu Sans"/>
              </a:defRPr>
            </a:lvl1pPr>
            <a:lvl2pPr>
              <a:defRPr sz="4800" b="1">
                <a:solidFill>
                  <a:srgbClr val="FFFFFF"/>
                </a:solidFill>
                <a:latin typeface="DejaVu Sans"/>
                <a:ea typeface="DejaVu Sans"/>
                <a:cs typeface="DejaVu Sans"/>
              </a:defRPr>
            </a:lvl2pPr>
            <a:lvl3pPr>
              <a:defRPr sz="4800" b="1">
                <a:solidFill>
                  <a:srgbClr val="FFFFFF"/>
                </a:solidFill>
                <a:latin typeface="DejaVu Sans"/>
                <a:ea typeface="DejaVu Sans"/>
                <a:cs typeface="DejaVu Sans"/>
              </a:defRPr>
            </a:lvl3pPr>
            <a:lvl4pPr>
              <a:defRPr sz="4800" b="1">
                <a:solidFill>
                  <a:srgbClr val="FFFFFF"/>
                </a:solidFill>
                <a:latin typeface="DejaVu Sans"/>
                <a:ea typeface="DejaVu Sans"/>
                <a:cs typeface="DejaVu Sans"/>
              </a:defRPr>
            </a:lvl4pPr>
            <a:lvl5pPr>
              <a:defRPr sz="4800" b="1">
                <a:solidFill>
                  <a:srgbClr val="FFFFFF"/>
                </a:solidFill>
                <a:latin typeface="DejaVu Sans"/>
                <a:ea typeface="DejaVu Sans"/>
                <a:cs typeface="DejaVu Sans"/>
              </a:defRPr>
            </a:lvl5pPr>
            <a:lvl6pPr>
              <a:defRPr sz="4800" b="1">
                <a:solidFill>
                  <a:srgbClr val="FFFFFF"/>
                </a:solidFill>
                <a:latin typeface="DejaVu Sans"/>
                <a:ea typeface="DejaVu Sans"/>
                <a:cs typeface="DejaVu Sans"/>
              </a:defRPr>
            </a:lvl6pPr>
            <a:lvl7pPr>
              <a:defRPr sz="4800" b="1">
                <a:solidFill>
                  <a:srgbClr val="FFFFFF"/>
                </a:solidFill>
                <a:latin typeface="DejaVu Sans"/>
                <a:ea typeface="DejaVu Sans"/>
                <a:cs typeface="DejaVu Sans"/>
              </a:defRPr>
            </a:lvl7pPr>
            <a:lvl8pPr>
              <a:defRPr sz="4800" b="1">
                <a:solidFill>
                  <a:srgbClr val="FFFFFF"/>
                </a:solidFill>
                <a:latin typeface="DejaVu Sans"/>
                <a:ea typeface="DejaVu Sans"/>
                <a:cs typeface="DejaVu Sans"/>
              </a:defRPr>
            </a:lvl8pPr>
            <a:lvl9pPr>
              <a:defRPr sz="4800" b="1">
                <a:solidFill>
                  <a:srgbClr val="FFFFFF"/>
                </a:solidFill>
                <a:latin typeface="DejaVu Sans"/>
                <a:ea typeface="DejaVu Sans"/>
                <a:cs typeface="DejaVu Sans"/>
              </a:defRPr>
            </a:lvl9pPr>
          </a:lstStyle>
          <a:p xmlns:a="http://schemas.openxmlformats.org/drawingml/2006/main">
            <a:pPr>
              <a:defRPr sz="4800" b="1">
                <a:solidFill>
                  <a:srgbClr val="FFFFFF"/>
                </a:solidFill>
                <a:latin typeface="DejaVu Sans"/>
                <a:ea typeface="DejaVu Sans"/>
                <a:cs typeface="DejaVu Sans"/>
              </a:defRPr>
            </a:pPr>
            <a:r>
              <a:rPr sz="4800" b="1">
                <a:solidFill>
                  <a:srgbClr val="FFFFFF"/>
                </a:solidFill>
                <a:latin typeface="DejaVu Sans"/>
                <a:ea typeface="DejaVu Sans"/>
                <a:cs typeface="DejaVu Sans"/>
              </a:rPr>
              <a:t>Habit Calendar 001b</a:t>
            </a:r>
          </a:p>
        </p:txBody>
      </p:sp>
      <p:sp>
        <p:nvSpPr>
          <p:cNvPr id="2" name="">
            <a:extLst xmlns:a="http://schemas.openxmlformats.org/drawingml/2006/main">
              <a:ext uri="{FF2B5EF4-FFF2-40B4-BE49-F238E27FC236}">
                <a16:creationId xmlns:a16="http://schemas.microsoft.com/office/drawing/2014/main" id="{933A0A32-7F46-4C68-A646-BCE58B332760}"/>
              </a:ext>
            </a:extLst>
          </p:cNvPr>
          <p:cNvSpPr>
            <a:spLocks xmlns:a="http://schemas.openxmlformats.org/drawingml/2006/main" noGrp="1"/>
          </p:cNvSpPr>
          <p:nvPr/>
        </p:nvSpPr>
        <p:spPr>
          <a:xfrm xmlns:a="http://schemas.openxmlformats.org/drawingml/2006/main">
            <a:off x="800100" y="30480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DejaVu Sans"/>
                <a:ea typeface="DejaVu Sans"/>
                <a:cs typeface="DejaVu Sans"/>
              </a:defRPr>
            </a:defPPr>
            <a:lvl1pPr>
              <a:defRPr sz="2250" b="0">
                <a:solidFill>
                  <a:srgbClr val="FFFFFF"/>
                </a:solidFill>
                <a:latin typeface="DejaVu Sans"/>
                <a:ea typeface="DejaVu Sans"/>
                <a:cs typeface="DejaVu Sans"/>
              </a:defRPr>
            </a:lvl1pPr>
            <a:lvl2pPr>
              <a:defRPr sz="2250" b="0">
                <a:solidFill>
                  <a:srgbClr val="FFFFFF"/>
                </a:solidFill>
                <a:latin typeface="DejaVu Sans"/>
                <a:ea typeface="DejaVu Sans"/>
                <a:cs typeface="DejaVu Sans"/>
              </a:defRPr>
            </a:lvl2pPr>
            <a:lvl3pPr>
              <a:defRPr sz="2250" b="0">
                <a:solidFill>
                  <a:srgbClr val="FFFFFF"/>
                </a:solidFill>
                <a:latin typeface="DejaVu Sans"/>
                <a:ea typeface="DejaVu Sans"/>
                <a:cs typeface="DejaVu Sans"/>
              </a:defRPr>
            </a:lvl3pPr>
            <a:lvl4pPr>
              <a:defRPr sz="2250" b="0">
                <a:solidFill>
                  <a:srgbClr val="FFFFFF"/>
                </a:solidFill>
                <a:latin typeface="DejaVu Sans"/>
                <a:ea typeface="DejaVu Sans"/>
                <a:cs typeface="DejaVu Sans"/>
              </a:defRPr>
            </a:lvl4pPr>
            <a:lvl5pPr>
              <a:defRPr sz="2250" b="0">
                <a:solidFill>
                  <a:srgbClr val="FFFFFF"/>
                </a:solidFill>
                <a:latin typeface="DejaVu Sans"/>
                <a:ea typeface="DejaVu Sans"/>
                <a:cs typeface="DejaVu Sans"/>
              </a:defRPr>
            </a:lvl5pPr>
            <a:lvl6pPr>
              <a:defRPr sz="2250" b="0">
                <a:solidFill>
                  <a:srgbClr val="FFFFFF"/>
                </a:solidFill>
                <a:latin typeface="DejaVu Sans"/>
                <a:ea typeface="DejaVu Sans"/>
                <a:cs typeface="DejaVu Sans"/>
              </a:defRPr>
            </a:lvl6pPr>
            <a:lvl7pPr>
              <a:defRPr sz="2250" b="0">
                <a:solidFill>
                  <a:srgbClr val="FFFFFF"/>
                </a:solidFill>
                <a:latin typeface="DejaVu Sans"/>
                <a:ea typeface="DejaVu Sans"/>
                <a:cs typeface="DejaVu Sans"/>
              </a:defRPr>
            </a:lvl7pPr>
            <a:lvl8pPr>
              <a:defRPr sz="2250" b="0">
                <a:solidFill>
                  <a:srgbClr val="FFFFFF"/>
                </a:solidFill>
                <a:latin typeface="DejaVu Sans"/>
                <a:ea typeface="DejaVu Sans"/>
                <a:cs typeface="DejaVu Sans"/>
              </a:defRPr>
            </a:lvl8pPr>
            <a:lvl9pPr>
              <a:defRPr sz="2250" b="0">
                <a:solidFill>
                  <a:srgbClr val="FFFFFF"/>
                </a:solidFill>
                <a:latin typeface="DejaVu Sans"/>
                <a:ea typeface="DejaVu Sans"/>
                <a:cs typeface="DejaVu Sans"/>
              </a:defRPr>
            </a:lvl9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Installation and everyday use</a:t>
            </a:r>
          </a:p>
        </p:txBody>
      </p:sp>
      <p:sp>
        <p:nvSpPr>
          <p:cNvPr id="3" name="">
            <a:extLst xmlns:a="http://schemas.openxmlformats.org/drawingml/2006/main">
              <a:ext uri="{FF2B5EF4-FFF2-40B4-BE49-F238E27FC236}">
                <a16:creationId xmlns:a16="http://schemas.microsoft.com/office/drawing/2014/main" id="{FF44A16E-BFFF-4E8D-AFE6-BC96ECE52EFD}"/>
              </a:ext>
            </a:extLst>
          </p:cNvPr>
          <p:cNvSpPr>
            <a:spLocks xmlns:a="http://schemas.openxmlformats.org/drawingml/2006/main" noGrp="1"/>
          </p:cNvSpPr>
          <p:nvPr/>
        </p:nvSpPr>
        <p:spPr>
          <a:xfrm xmlns:a="http://schemas.openxmlformats.org/drawingml/2006/main">
            <a:off x="800100" y="37338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DejaVu Sans"/>
                <a:ea typeface="DejaVu Sans"/>
                <a:cs typeface="DejaVu Sans"/>
              </a:defRPr>
            </a:defPPr>
            <a:lvl1pPr>
              <a:defRPr sz="2250" b="0">
                <a:solidFill>
                  <a:srgbClr val="FFFFFF"/>
                </a:solidFill>
                <a:latin typeface="DejaVu Sans"/>
                <a:ea typeface="DejaVu Sans"/>
                <a:cs typeface="DejaVu Sans"/>
              </a:defRPr>
            </a:lvl1pPr>
            <a:lvl2pPr>
              <a:defRPr sz="2250" b="0">
                <a:solidFill>
                  <a:srgbClr val="FFFFFF"/>
                </a:solidFill>
                <a:latin typeface="DejaVu Sans"/>
                <a:ea typeface="DejaVu Sans"/>
                <a:cs typeface="DejaVu Sans"/>
              </a:defRPr>
            </a:lvl2pPr>
            <a:lvl3pPr>
              <a:defRPr sz="2250" b="0">
                <a:solidFill>
                  <a:srgbClr val="FFFFFF"/>
                </a:solidFill>
                <a:latin typeface="DejaVu Sans"/>
                <a:ea typeface="DejaVu Sans"/>
                <a:cs typeface="DejaVu Sans"/>
              </a:defRPr>
            </a:lvl3pPr>
            <a:lvl4pPr>
              <a:defRPr sz="2250" b="0">
                <a:solidFill>
                  <a:srgbClr val="FFFFFF"/>
                </a:solidFill>
                <a:latin typeface="DejaVu Sans"/>
                <a:ea typeface="DejaVu Sans"/>
                <a:cs typeface="DejaVu Sans"/>
              </a:defRPr>
            </a:lvl4pPr>
            <a:lvl5pPr>
              <a:defRPr sz="2250" b="0">
                <a:solidFill>
                  <a:srgbClr val="FFFFFF"/>
                </a:solidFill>
                <a:latin typeface="DejaVu Sans"/>
                <a:ea typeface="DejaVu Sans"/>
                <a:cs typeface="DejaVu Sans"/>
              </a:defRPr>
            </a:lvl5pPr>
            <a:lvl6pPr>
              <a:defRPr sz="2250" b="0">
                <a:solidFill>
                  <a:srgbClr val="FFFFFF"/>
                </a:solidFill>
                <a:latin typeface="DejaVu Sans"/>
                <a:ea typeface="DejaVu Sans"/>
                <a:cs typeface="DejaVu Sans"/>
              </a:defRPr>
            </a:lvl6pPr>
            <a:lvl7pPr>
              <a:defRPr sz="2250" b="0">
                <a:solidFill>
                  <a:srgbClr val="FFFFFF"/>
                </a:solidFill>
                <a:latin typeface="DejaVu Sans"/>
                <a:ea typeface="DejaVu Sans"/>
                <a:cs typeface="DejaVu Sans"/>
              </a:defRPr>
            </a:lvl7pPr>
            <a:lvl8pPr>
              <a:defRPr sz="2250" b="0">
                <a:solidFill>
                  <a:srgbClr val="FFFFFF"/>
                </a:solidFill>
                <a:latin typeface="DejaVu Sans"/>
                <a:ea typeface="DejaVu Sans"/>
                <a:cs typeface="DejaVu Sans"/>
              </a:defRPr>
            </a:lvl8pPr>
            <a:lvl9pPr>
              <a:defRPr sz="2250" b="0">
                <a:solidFill>
                  <a:srgbClr val="FFFFFF"/>
                </a:solidFill>
                <a:latin typeface="DejaVu Sans"/>
                <a:ea typeface="DejaVu Sans"/>
                <a:cs typeface="DejaVu Sans"/>
              </a:defRPr>
            </a:lvl9pPr>
          </a:lstStyle>
          <a:p xmlns:a="http://schemas.openxmlformats.org/drawingml/2006/main">
            <a:pPr>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Ubuntu laptop and Android phone</a:t>
            </a:r>
          </a:p>
        </p:txBody>
      </p:sp>
      <p:sp>
        <p:nvSpPr>
          <p:cNvPr id="4" name="">
            <a:extLst xmlns:a="http://schemas.openxmlformats.org/drawingml/2006/main">
              <a:ext uri="{FF2B5EF4-FFF2-40B4-BE49-F238E27FC236}">
                <a16:creationId xmlns:a16="http://schemas.microsoft.com/office/drawing/2014/main" id="{9EF10168-D5B3-428C-A799-F3B62A09379C}"/>
              </a:ext>
            </a:extLst>
          </p:cNvPr>
          <p:cNvSpPr>
            <a:spLocks xmlns:a="http://schemas.openxmlformats.org/drawingml/2006/main" noGrp="1"/>
          </p:cNvSpPr>
          <p:nvPr/>
        </p:nvSpPr>
        <p:spPr>
          <a:xfrm xmlns:a="http://schemas.openxmlformats.org/drawingml/2006/main">
            <a:off x="800100" y="44196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8CFBE"/>
                </a:solidFill>
                <a:latin typeface="DejaVu Sans"/>
                <a:ea typeface="DejaVu Sans"/>
                <a:cs typeface="DejaVu Sans"/>
              </a:defRPr>
            </a:defPPr>
            <a:lvl1pPr>
              <a:defRPr sz="2250" b="0">
                <a:solidFill>
                  <a:srgbClr val="A8CFBE"/>
                </a:solidFill>
                <a:latin typeface="DejaVu Sans"/>
                <a:ea typeface="DejaVu Sans"/>
                <a:cs typeface="DejaVu Sans"/>
              </a:defRPr>
            </a:lvl1pPr>
            <a:lvl2pPr>
              <a:defRPr sz="2250" b="0">
                <a:solidFill>
                  <a:srgbClr val="A8CFBE"/>
                </a:solidFill>
                <a:latin typeface="DejaVu Sans"/>
                <a:ea typeface="DejaVu Sans"/>
                <a:cs typeface="DejaVu Sans"/>
              </a:defRPr>
            </a:lvl2pPr>
            <a:lvl3pPr>
              <a:defRPr sz="2250" b="0">
                <a:solidFill>
                  <a:srgbClr val="A8CFBE"/>
                </a:solidFill>
                <a:latin typeface="DejaVu Sans"/>
                <a:ea typeface="DejaVu Sans"/>
                <a:cs typeface="DejaVu Sans"/>
              </a:defRPr>
            </a:lvl3pPr>
            <a:lvl4pPr>
              <a:defRPr sz="2250" b="0">
                <a:solidFill>
                  <a:srgbClr val="A8CFBE"/>
                </a:solidFill>
                <a:latin typeface="DejaVu Sans"/>
                <a:ea typeface="DejaVu Sans"/>
                <a:cs typeface="DejaVu Sans"/>
              </a:defRPr>
            </a:lvl4pPr>
            <a:lvl5pPr>
              <a:defRPr sz="2250" b="0">
                <a:solidFill>
                  <a:srgbClr val="A8CFBE"/>
                </a:solidFill>
                <a:latin typeface="DejaVu Sans"/>
                <a:ea typeface="DejaVu Sans"/>
                <a:cs typeface="DejaVu Sans"/>
              </a:defRPr>
            </a:lvl5pPr>
            <a:lvl6pPr>
              <a:defRPr sz="2250" b="0">
                <a:solidFill>
                  <a:srgbClr val="A8CFBE"/>
                </a:solidFill>
                <a:latin typeface="DejaVu Sans"/>
                <a:ea typeface="DejaVu Sans"/>
                <a:cs typeface="DejaVu Sans"/>
              </a:defRPr>
            </a:lvl6pPr>
            <a:lvl7pPr>
              <a:defRPr sz="2250" b="0">
                <a:solidFill>
                  <a:srgbClr val="A8CFBE"/>
                </a:solidFill>
                <a:latin typeface="DejaVu Sans"/>
                <a:ea typeface="DejaVu Sans"/>
                <a:cs typeface="DejaVu Sans"/>
              </a:defRPr>
            </a:lvl7pPr>
            <a:lvl8pPr>
              <a:defRPr sz="2250" b="0">
                <a:solidFill>
                  <a:srgbClr val="A8CFBE"/>
                </a:solidFill>
                <a:latin typeface="DejaVu Sans"/>
                <a:ea typeface="DejaVu Sans"/>
                <a:cs typeface="DejaVu Sans"/>
              </a:defRPr>
            </a:lvl8pPr>
            <a:lvl9pPr>
              <a:defRPr sz="2250" b="0">
                <a:solidFill>
                  <a:srgbClr val="A8CFBE"/>
                </a:solidFill>
                <a:latin typeface="DejaVu Sans"/>
                <a:ea typeface="DejaVu Sans"/>
                <a:cs typeface="DejaVu Sans"/>
              </a:defRPr>
            </a:lvl9pPr>
          </a:lstStyle>
          <a:p xmlns:a="http://schemas.openxmlformats.org/drawingml/2006/main">
            <a:pPr>
              <a:defRPr sz="2250" b="0">
                <a:solidFill>
                  <a:srgbClr val="A8CFBE"/>
                </a:solidFill>
                <a:latin typeface="DejaVu Sans"/>
                <a:ea typeface="DejaVu Sans"/>
                <a:cs typeface="DejaVu Sans"/>
              </a:defRPr>
            </a:pPr>
            <a:r>
              <a:rPr sz="2250" b="0">
                <a:solidFill>
                  <a:srgbClr val="A8CFBE"/>
                </a:solidFill>
                <a:latin typeface="DejaVu Sans"/>
                <a:ea typeface="DejaVu Sans"/>
                <a:cs typeface="DejaVu Sans"/>
              </a:rPr>
              <a:t>Version 1.1.1 · harharhari · GPL-3.0-only</a:t>
            </a:r>
          </a:p>
        </p:txBody>
      </p:sp>
    </p:spTree>
    <p:extLst>
      <p:ext uri="{BB962C8B-B14F-4D97-AF65-F5344CB8AC3E}">
        <p14:creationId xmlns:p14="http://schemas.microsoft.com/office/powerpoint/2010/main" val="1331259362"/>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198D6A-A653-4026-9CAD-00C06D1E9745}"/>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The monthly calendar</a:t>
            </a:r>
          </a:p>
        </p:txBody>
      </p:sp>
      <p:sp>
        <p:nvSpPr>
          <p:cNvPr id="2" name="">
            <a:extLst xmlns:a="http://schemas.openxmlformats.org/drawingml/2006/main">
              <a:ext uri="{FF2B5EF4-FFF2-40B4-BE49-F238E27FC236}">
                <a16:creationId xmlns:a16="http://schemas.microsoft.com/office/drawing/2014/main" id="{C12A7BB9-52E4-4A8C-B455-4C412B133729}"/>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One named calendar for every enabled habit.</a:t>
            </a:r>
          </a:p>
        </p:txBody>
      </p:sp>
      <p:sp>
        <p:nvSpPr>
          <p:cNvPr id="3" name="">
            <a:extLst xmlns:a="http://schemas.openxmlformats.org/drawingml/2006/main">
              <a:ext uri="{FF2B5EF4-FFF2-40B4-BE49-F238E27FC236}">
                <a16:creationId xmlns:a16="http://schemas.microsoft.com/office/drawing/2014/main" id="{BE126F11-FA07-46D8-B047-E36EA90E7B47}"/>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Monday starts the week. Earlier dates in the current month remain editable.</a:t>
            </a:r>
          </a:p>
        </p:txBody>
      </p:sp>
      <p:sp>
        <p:nvSpPr>
          <p:cNvPr id="4" name="">
            <a:extLst xmlns:a="http://schemas.openxmlformats.org/drawingml/2006/main">
              <a:ext uri="{FF2B5EF4-FFF2-40B4-BE49-F238E27FC236}">
                <a16:creationId xmlns:a16="http://schemas.microsoft.com/office/drawing/2014/main" id="{FB406436-5FAD-4AFE-BDA8-AE431D91A57E}"/>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Click or tap a date to cycle unmarked, green, pink, then unmarked.</a:t>
            </a:r>
          </a:p>
        </p:txBody>
      </p:sp>
      <p:sp>
        <p:nvSpPr>
          <p:cNvPr id="5" name="">
            <a:extLst xmlns:a="http://schemas.openxmlformats.org/drawingml/2006/main">
              <a:ext uri="{FF2B5EF4-FFF2-40B4-BE49-F238E27FC236}">
                <a16:creationId xmlns:a16="http://schemas.microsoft.com/office/drawing/2014/main" id="{55539EB7-6081-46AD-B965-FE0B5A45A7FB}"/>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Schedules are not part of this version. You choose every mark manually.</a:t>
            </a:r>
          </a:p>
        </p:txBody>
      </p:sp>
      <p:sp>
        <p:nvSpPr>
          <p:cNvPr id="6" name="">
            <a:extLst xmlns:a="http://schemas.openxmlformats.org/drawingml/2006/main">
              <a:ext uri="{FF2B5EF4-FFF2-40B4-BE49-F238E27FC236}">
                <a16:creationId xmlns:a16="http://schemas.microsoft.com/office/drawing/2014/main" id="{5402BC51-3A7A-49AA-8F71-40ACCDAAFE12}"/>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EDE99E28-48DC-4942-ADB3-D884ECC8635C}"/>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02</a:t>
            </a:r>
          </a:p>
        </p:txBody>
      </p:sp>
    </p:spTree>
    <p:extLst>
      <p:ext uri="{BB962C8B-B14F-4D97-AF65-F5344CB8AC3E}">
        <p14:creationId xmlns:p14="http://schemas.microsoft.com/office/powerpoint/2010/main" val="2147455251"/>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FC0EE3-27D7-436D-A88E-F9EDBFD6E74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Desktop layout</a:t>
            </a:r>
          </a:p>
        </p:txBody>
      </p:sp>
      <p:pic>
        <p:nvPicPr>
          <p:cNvPr id="2" name="">
            <a:extLst xmlns:a="http://schemas.openxmlformats.org/drawingml/2006/main">
              <a:ext uri="{FF2B5EF4-FFF2-40B4-BE49-F238E27FC236}">
                <a16:creationId xmlns:a16="http://schemas.microsoft.com/office/drawing/2014/main" id="{E12DF8A6-FBA1-4389-A371-1599A9108713}"/>
              </a:ext>
            </a:extLst>
          </p:cNvPr>
          <p:cNvPicPr>
            <a:picLocks xmlns:a="http://schemas.openxmlformats.org/drawingml/2006/main" noChangeAspect="1"/>
          </p:cNvPicPr>
          <p:nvPr/>
        </p:nvPicPr>
        <p:blipFill>
          <a:blip xmlns:r="http://schemas.openxmlformats.org/officeDocument/2006/relationships" xmlns:a="http://schemas.openxmlformats.org/drawingml/2006/main" r:embed="R56e7f93602804527"/>
          <a:stretch xmlns:a="http://schemas.openxmlformats.org/drawingml/2006/main"/>
        </p:blipFill>
        <p:spPr>
          <a:xfrm xmlns:a="http://schemas.openxmlformats.org/drawingml/2006/main">
            <a:off x="672465" y="1447800"/>
            <a:ext cx="7284720" cy="45529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07D64A1-AF53-4E4D-A9E2-679C2B87D1F5}"/>
              </a:ext>
            </a:extLst>
          </p:cNvPr>
          <p:cNvSpPr>
            <a:spLocks xmlns:a="http://schemas.openxmlformats.org/drawingml/2006/main" noGrp="1"/>
          </p:cNvSpPr>
          <p:nvPr/>
        </p:nvSpPr>
        <p:spPr>
          <a:xfrm xmlns:a="http://schemas.openxmlformats.org/drawingml/2006/main">
            <a:off x="8477250" y="1619250"/>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344"/>
                </a:solidFill>
                <a:latin typeface="DejaVu Sans"/>
                <a:ea typeface="DejaVu Sans"/>
                <a:cs typeface="DejaVu Sans"/>
              </a:defRPr>
            </a:defPPr>
            <a:lvl1pPr>
              <a:defRPr sz="1875" b="0">
                <a:solidFill>
                  <a:srgbClr val="243344"/>
                </a:solidFill>
                <a:latin typeface="DejaVu Sans"/>
                <a:ea typeface="DejaVu Sans"/>
                <a:cs typeface="DejaVu Sans"/>
              </a:defRPr>
            </a:lvl1pPr>
            <a:lvl2pPr>
              <a:defRPr sz="1875" b="0">
                <a:solidFill>
                  <a:srgbClr val="243344"/>
                </a:solidFill>
                <a:latin typeface="DejaVu Sans"/>
                <a:ea typeface="DejaVu Sans"/>
                <a:cs typeface="DejaVu Sans"/>
              </a:defRPr>
            </a:lvl2pPr>
            <a:lvl3pPr>
              <a:defRPr sz="1875" b="0">
                <a:solidFill>
                  <a:srgbClr val="243344"/>
                </a:solidFill>
                <a:latin typeface="DejaVu Sans"/>
                <a:ea typeface="DejaVu Sans"/>
                <a:cs typeface="DejaVu Sans"/>
              </a:defRPr>
            </a:lvl3pPr>
            <a:lvl4pPr>
              <a:defRPr sz="1875" b="0">
                <a:solidFill>
                  <a:srgbClr val="243344"/>
                </a:solidFill>
                <a:latin typeface="DejaVu Sans"/>
                <a:ea typeface="DejaVu Sans"/>
                <a:cs typeface="DejaVu Sans"/>
              </a:defRPr>
            </a:lvl4pPr>
            <a:lvl5pPr>
              <a:defRPr sz="1875" b="0">
                <a:solidFill>
                  <a:srgbClr val="243344"/>
                </a:solidFill>
                <a:latin typeface="DejaVu Sans"/>
                <a:ea typeface="DejaVu Sans"/>
                <a:cs typeface="DejaVu Sans"/>
              </a:defRPr>
            </a:lvl5pPr>
            <a:lvl6pPr>
              <a:defRPr sz="1875" b="0">
                <a:solidFill>
                  <a:srgbClr val="243344"/>
                </a:solidFill>
                <a:latin typeface="DejaVu Sans"/>
                <a:ea typeface="DejaVu Sans"/>
                <a:cs typeface="DejaVu Sans"/>
              </a:defRPr>
            </a:lvl6pPr>
            <a:lvl7pPr>
              <a:defRPr sz="1875" b="0">
                <a:solidFill>
                  <a:srgbClr val="243344"/>
                </a:solidFill>
                <a:latin typeface="DejaVu Sans"/>
                <a:ea typeface="DejaVu Sans"/>
                <a:cs typeface="DejaVu Sans"/>
              </a:defRPr>
            </a:lvl7pPr>
            <a:lvl8pPr>
              <a:defRPr sz="1875" b="0">
                <a:solidFill>
                  <a:srgbClr val="243344"/>
                </a:solidFill>
                <a:latin typeface="DejaVu Sans"/>
                <a:ea typeface="DejaVu Sans"/>
                <a:cs typeface="DejaVu Sans"/>
              </a:defRPr>
            </a:lvl8pPr>
            <a:lvl9pPr>
              <a:defRPr sz="1875" b="0">
                <a:solidFill>
                  <a:srgbClr val="243344"/>
                </a:solidFill>
                <a:latin typeface="DejaVu Sans"/>
                <a:ea typeface="DejaVu Sans"/>
                <a:cs typeface="DejaVu Sans"/>
              </a:defRPr>
            </a:lvl9pPr>
          </a:lstStyle>
          <a:p xmlns:a="http://schemas.openxmlformats.org/drawingml/2006/main">
            <a:pPr>
              <a:defRPr sz="1875" b="0">
                <a:solidFill>
                  <a:srgbClr val="243344"/>
                </a:solidFill>
                <a:latin typeface="DejaVu Sans"/>
                <a:ea typeface="DejaVu Sans"/>
                <a:cs typeface="DejaVu Sans"/>
              </a:defRPr>
            </a:pPr>
            <a:r>
              <a:rPr sz="1875" b="0">
                <a:solidFill>
                  <a:srgbClr val="243344"/>
                </a:solidFill>
                <a:latin typeface="DejaVu Sans"/>
                <a:ea typeface="DejaVu Sans"/>
                <a:cs typeface="DejaVu Sans"/>
              </a:rPr>
              <a:t>Wide desktop views show six calendars per row.</a:t>
            </a:r>
          </a:p>
        </p:txBody>
      </p:sp>
      <p:sp>
        <p:nvSpPr>
          <p:cNvPr id="4" name="">
            <a:extLst xmlns:a="http://schemas.openxmlformats.org/drawingml/2006/main">
              <a:ext uri="{FF2B5EF4-FFF2-40B4-BE49-F238E27FC236}">
                <a16:creationId xmlns:a16="http://schemas.microsoft.com/office/drawing/2014/main" id="{F3810FD8-7B34-4E31-9A14-66D4D4AE929E}"/>
              </a:ext>
            </a:extLst>
          </p:cNvPr>
          <p:cNvSpPr>
            <a:spLocks xmlns:a="http://schemas.openxmlformats.org/drawingml/2006/main" noGrp="1"/>
          </p:cNvSpPr>
          <p:nvPr/>
        </p:nvSpPr>
        <p:spPr>
          <a:xfrm xmlns:a="http://schemas.openxmlformats.org/drawingml/2006/main">
            <a:off x="8477250" y="2809875"/>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344"/>
                </a:solidFill>
                <a:latin typeface="DejaVu Sans"/>
                <a:ea typeface="DejaVu Sans"/>
                <a:cs typeface="DejaVu Sans"/>
              </a:defRPr>
            </a:defPPr>
            <a:lvl1pPr>
              <a:defRPr sz="1875" b="0">
                <a:solidFill>
                  <a:srgbClr val="243344"/>
                </a:solidFill>
                <a:latin typeface="DejaVu Sans"/>
                <a:ea typeface="DejaVu Sans"/>
                <a:cs typeface="DejaVu Sans"/>
              </a:defRPr>
            </a:lvl1pPr>
            <a:lvl2pPr>
              <a:defRPr sz="1875" b="0">
                <a:solidFill>
                  <a:srgbClr val="243344"/>
                </a:solidFill>
                <a:latin typeface="DejaVu Sans"/>
                <a:ea typeface="DejaVu Sans"/>
                <a:cs typeface="DejaVu Sans"/>
              </a:defRPr>
            </a:lvl2pPr>
            <a:lvl3pPr>
              <a:defRPr sz="1875" b="0">
                <a:solidFill>
                  <a:srgbClr val="243344"/>
                </a:solidFill>
                <a:latin typeface="DejaVu Sans"/>
                <a:ea typeface="DejaVu Sans"/>
                <a:cs typeface="DejaVu Sans"/>
              </a:defRPr>
            </a:lvl3pPr>
            <a:lvl4pPr>
              <a:defRPr sz="1875" b="0">
                <a:solidFill>
                  <a:srgbClr val="243344"/>
                </a:solidFill>
                <a:latin typeface="DejaVu Sans"/>
                <a:ea typeface="DejaVu Sans"/>
                <a:cs typeface="DejaVu Sans"/>
              </a:defRPr>
            </a:lvl4pPr>
            <a:lvl5pPr>
              <a:defRPr sz="1875" b="0">
                <a:solidFill>
                  <a:srgbClr val="243344"/>
                </a:solidFill>
                <a:latin typeface="DejaVu Sans"/>
                <a:ea typeface="DejaVu Sans"/>
                <a:cs typeface="DejaVu Sans"/>
              </a:defRPr>
            </a:lvl5pPr>
            <a:lvl6pPr>
              <a:defRPr sz="1875" b="0">
                <a:solidFill>
                  <a:srgbClr val="243344"/>
                </a:solidFill>
                <a:latin typeface="DejaVu Sans"/>
                <a:ea typeface="DejaVu Sans"/>
                <a:cs typeface="DejaVu Sans"/>
              </a:defRPr>
            </a:lvl6pPr>
            <a:lvl7pPr>
              <a:defRPr sz="1875" b="0">
                <a:solidFill>
                  <a:srgbClr val="243344"/>
                </a:solidFill>
                <a:latin typeface="DejaVu Sans"/>
                <a:ea typeface="DejaVu Sans"/>
                <a:cs typeface="DejaVu Sans"/>
              </a:defRPr>
            </a:lvl7pPr>
            <a:lvl8pPr>
              <a:defRPr sz="1875" b="0">
                <a:solidFill>
                  <a:srgbClr val="243344"/>
                </a:solidFill>
                <a:latin typeface="DejaVu Sans"/>
                <a:ea typeface="DejaVu Sans"/>
                <a:cs typeface="DejaVu Sans"/>
              </a:defRPr>
            </a:lvl8pPr>
            <a:lvl9pPr>
              <a:defRPr sz="1875" b="0">
                <a:solidFill>
                  <a:srgbClr val="243344"/>
                </a:solidFill>
                <a:latin typeface="DejaVu Sans"/>
                <a:ea typeface="DejaVu Sans"/>
                <a:cs typeface="DejaVu Sans"/>
              </a:defRPr>
            </a:lvl9pPr>
          </a:lstStyle>
          <a:p xmlns:a="http://schemas.openxmlformats.org/drawingml/2006/main">
            <a:pPr>
              <a:defRPr sz="1875" b="0">
                <a:solidFill>
                  <a:srgbClr val="243344"/>
                </a:solidFill>
                <a:latin typeface="DejaVu Sans"/>
                <a:ea typeface="DejaVu Sans"/>
                <a:cs typeface="DejaVu Sans"/>
              </a:defRPr>
            </a:pPr>
            <a:r>
              <a:rPr sz="1875" b="0">
                <a:solidFill>
                  <a:srgbClr val="243344"/>
                </a:solidFill>
                <a:latin typeface="DejaVu Sans"/>
                <a:ea typeface="DejaVu Sans"/>
                <a:cs typeface="DejaVu Sans"/>
              </a:rPr>
              <a:t>Search filters the visible habit names.</a:t>
            </a:r>
          </a:p>
        </p:txBody>
      </p:sp>
      <p:sp>
        <p:nvSpPr>
          <p:cNvPr id="5" name="">
            <a:extLst xmlns:a="http://schemas.openxmlformats.org/drawingml/2006/main">
              <a:ext uri="{FF2B5EF4-FFF2-40B4-BE49-F238E27FC236}">
                <a16:creationId xmlns:a16="http://schemas.microsoft.com/office/drawing/2014/main" id="{0B7C7E43-29F1-4FEC-8249-C658FCFF8940}"/>
              </a:ext>
            </a:extLst>
          </p:cNvPr>
          <p:cNvSpPr>
            <a:spLocks xmlns:a="http://schemas.openxmlformats.org/drawingml/2006/main" noGrp="1"/>
          </p:cNvSpPr>
          <p:nvPr/>
        </p:nvSpPr>
        <p:spPr>
          <a:xfrm xmlns:a="http://schemas.openxmlformats.org/drawingml/2006/main">
            <a:off x="8477250" y="4000500"/>
            <a:ext cx="304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344"/>
                </a:solidFill>
                <a:latin typeface="DejaVu Sans"/>
                <a:ea typeface="DejaVu Sans"/>
                <a:cs typeface="DejaVu Sans"/>
              </a:defRPr>
            </a:defPPr>
            <a:lvl1pPr>
              <a:defRPr sz="1875" b="0">
                <a:solidFill>
                  <a:srgbClr val="243344"/>
                </a:solidFill>
                <a:latin typeface="DejaVu Sans"/>
                <a:ea typeface="DejaVu Sans"/>
                <a:cs typeface="DejaVu Sans"/>
              </a:defRPr>
            </a:lvl1pPr>
            <a:lvl2pPr>
              <a:defRPr sz="1875" b="0">
                <a:solidFill>
                  <a:srgbClr val="243344"/>
                </a:solidFill>
                <a:latin typeface="DejaVu Sans"/>
                <a:ea typeface="DejaVu Sans"/>
                <a:cs typeface="DejaVu Sans"/>
              </a:defRPr>
            </a:lvl2pPr>
            <a:lvl3pPr>
              <a:defRPr sz="1875" b="0">
                <a:solidFill>
                  <a:srgbClr val="243344"/>
                </a:solidFill>
                <a:latin typeface="DejaVu Sans"/>
                <a:ea typeface="DejaVu Sans"/>
                <a:cs typeface="DejaVu Sans"/>
              </a:defRPr>
            </a:lvl3pPr>
            <a:lvl4pPr>
              <a:defRPr sz="1875" b="0">
                <a:solidFill>
                  <a:srgbClr val="243344"/>
                </a:solidFill>
                <a:latin typeface="DejaVu Sans"/>
                <a:ea typeface="DejaVu Sans"/>
                <a:cs typeface="DejaVu Sans"/>
              </a:defRPr>
            </a:lvl4pPr>
            <a:lvl5pPr>
              <a:defRPr sz="1875" b="0">
                <a:solidFill>
                  <a:srgbClr val="243344"/>
                </a:solidFill>
                <a:latin typeface="DejaVu Sans"/>
                <a:ea typeface="DejaVu Sans"/>
                <a:cs typeface="DejaVu Sans"/>
              </a:defRPr>
            </a:lvl5pPr>
            <a:lvl6pPr>
              <a:defRPr sz="1875" b="0">
                <a:solidFill>
                  <a:srgbClr val="243344"/>
                </a:solidFill>
                <a:latin typeface="DejaVu Sans"/>
                <a:ea typeface="DejaVu Sans"/>
                <a:cs typeface="DejaVu Sans"/>
              </a:defRPr>
            </a:lvl6pPr>
            <a:lvl7pPr>
              <a:defRPr sz="1875" b="0">
                <a:solidFill>
                  <a:srgbClr val="243344"/>
                </a:solidFill>
                <a:latin typeface="DejaVu Sans"/>
                <a:ea typeface="DejaVu Sans"/>
                <a:cs typeface="DejaVu Sans"/>
              </a:defRPr>
            </a:lvl7pPr>
            <a:lvl8pPr>
              <a:defRPr sz="1875" b="0">
                <a:solidFill>
                  <a:srgbClr val="243344"/>
                </a:solidFill>
                <a:latin typeface="DejaVu Sans"/>
                <a:ea typeface="DejaVu Sans"/>
                <a:cs typeface="DejaVu Sans"/>
              </a:defRPr>
            </a:lvl8pPr>
            <a:lvl9pPr>
              <a:defRPr sz="1875" b="0">
                <a:solidFill>
                  <a:srgbClr val="243344"/>
                </a:solidFill>
                <a:latin typeface="DejaVu Sans"/>
                <a:ea typeface="DejaVu Sans"/>
                <a:cs typeface="DejaVu Sans"/>
              </a:defRPr>
            </a:lvl9pPr>
          </a:lstStyle>
          <a:p xmlns:a="http://schemas.openxmlformats.org/drawingml/2006/main">
            <a:pPr>
              <a:defRPr sz="1875" b="0">
                <a:solidFill>
                  <a:srgbClr val="243344"/>
                </a:solidFill>
                <a:latin typeface="DejaVu Sans"/>
                <a:ea typeface="DejaVu Sans"/>
                <a:cs typeface="DejaVu Sans"/>
              </a:defRPr>
            </a:pPr>
            <a:r>
              <a:rPr sz="1875" b="0">
                <a:solidFill>
                  <a:srgbClr val="243344"/>
                </a:solidFill>
                <a:latin typeface="DejaVu Sans"/>
                <a:ea typeface="DejaVu Sans"/>
                <a:cs typeface="DejaVu Sans"/>
              </a:rPr>
              <a:t>Previous, Choose month and Next open monthly views.</a:t>
            </a:r>
          </a:p>
        </p:txBody>
      </p:sp>
      <p:sp>
        <p:nvSpPr>
          <p:cNvPr id="6" name="">
            <a:extLst xmlns:a="http://schemas.openxmlformats.org/drawingml/2006/main">
              <a:ext uri="{FF2B5EF4-FFF2-40B4-BE49-F238E27FC236}">
                <a16:creationId xmlns:a16="http://schemas.microsoft.com/office/drawing/2014/main" id="{4A31345D-852E-43D3-BFDE-C2D76552C2FA}"/>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Browser-rendered example; Obsidian APIs mocked</a:t>
            </a:r>
          </a:p>
        </p:txBody>
      </p:sp>
      <p:sp>
        <p:nvSpPr>
          <p:cNvPr id="7" name="">
            <a:extLst xmlns:a="http://schemas.openxmlformats.org/drawingml/2006/main">
              <a:ext uri="{FF2B5EF4-FFF2-40B4-BE49-F238E27FC236}">
                <a16:creationId xmlns:a16="http://schemas.microsoft.com/office/drawing/2014/main" id="{848B168D-B283-40A3-8097-78940FD5F862}"/>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03</a:t>
            </a:r>
          </a:p>
        </p:txBody>
      </p:sp>
    </p:spTree>
    <p:extLst>
      <p:ext uri="{BB962C8B-B14F-4D97-AF65-F5344CB8AC3E}">
        <p14:creationId xmlns:p14="http://schemas.microsoft.com/office/powerpoint/2010/main" val="913623309"/>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3B0DB2-A314-4CF0-B73D-F6C0BB21C70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Android layout</a:t>
            </a:r>
          </a:p>
        </p:txBody>
      </p:sp>
      <p:pic>
        <p:nvPicPr>
          <p:cNvPr id="2" name="">
            <a:extLst xmlns:a="http://schemas.openxmlformats.org/drawingml/2006/main">
              <a:ext uri="{FF2B5EF4-FFF2-40B4-BE49-F238E27FC236}">
                <a16:creationId xmlns:a16="http://schemas.microsoft.com/office/drawing/2014/main" id="{B65D1C25-7C43-4CDD-B502-3D7180630A40}"/>
              </a:ext>
            </a:extLst>
          </p:cNvPr>
          <p:cNvPicPr>
            <a:picLocks xmlns:a="http://schemas.openxmlformats.org/drawingml/2006/main" noChangeAspect="1"/>
          </p:cNvPicPr>
          <p:nvPr/>
        </p:nvPicPr>
        <p:blipFill>
          <a:blip xmlns:r="http://schemas.openxmlformats.org/officeDocument/2006/relationships" xmlns:a="http://schemas.openxmlformats.org/drawingml/2006/main" r:embed="R1351c23dc51a407a"/>
          <a:stretch xmlns:a="http://schemas.openxmlformats.org/drawingml/2006/main"/>
        </p:blipFill>
        <p:spPr>
          <a:xfrm xmlns:a="http://schemas.openxmlformats.org/drawingml/2006/main">
            <a:off x="8403322" y="1371600"/>
            <a:ext cx="2243356" cy="4857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F1FAFA-C9F9-4E6F-A429-C4045041896A}"/>
              </a:ext>
            </a:extLst>
          </p:cNvPr>
          <p:cNvSpPr>
            <a:spLocks xmlns:a="http://schemas.openxmlformats.org/drawingml/2006/main" noGrp="1"/>
          </p:cNvSpPr>
          <p:nvPr/>
        </p:nvSpPr>
        <p:spPr>
          <a:xfrm xmlns:a="http://schemas.openxmlformats.org/drawingml/2006/main">
            <a:off x="647700" y="16573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One calendar per row.</a:t>
            </a:r>
          </a:p>
        </p:txBody>
      </p:sp>
      <p:sp>
        <p:nvSpPr>
          <p:cNvPr id="4" name="">
            <a:extLst xmlns:a="http://schemas.openxmlformats.org/drawingml/2006/main">
              <a:ext uri="{FF2B5EF4-FFF2-40B4-BE49-F238E27FC236}">
                <a16:creationId xmlns:a16="http://schemas.microsoft.com/office/drawing/2014/main" id="{F36E2888-7A87-42FE-BBC0-6915D1C9EC81}"/>
              </a:ext>
            </a:extLst>
          </p:cNvPr>
          <p:cNvSpPr>
            <a:spLocks xmlns:a="http://schemas.openxmlformats.org/drawingml/2006/main" noGrp="1"/>
          </p:cNvSpPr>
          <p:nvPr/>
        </p:nvSpPr>
        <p:spPr>
          <a:xfrm xmlns:a="http://schemas.openxmlformats.org/drawingml/2006/main">
            <a:off x="647700" y="27051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Scroll vertically through all habits.</a:t>
            </a:r>
          </a:p>
        </p:txBody>
      </p:sp>
      <p:sp>
        <p:nvSpPr>
          <p:cNvPr id="5" name="">
            <a:extLst xmlns:a="http://schemas.openxmlformats.org/drawingml/2006/main">
              <a:ext uri="{FF2B5EF4-FFF2-40B4-BE49-F238E27FC236}">
                <a16:creationId xmlns:a16="http://schemas.microsoft.com/office/drawing/2014/main" id="{D3289F8D-BAF7-48AE-831A-E01AA175BC00}"/>
              </a:ext>
            </a:extLst>
          </p:cNvPr>
          <p:cNvSpPr>
            <a:spLocks xmlns:a="http://schemas.openxmlformats.org/drawingml/2006/main" noGrp="1"/>
          </p:cNvSpPr>
          <p:nvPr/>
        </p:nvSpPr>
        <p:spPr>
          <a:xfrm xmlns:a="http://schemas.openxmlformats.org/drawingml/2006/main">
            <a:off x="647700" y="37528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Tap a day to change its mark.</a:t>
            </a:r>
          </a:p>
        </p:txBody>
      </p:sp>
      <p:sp>
        <p:nvSpPr>
          <p:cNvPr id="6" name="">
            <a:extLst xmlns:a="http://schemas.openxmlformats.org/drawingml/2006/main">
              <a:ext uri="{FF2B5EF4-FFF2-40B4-BE49-F238E27FC236}">
                <a16:creationId xmlns:a16="http://schemas.microsoft.com/office/drawing/2014/main" id="{CD95C8E3-4D03-4B6F-90C8-688C991443DD}"/>
              </a:ext>
            </a:extLst>
          </p:cNvPr>
          <p:cNvSpPr>
            <a:spLocks xmlns:a="http://schemas.openxmlformats.org/drawingml/2006/main" noGrp="1"/>
          </p:cNvSpPr>
          <p:nvPr/>
        </p:nvSpPr>
        <p:spPr>
          <a:xfrm xmlns:a="http://schemas.openxmlformats.org/drawingml/2006/main">
            <a:off x="647700" y="480060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the same commands as on your laptop.</a:t>
            </a:r>
          </a:p>
        </p:txBody>
      </p:sp>
      <p:sp>
        <p:nvSpPr>
          <p:cNvPr id="7" name="">
            <a:extLst xmlns:a="http://schemas.openxmlformats.org/drawingml/2006/main">
              <a:ext uri="{FF2B5EF4-FFF2-40B4-BE49-F238E27FC236}">
                <a16:creationId xmlns:a16="http://schemas.microsoft.com/office/drawing/2014/main" id="{7A779D75-4030-4E75-A622-6175C81389D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Browser-rendered example; Obsidian APIs mocked</a:t>
            </a:r>
          </a:p>
        </p:txBody>
      </p:sp>
      <p:sp>
        <p:nvSpPr>
          <p:cNvPr id="8" name="">
            <a:extLst xmlns:a="http://schemas.openxmlformats.org/drawingml/2006/main">
              <a:ext uri="{FF2B5EF4-FFF2-40B4-BE49-F238E27FC236}">
                <a16:creationId xmlns:a16="http://schemas.microsoft.com/office/drawing/2014/main" id="{61E96537-A482-4522-93FD-71FCAC05E537}"/>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04</a:t>
            </a:r>
          </a:p>
        </p:txBody>
      </p:sp>
    </p:spTree>
    <p:extLst>
      <p:ext uri="{BB962C8B-B14F-4D97-AF65-F5344CB8AC3E}">
        <p14:creationId xmlns:p14="http://schemas.microsoft.com/office/powerpoint/2010/main" val="2017110114"/>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1BA218-737E-49D7-AC64-CEB86BA78033}"/>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Requirements and test vault</a:t>
            </a:r>
          </a:p>
        </p:txBody>
      </p:sp>
      <p:sp>
        <p:nvSpPr>
          <p:cNvPr id="2" name="">
            <a:extLst xmlns:a="http://schemas.openxmlformats.org/drawingml/2006/main">
              <a:ext uri="{FF2B5EF4-FFF2-40B4-BE49-F238E27FC236}">
                <a16:creationId xmlns:a16="http://schemas.microsoft.com/office/drawing/2014/main" id="{049C8C91-9E9E-4E44-91B3-F3F18CB72114}"/>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Obsidian installed on both devices. The manifest declares version 1.7.2 or later.</a:t>
            </a:r>
          </a:p>
        </p:txBody>
      </p:sp>
      <p:sp>
        <p:nvSpPr>
          <p:cNvPr id="3" name="">
            <a:extLst xmlns:a="http://schemas.openxmlformats.org/drawingml/2006/main">
              <a:ext uri="{FF2B5EF4-FFF2-40B4-BE49-F238E27FC236}">
                <a16:creationId xmlns:a16="http://schemas.microsoft.com/office/drawing/2014/main" id="{A85EF0AF-1B64-4CAB-9B78-0C9406EC44E2}"/>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 separate vault named rsn-test-vault for the first trial.</a:t>
            </a:r>
          </a:p>
        </p:txBody>
      </p:sp>
      <p:sp>
        <p:nvSpPr>
          <p:cNvPr id="4" name="">
            <a:extLst xmlns:a="http://schemas.openxmlformats.org/drawingml/2006/main">
              <a:ext uri="{FF2B5EF4-FFF2-40B4-BE49-F238E27FC236}">
                <a16:creationId xmlns:a16="http://schemas.microsoft.com/office/drawing/2014/main" id="{1789FD55-202A-4403-8323-50D278CC9EB6}"/>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An Android file manager that can show hidden files for manual installation.</a:t>
            </a:r>
          </a:p>
        </p:txBody>
      </p:sp>
      <p:sp>
        <p:nvSpPr>
          <p:cNvPr id="5" name="">
            <a:extLst xmlns:a="http://schemas.openxmlformats.org/drawingml/2006/main">
              <a:ext uri="{FF2B5EF4-FFF2-40B4-BE49-F238E27FC236}">
                <a16:creationId xmlns:a16="http://schemas.microsoft.com/office/drawing/2014/main" id="{D55EBFC3-05B0-4D96-BD0A-A379E6DBD6F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Normal use needs no Node.js or Python. Sync is optional.</a:t>
            </a:r>
          </a:p>
        </p:txBody>
      </p:sp>
      <p:sp>
        <p:nvSpPr>
          <p:cNvPr id="6" name="">
            <a:extLst xmlns:a="http://schemas.openxmlformats.org/drawingml/2006/main">
              <a:ext uri="{FF2B5EF4-FFF2-40B4-BE49-F238E27FC236}">
                <a16:creationId xmlns:a16="http://schemas.microsoft.com/office/drawing/2014/main" id="{C4B612E7-7E1A-4C10-9566-F1860293BAB4}"/>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5DD66439-C5BB-431E-B9A0-31C30D46E5D9}"/>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05</a:t>
            </a:r>
          </a:p>
        </p:txBody>
      </p:sp>
    </p:spTree>
    <p:extLst>
      <p:ext uri="{BB962C8B-B14F-4D97-AF65-F5344CB8AC3E}">
        <p14:creationId xmlns:p14="http://schemas.microsoft.com/office/powerpoint/2010/main" val="475616675"/>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A4A631-B6AD-4432-82DE-B108A4977570}"/>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GitHub release downloads</a:t>
            </a:r>
          </a:p>
        </p:txBody>
      </p:sp>
      <p:sp>
        <p:nvSpPr>
          <p:cNvPr id="2" name="">
            <a:extLst xmlns:a="http://schemas.openxmlformats.org/drawingml/2006/main">
              <a:ext uri="{FF2B5EF4-FFF2-40B4-BE49-F238E27FC236}">
                <a16:creationId xmlns:a16="http://schemas.microsoft.com/office/drawing/2014/main" id="{22169782-A26F-4F59-81AC-E2AA72FC399C}"/>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Open harharhari/rsn-habit-tracker-obsidian-plugin on GitHub, then Releases.</a:t>
            </a:r>
          </a:p>
        </p:txBody>
      </p:sp>
      <p:sp>
        <p:nvSpPr>
          <p:cNvPr id="3" name="">
            <a:extLst xmlns:a="http://schemas.openxmlformats.org/drawingml/2006/main">
              <a:ext uri="{FF2B5EF4-FFF2-40B4-BE49-F238E27FC236}">
                <a16:creationId xmlns:a16="http://schemas.microsoft.com/office/drawing/2014/main" id="{ED349A8F-5577-4F75-B934-6342B0EFB299}"/>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Select release tag 1.1.1 and expand Assets.</a:t>
            </a:r>
          </a:p>
        </p:txBody>
      </p:sp>
      <p:sp>
        <p:nvSpPr>
          <p:cNvPr id="4" name="">
            <a:extLst xmlns:a="http://schemas.openxmlformats.org/drawingml/2006/main">
              <a:ext uri="{FF2B5EF4-FFF2-40B4-BE49-F238E27FC236}">
                <a16:creationId xmlns:a16="http://schemas.microsoft.com/office/drawing/2014/main" id="{88FEB46C-A9CA-46F7-9A51-1A29034E9846}"/>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Download the four loose files, installation ZIP and SHA256SUMS into one folder.</a:t>
            </a:r>
          </a:p>
        </p:txBody>
      </p:sp>
      <p:sp>
        <p:nvSpPr>
          <p:cNvPr id="5" name="">
            <a:extLst xmlns:a="http://schemas.openxmlformats.org/drawingml/2006/main">
              <a:ext uri="{FF2B5EF4-FFF2-40B4-BE49-F238E27FC236}">
                <a16:creationId xmlns:a16="http://schemas.microsoft.com/office/drawing/2014/main" id="{F535ECBA-C6B4-45C8-980A-44019DF44D4F}"/>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the attached installation ZIP. The automatic Source code ZIP needs a developer build.</a:t>
            </a:r>
          </a:p>
        </p:txBody>
      </p:sp>
      <p:sp>
        <p:nvSpPr>
          <p:cNvPr id="6" name="">
            <a:extLst xmlns:a="http://schemas.openxmlformats.org/drawingml/2006/main">
              <a:ext uri="{FF2B5EF4-FFF2-40B4-BE49-F238E27FC236}">
                <a16:creationId xmlns:a16="http://schemas.microsoft.com/office/drawing/2014/main" id="{49CFCB37-4531-4EE8-9A05-9D6ABBBB9F2B}"/>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41303526-D347-4CC4-A41D-03A2A8FC0179}"/>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06</a:t>
            </a:r>
          </a:p>
        </p:txBody>
      </p:sp>
    </p:spTree>
    <p:extLst>
      <p:ext uri="{BB962C8B-B14F-4D97-AF65-F5344CB8AC3E}">
        <p14:creationId xmlns:p14="http://schemas.microsoft.com/office/powerpoint/2010/main" val="1368981099"/>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302D56-1A1F-450E-8CD6-371C366AA79F}"/>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Download verification</a:t>
            </a:r>
          </a:p>
        </p:txBody>
      </p:sp>
      <p:sp>
        <p:nvSpPr>
          <p:cNvPr id="2" name="">
            <a:extLst xmlns:a="http://schemas.openxmlformats.org/drawingml/2006/main">
              <a:ext uri="{FF2B5EF4-FFF2-40B4-BE49-F238E27FC236}">
                <a16:creationId xmlns:a16="http://schemas.microsoft.com/office/drawing/2014/main" id="{C90E453B-3D59-483E-92BD-E51269F53EFB}"/>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 Ubuntu, open a terminal inside the release download folder.</a:t>
            </a:r>
          </a:p>
        </p:txBody>
      </p:sp>
      <p:sp>
        <p:nvSpPr>
          <p:cNvPr id="3" name="">
            <a:extLst xmlns:a="http://schemas.openxmlformats.org/drawingml/2006/main">
              <a:ext uri="{FF2B5EF4-FFF2-40B4-BE49-F238E27FC236}">
                <a16:creationId xmlns:a16="http://schemas.microsoft.com/office/drawing/2014/main" id="{A46161F6-DD00-4C55-BEB5-46C8B0552712}"/>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Run: sha256sum -c SHA256SUMS</a:t>
            </a:r>
          </a:p>
        </p:txBody>
      </p:sp>
      <p:sp>
        <p:nvSpPr>
          <p:cNvPr id="4" name="">
            <a:extLst xmlns:a="http://schemas.openxmlformats.org/drawingml/2006/main">
              <a:ext uri="{FF2B5EF4-FFF2-40B4-BE49-F238E27FC236}">
                <a16:creationId xmlns:a16="http://schemas.microsoft.com/office/drawing/2014/main" id="{674E68EE-1F2C-418F-8939-9855683C03B2}"/>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Expect five OK results, covering four loose files and the ZIP.</a:t>
            </a:r>
          </a:p>
        </p:txBody>
      </p:sp>
      <p:sp>
        <p:nvSpPr>
          <p:cNvPr id="5" name="">
            <a:extLst xmlns:a="http://schemas.openxmlformats.org/drawingml/2006/main">
              <a:ext uri="{FF2B5EF4-FFF2-40B4-BE49-F238E27FC236}">
                <a16:creationId xmlns:a16="http://schemas.microsoft.com/office/drawing/2014/main" id="{8904CB2A-2292-4F1F-AC27-27CA35ED3BDA}"/>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Stop if a file is missing or a checksum fails. Download matching assets again.</a:t>
            </a:r>
          </a:p>
        </p:txBody>
      </p:sp>
      <p:sp>
        <p:nvSpPr>
          <p:cNvPr id="6" name="">
            <a:extLst xmlns:a="http://schemas.openxmlformats.org/drawingml/2006/main">
              <a:ext uri="{FF2B5EF4-FFF2-40B4-BE49-F238E27FC236}">
                <a16:creationId xmlns:a16="http://schemas.microsoft.com/office/drawing/2014/main" id="{8D498089-4ACE-4939-B551-878765B82C05}"/>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FF16F759-6FB7-4740-9EFF-38BF4EC57B69}"/>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07</a:t>
            </a:r>
          </a:p>
        </p:txBody>
      </p:sp>
    </p:spTree>
    <p:extLst>
      <p:ext uri="{BB962C8B-B14F-4D97-AF65-F5344CB8AC3E}">
        <p14:creationId xmlns:p14="http://schemas.microsoft.com/office/powerpoint/2010/main" val="1830379072"/>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41B3B4-D258-4899-BA2D-F6CEC6635271}"/>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Ubuntu installation: files</a:t>
            </a:r>
          </a:p>
        </p:txBody>
      </p:sp>
      <p:sp>
        <p:nvSpPr>
          <p:cNvPr id="2" name="">
            <a:extLst xmlns:a="http://schemas.openxmlformats.org/drawingml/2006/main">
              <a:ext uri="{FF2B5EF4-FFF2-40B4-BE49-F238E27FC236}">
                <a16:creationId xmlns:a16="http://schemas.microsoft.com/office/drawing/2014/main" id="{8BF1B1FF-21FD-4C8D-B930-63E31BDB934E}"/>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Open rsn-test-vault once in Obsidian, then close the app.</a:t>
            </a:r>
          </a:p>
        </p:txBody>
      </p:sp>
      <p:sp>
        <p:nvSpPr>
          <p:cNvPr id="3" name="">
            <a:extLst xmlns:a="http://schemas.openxmlformats.org/drawingml/2006/main">
              <a:ext uri="{FF2B5EF4-FFF2-40B4-BE49-F238E27FC236}">
                <a16:creationId xmlns:a16="http://schemas.microsoft.com/office/drawing/2014/main" id="{BBFDE196-9162-44A8-A53C-95D039657067}"/>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In Files, press Ctrl+H to show hidden files. Open the vault’s .obsidian folder.</a:t>
            </a:r>
          </a:p>
        </p:txBody>
      </p:sp>
      <p:sp>
        <p:nvSpPr>
          <p:cNvPr id="4" name="">
            <a:extLst xmlns:a="http://schemas.openxmlformats.org/drawingml/2006/main">
              <a:ext uri="{FF2B5EF4-FFF2-40B4-BE49-F238E27FC236}">
                <a16:creationId xmlns:a16="http://schemas.microsoft.com/office/drawing/2014/main" id="{55FA51A2-D991-45CA-B13F-EFE5AA7E44A1}"/>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Create plugins if needed. Extract the installation ZIP.</a:t>
            </a:r>
          </a:p>
        </p:txBody>
      </p:sp>
      <p:sp>
        <p:nvSpPr>
          <p:cNvPr id="5" name="">
            <a:extLst xmlns:a="http://schemas.openxmlformats.org/drawingml/2006/main">
              <a:ext uri="{FF2B5EF4-FFF2-40B4-BE49-F238E27FC236}">
                <a16:creationId xmlns:a16="http://schemas.microsoft.com/office/drawing/2014/main" id="{47ECDFC4-DF97-4A02-971B-BA20AC56D7A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Copy its habit-calendar-001b folder into .obsidian/plugins/.</a:t>
            </a:r>
          </a:p>
        </p:txBody>
      </p:sp>
      <p:sp>
        <p:nvSpPr>
          <p:cNvPr id="6" name="">
            <a:extLst xmlns:a="http://schemas.openxmlformats.org/drawingml/2006/main">
              <a:ext uri="{FF2B5EF4-FFF2-40B4-BE49-F238E27FC236}">
                <a16:creationId xmlns:a16="http://schemas.microsoft.com/office/drawing/2014/main" id="{FF084F78-B6FD-4156-976E-BC4851332719}"/>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3EEF7305-BA13-4BED-93C3-08B3BD28DDBA}"/>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08</a:t>
            </a:r>
          </a:p>
        </p:txBody>
      </p:sp>
    </p:spTree>
    <p:extLst>
      <p:ext uri="{BB962C8B-B14F-4D97-AF65-F5344CB8AC3E}">
        <p14:creationId xmlns:p14="http://schemas.microsoft.com/office/powerpoint/2010/main" val="736176942"/>
      </p:ext>
    </p:extLst>
  </p:cSld>
</p:sld>
</file>

<file path=ppt/slides/slide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51E964-E625-413F-9B72-F6B2DCC595F2}"/>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Ubuntu installation: first opening</a:t>
            </a:r>
          </a:p>
        </p:txBody>
      </p:sp>
      <p:sp>
        <p:nvSpPr>
          <p:cNvPr id="2" name="">
            <a:extLst xmlns:a="http://schemas.openxmlformats.org/drawingml/2006/main">
              <a:ext uri="{FF2B5EF4-FFF2-40B4-BE49-F238E27FC236}">
                <a16:creationId xmlns:a16="http://schemas.microsoft.com/office/drawing/2014/main" id="{F0019085-F0E3-4D11-AAD1-56341210BE0B}"/>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Reopen the correct vault in Obsidian.</a:t>
            </a:r>
          </a:p>
        </p:txBody>
      </p:sp>
      <p:sp>
        <p:nvSpPr>
          <p:cNvPr id="3" name="">
            <a:extLst xmlns:a="http://schemas.openxmlformats.org/drawingml/2006/main">
              <a:ext uri="{FF2B5EF4-FFF2-40B4-BE49-F238E27FC236}">
                <a16:creationId xmlns:a16="http://schemas.microsoft.com/office/drawing/2014/main" id="{00AE1274-3D37-4718-87EF-E40AAEFDD959}"/>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Open Settings, then Community plugins. Allow community plugins.</a:t>
            </a:r>
          </a:p>
        </p:txBody>
      </p:sp>
      <p:sp>
        <p:nvSpPr>
          <p:cNvPr id="4" name="">
            <a:extLst xmlns:a="http://schemas.openxmlformats.org/drawingml/2006/main">
              <a:ext uri="{FF2B5EF4-FFF2-40B4-BE49-F238E27FC236}">
                <a16:creationId xmlns:a16="http://schemas.microsoft.com/office/drawing/2014/main" id="{45833DA5-F538-4A11-B78D-5FBFFE7C1CCD}"/>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Enable Habit Calendar 001b and verify version 1.1.1.</a:t>
            </a:r>
          </a:p>
        </p:txBody>
      </p:sp>
      <p:sp>
        <p:nvSpPr>
          <p:cNvPr id="5" name="">
            <a:extLst xmlns:a="http://schemas.openxmlformats.org/drawingml/2006/main">
              <a:ext uri="{FF2B5EF4-FFF2-40B4-BE49-F238E27FC236}">
                <a16:creationId xmlns:a16="http://schemas.microsoft.com/office/drawing/2014/main" id="{74F6CBB6-9775-40AD-9C8D-3454D355029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Press Ctrl+P. Run Habit Calendar 001b: Open current month.</a:t>
            </a:r>
          </a:p>
        </p:txBody>
      </p:sp>
      <p:sp>
        <p:nvSpPr>
          <p:cNvPr id="6" name="">
            <a:extLst xmlns:a="http://schemas.openxmlformats.org/drawingml/2006/main">
              <a:ext uri="{FF2B5EF4-FFF2-40B4-BE49-F238E27FC236}">
                <a16:creationId xmlns:a16="http://schemas.microsoft.com/office/drawing/2014/main" id="{0CD60739-67B3-4680-A351-6393D8F622D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1AE7AC84-14EB-43F2-9917-55396AD53881}"/>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09</a:t>
            </a:r>
          </a:p>
        </p:txBody>
      </p:sp>
    </p:spTree>
    <p:extLst>
      <p:ext uri="{BB962C8B-B14F-4D97-AF65-F5344CB8AC3E}">
        <p14:creationId xmlns:p14="http://schemas.microsoft.com/office/powerpoint/2010/main" val="1582797616"/>
      </p:ext>
    </p:extLst>
  </p:cSld>
</p:sld>
</file>

<file path=ppt/slides/slide1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5273891-9129-41F2-83DD-104AB8EF508F}"/>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Android installation: vault location</a:t>
            </a:r>
          </a:p>
        </p:txBody>
      </p:sp>
      <p:sp>
        <p:nvSpPr>
          <p:cNvPr id="2" name="">
            <a:extLst xmlns:a="http://schemas.openxmlformats.org/drawingml/2006/main">
              <a:ext uri="{FF2B5EF4-FFF2-40B4-BE49-F238E27FC236}">
                <a16:creationId xmlns:a16="http://schemas.microsoft.com/office/drawing/2014/main" id="{23992636-A6FA-414A-B731-80B0B099D71C}"/>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Install the official Obsidian app and create or open rsn-test-vault.</a:t>
            </a:r>
          </a:p>
        </p:txBody>
      </p:sp>
      <p:sp>
        <p:nvSpPr>
          <p:cNvPr id="3" name="">
            <a:extLst xmlns:a="http://schemas.openxmlformats.org/drawingml/2006/main">
              <a:ext uri="{FF2B5EF4-FFF2-40B4-BE49-F238E27FC236}">
                <a16:creationId xmlns:a16="http://schemas.microsoft.com/office/drawing/2014/main" id="{A93F0109-216E-4E41-A2D9-BD5405D2192E}"/>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For manual file copying, choose device storage and note the real folder location.</a:t>
            </a:r>
          </a:p>
        </p:txBody>
      </p:sp>
      <p:sp>
        <p:nvSpPr>
          <p:cNvPr id="4" name="">
            <a:extLst xmlns:a="http://schemas.openxmlformats.org/drawingml/2006/main">
              <a:ext uri="{FF2B5EF4-FFF2-40B4-BE49-F238E27FC236}">
                <a16:creationId xmlns:a16="http://schemas.microsoft.com/office/drawing/2014/main" id="{B35AE66D-1E40-44BC-B33A-A7C344661E43}"/>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Open the vault once. Force-stop Obsidian using Android Settings.</a:t>
            </a:r>
          </a:p>
        </p:txBody>
      </p:sp>
      <p:sp>
        <p:nvSpPr>
          <p:cNvPr id="5" name="">
            <a:extLst xmlns:a="http://schemas.openxmlformats.org/drawingml/2006/main">
              <a:ext uri="{FF2B5EF4-FFF2-40B4-BE49-F238E27FC236}">
                <a16:creationId xmlns:a16="http://schemas.microsoft.com/office/drawing/2014/main" id="{0008389E-CF5E-4B88-9E2D-46F8C2C1081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Transfer verified files from Ubuntu, or download the same release on the phone.</a:t>
            </a:r>
          </a:p>
        </p:txBody>
      </p:sp>
      <p:sp>
        <p:nvSpPr>
          <p:cNvPr id="6" name="">
            <a:extLst xmlns:a="http://schemas.openxmlformats.org/drawingml/2006/main">
              <a:ext uri="{FF2B5EF4-FFF2-40B4-BE49-F238E27FC236}">
                <a16:creationId xmlns:a16="http://schemas.microsoft.com/office/drawing/2014/main" id="{FDBEAA13-127F-4FE0-85B0-8A11708CED7A}"/>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574A62E6-74AD-41AC-9704-FF52F89948D4}"/>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10</a:t>
            </a:r>
          </a:p>
        </p:txBody>
      </p:sp>
    </p:spTree>
    <p:extLst>
      <p:ext uri="{BB962C8B-B14F-4D97-AF65-F5344CB8AC3E}">
        <p14:creationId xmlns:p14="http://schemas.microsoft.com/office/powerpoint/2010/main" val="2108830735"/>
      </p:ext>
    </p:extLst>
  </p:cSld>
</p:sld>
</file>

<file path=ppt/slides/slide1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BE388D-14BC-41B2-9EBE-5A3E18EA8DBE}"/>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Android installation: plugin files</a:t>
            </a:r>
          </a:p>
        </p:txBody>
      </p:sp>
      <p:sp>
        <p:nvSpPr>
          <p:cNvPr id="2" name="">
            <a:extLst xmlns:a="http://schemas.openxmlformats.org/drawingml/2006/main">
              <a:ext uri="{FF2B5EF4-FFF2-40B4-BE49-F238E27FC236}">
                <a16:creationId xmlns:a16="http://schemas.microsoft.com/office/drawing/2014/main" id="{A6FBFDE2-22F7-4F1D-A467-3960F32A09DC}"/>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1. Enable Show hidden files in your file manager.</a:t>
            </a:r>
          </a:p>
        </p:txBody>
      </p:sp>
      <p:sp>
        <p:nvSpPr>
          <p:cNvPr id="3" name="">
            <a:extLst xmlns:a="http://schemas.openxmlformats.org/drawingml/2006/main">
              <a:ext uri="{FF2B5EF4-FFF2-40B4-BE49-F238E27FC236}">
                <a16:creationId xmlns:a16="http://schemas.microsoft.com/office/drawing/2014/main" id="{F008F0FC-CAF7-47E7-99F5-2089ED14B186}"/>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2. Inside the vault, create .obsidian/plugins/habit-calendar-001b/.</a:t>
            </a:r>
          </a:p>
        </p:txBody>
      </p:sp>
      <p:sp>
        <p:nvSpPr>
          <p:cNvPr id="4" name="">
            <a:extLst xmlns:a="http://schemas.openxmlformats.org/drawingml/2006/main">
              <a:ext uri="{FF2B5EF4-FFF2-40B4-BE49-F238E27FC236}">
                <a16:creationId xmlns:a16="http://schemas.microsoft.com/office/drawing/2014/main" id="{4B4605F3-93FB-4C69-BBB3-531D6CAC4704}"/>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3. Copy main.js, manifest.json, styles.css and hex-color-list.md directly into it.</a:t>
            </a:r>
          </a:p>
        </p:txBody>
      </p:sp>
      <p:sp>
        <p:nvSpPr>
          <p:cNvPr id="5" name="">
            <a:extLst xmlns:a="http://schemas.openxmlformats.org/drawingml/2006/main">
              <a:ext uri="{FF2B5EF4-FFF2-40B4-BE49-F238E27FC236}">
                <a16:creationId xmlns:a16="http://schemas.microsoft.com/office/drawing/2014/main" id="{5ED7A5D1-4CFD-463E-977B-7001F9BFD67A}"/>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4. Reopen Obsidian, enable community plugins and enable Habit Calendar 001b.</a:t>
            </a:r>
          </a:p>
        </p:txBody>
      </p:sp>
      <p:sp>
        <p:nvSpPr>
          <p:cNvPr id="6" name="">
            <a:extLst xmlns:a="http://schemas.openxmlformats.org/drawingml/2006/main">
              <a:ext uri="{FF2B5EF4-FFF2-40B4-BE49-F238E27FC236}">
                <a16:creationId xmlns:a16="http://schemas.microsoft.com/office/drawing/2014/main" id="{FC5AF531-FF7E-45DB-BE16-98AEF8B3939F}"/>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C51E06EB-D76E-4CD3-ACAC-C51B9E92BD5E}"/>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11</a:t>
            </a:r>
          </a:p>
        </p:txBody>
      </p:sp>
    </p:spTree>
    <p:extLst>
      <p:ext uri="{BB962C8B-B14F-4D97-AF65-F5344CB8AC3E}">
        <p14:creationId xmlns:p14="http://schemas.microsoft.com/office/powerpoint/2010/main" val="1835774108"/>
      </p:ext>
    </p:extLst>
  </p:cSld>
</p:sld>
</file>

<file path=ppt/slides/slide1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31E953-F531-4F2B-9ABB-0E2CB3FF47C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Android installation: first opening</a:t>
            </a:r>
          </a:p>
        </p:txBody>
      </p:sp>
      <p:sp>
        <p:nvSpPr>
          <p:cNvPr id="2" name="">
            <a:extLst xmlns:a="http://schemas.openxmlformats.org/drawingml/2006/main">
              <a:ext uri="{FF2B5EF4-FFF2-40B4-BE49-F238E27FC236}">
                <a16:creationId xmlns:a16="http://schemas.microsoft.com/office/drawing/2014/main" id="{1FD9EA94-A0FA-493E-9CE4-6DE966F87A51}"/>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Open the command palette from the mobile ribbon or menu.</a:t>
            </a:r>
          </a:p>
        </p:txBody>
      </p:sp>
      <p:sp>
        <p:nvSpPr>
          <p:cNvPr id="3" name="">
            <a:extLst xmlns:a="http://schemas.openxmlformats.org/drawingml/2006/main">
              <a:ext uri="{FF2B5EF4-FFF2-40B4-BE49-F238E27FC236}">
                <a16:creationId xmlns:a16="http://schemas.microsoft.com/office/drawing/2014/main" id="{0EBDE102-AF8A-4BB0-BA69-37CA50D22FAF}"/>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Run Habit Calendar 001b: Open current month.</a:t>
            </a:r>
          </a:p>
        </p:txBody>
      </p:sp>
      <p:sp>
        <p:nvSpPr>
          <p:cNvPr id="4" name="">
            <a:extLst xmlns:a="http://schemas.openxmlformats.org/drawingml/2006/main">
              <a:ext uri="{FF2B5EF4-FFF2-40B4-BE49-F238E27FC236}">
                <a16:creationId xmlns:a16="http://schemas.microsoft.com/office/drawing/2014/main" id="{D77C7487-13F7-4D53-8304-178F76AC79D3}"/>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Expect a title such as 2026-10 October 2026.</a:t>
            </a:r>
          </a:p>
        </p:txBody>
      </p:sp>
      <p:sp>
        <p:nvSpPr>
          <p:cNvPr id="5" name="">
            <a:extLst xmlns:a="http://schemas.openxmlformats.org/drawingml/2006/main">
              <a:ext uri="{FF2B5EF4-FFF2-40B4-BE49-F238E27FC236}">
                <a16:creationId xmlns:a16="http://schemas.microsoft.com/office/drawing/2014/main" id="{DBE43BC6-2F2B-4EAF-BD79-4729613D51DD}"/>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 monthly Markdown note renders its calendar in Reading view; Source mode shows code.</a:t>
            </a:r>
          </a:p>
        </p:txBody>
      </p:sp>
      <p:sp>
        <p:nvSpPr>
          <p:cNvPr id="6" name="">
            <a:extLst xmlns:a="http://schemas.openxmlformats.org/drawingml/2006/main">
              <a:ext uri="{FF2B5EF4-FFF2-40B4-BE49-F238E27FC236}">
                <a16:creationId xmlns:a16="http://schemas.microsoft.com/office/drawing/2014/main" id="{221CC4BC-FDDD-4BF9-9817-CFC03B4E76C3}"/>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13C65B99-80A9-43D2-B896-27A2D1B63C14}"/>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12</a:t>
            </a:r>
          </a:p>
        </p:txBody>
      </p:sp>
    </p:spTree>
    <p:extLst>
      <p:ext uri="{BB962C8B-B14F-4D97-AF65-F5344CB8AC3E}">
        <p14:creationId xmlns:p14="http://schemas.microsoft.com/office/powerpoint/2010/main" val="2083362008"/>
      </p:ext>
    </p:extLst>
  </p:cSld>
</p:sld>
</file>

<file path=ppt/slides/slide1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0ED357-1DDD-4908-B276-3531C4F23CD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The three-column habit list</a:t>
            </a:r>
          </a:p>
        </p:txBody>
      </p:sp>
      <p:sp>
        <p:nvSpPr>
          <p:cNvPr id="2" name="">
            <a:extLst xmlns:a="http://schemas.openxmlformats.org/drawingml/2006/main">
              <a:ext uri="{FF2B5EF4-FFF2-40B4-BE49-F238E27FC236}">
                <a16:creationId xmlns:a16="http://schemas.microsoft.com/office/drawing/2014/main" id="{27A52794-6F03-4672-9132-52531D1CE734}"/>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Habit list to open Habit Tracker/habit-tracker-list.md.</a:t>
            </a:r>
          </a:p>
        </p:txBody>
      </p:sp>
      <p:sp>
        <p:nvSpPr>
          <p:cNvPr id="3" name="">
            <a:extLst xmlns:a="http://schemas.openxmlformats.org/drawingml/2006/main">
              <a:ext uri="{FF2B5EF4-FFF2-40B4-BE49-F238E27FC236}">
                <a16:creationId xmlns:a16="http://schemas.microsoft.com/office/drawing/2014/main" id="{9C9AC20C-D9C5-42E8-B019-522693DE2175}"/>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Add Walking with Y and #90EE90. Add Reading with Y and #ADD8E6.</a:t>
            </a:r>
          </a:p>
        </p:txBody>
      </p:sp>
      <p:sp>
        <p:nvSpPr>
          <p:cNvPr id="4" name="">
            <a:extLst xmlns:a="http://schemas.openxmlformats.org/drawingml/2006/main">
              <a:ext uri="{FF2B5EF4-FFF2-40B4-BE49-F238E27FC236}">
                <a16:creationId xmlns:a16="http://schemas.microsoft.com/office/drawing/2014/main" id="{E288B4F9-5146-46DF-B0AE-0DA69EF13239}"/>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Add Yoga with N and #FFDAB9, then save.</a:t>
            </a:r>
          </a:p>
        </p:txBody>
      </p:sp>
      <p:sp>
        <p:nvSpPr>
          <p:cNvPr id="5" name="">
            <a:extLst xmlns:a="http://schemas.openxmlformats.org/drawingml/2006/main">
              <a:ext uri="{FF2B5EF4-FFF2-40B4-BE49-F238E27FC236}">
                <a16:creationId xmlns:a16="http://schemas.microsoft.com/office/drawing/2014/main" id="{7F1EE60D-6C32-4E8D-AAA0-358577CF9F2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Y includes a calendar when applied. N excludes it. Keep automatic habit-ID comments.</a:t>
            </a:r>
          </a:p>
        </p:txBody>
      </p:sp>
      <p:sp>
        <p:nvSpPr>
          <p:cNvPr id="6" name="">
            <a:extLst xmlns:a="http://schemas.openxmlformats.org/drawingml/2006/main">
              <a:ext uri="{FF2B5EF4-FFF2-40B4-BE49-F238E27FC236}">
                <a16:creationId xmlns:a16="http://schemas.microsoft.com/office/drawing/2014/main" id="{3A81F1D3-80C5-4997-BCB6-4E044C6E3242}"/>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85679262-2431-4834-818C-9F57BDBAABE6}"/>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13</a:t>
            </a:r>
          </a:p>
        </p:txBody>
      </p:sp>
    </p:spTree>
    <p:extLst>
      <p:ext uri="{BB962C8B-B14F-4D97-AF65-F5344CB8AC3E}">
        <p14:creationId xmlns:p14="http://schemas.microsoft.com/office/powerpoint/2010/main" val="80150058"/>
      </p:ext>
    </p:extLst>
  </p:cSld>
</p:sld>
</file>

<file path=ppt/slides/slide1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7C5C2B-8EB8-4E89-AF2B-F3FF715EC22D}"/>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The replacement warning</a:t>
            </a:r>
          </a:p>
        </p:txBody>
      </p:sp>
      <p:sp>
        <p:nvSpPr>
          <p:cNvPr id="2" name="">
            <a:extLst xmlns:a="http://schemas.openxmlformats.org/drawingml/2006/main">
              <a:ext uri="{FF2B5EF4-FFF2-40B4-BE49-F238E27FC236}">
                <a16:creationId xmlns:a16="http://schemas.microsoft.com/office/drawing/2014/main" id="{E79B531F-D1B2-4DF3-9311-1E4DD11210A4}"/>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warning appears after a meaningful habit-list change.</a:t>
            </a:r>
          </a:p>
        </p:txBody>
      </p:sp>
      <p:sp>
        <p:nvSpPr>
          <p:cNvPr id="3" name="">
            <a:extLst xmlns:a="http://schemas.openxmlformats.org/drawingml/2006/main">
              <a:ext uri="{FF2B5EF4-FFF2-40B4-BE49-F238E27FC236}">
                <a16:creationId xmlns:a16="http://schemas.microsoft.com/office/drawing/2014/main" id="{1E46310C-9DF3-4F19-9BC2-11AC6FB78BB4}"/>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Yes clears every current-month mark and applies the new list.</a:t>
            </a:r>
          </a:p>
        </p:txBody>
      </p:sp>
      <p:sp>
        <p:nvSpPr>
          <p:cNvPr id="4" name="">
            <a:extLst xmlns:a="http://schemas.openxmlformats.org/drawingml/2006/main">
              <a:ext uri="{FF2B5EF4-FFF2-40B4-BE49-F238E27FC236}">
                <a16:creationId xmlns:a16="http://schemas.microsoft.com/office/drawing/2014/main" id="{00703BAA-7E27-4532-9EDE-63F8CD5C203D}"/>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No preserves displayed calendars and marks. Your edited list remains saved.</a:t>
            </a:r>
          </a:p>
        </p:txBody>
      </p:sp>
      <p:sp>
        <p:nvSpPr>
          <p:cNvPr id="5" name="">
            <a:extLst xmlns:a="http://schemas.openxmlformats.org/drawingml/2006/main">
              <a:ext uri="{FF2B5EF4-FFF2-40B4-BE49-F238E27FC236}">
                <a16:creationId xmlns:a16="http://schemas.microsoft.com/office/drawing/2014/main" id="{AB638F9E-5CAA-4D41-BCA4-BE66B9B4EB8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Apply habit list to reconsider a change previously declined.</a:t>
            </a:r>
          </a:p>
        </p:txBody>
      </p:sp>
      <p:sp>
        <p:nvSpPr>
          <p:cNvPr id="6" name="">
            <a:extLst xmlns:a="http://schemas.openxmlformats.org/drawingml/2006/main">
              <a:ext uri="{FF2B5EF4-FFF2-40B4-BE49-F238E27FC236}">
                <a16:creationId xmlns:a16="http://schemas.microsoft.com/office/drawing/2014/main" id="{01A93F06-79DA-4E04-AB50-F0D494246260}"/>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42962C69-AA78-4641-AF32-6BF58DEC8940}"/>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14</a:t>
            </a:r>
          </a:p>
        </p:txBody>
      </p:sp>
    </p:spTree>
    <p:extLst>
      <p:ext uri="{BB962C8B-B14F-4D97-AF65-F5344CB8AC3E}">
        <p14:creationId xmlns:p14="http://schemas.microsoft.com/office/powerpoint/2010/main" val="1867211310"/>
      </p:ext>
    </p:extLst>
  </p:cSld>
</p:sld>
</file>

<file path=ppt/slides/slide1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0017B6-68B9-40FA-A848-A12F8A9E7B6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Daily marking exercise</a:t>
            </a:r>
          </a:p>
        </p:txBody>
      </p:sp>
      <p:sp>
        <p:nvSpPr>
          <p:cNvPr id="2" name="">
            <a:extLst xmlns:a="http://schemas.openxmlformats.org/drawingml/2006/main">
              <a:ext uri="{FF2B5EF4-FFF2-40B4-BE49-F238E27FC236}">
                <a16:creationId xmlns:a16="http://schemas.microsoft.com/office/drawing/2014/main" id="{2271BF7E-7857-4DC3-9E5E-27CDCD9FA790}"/>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Tap today in Walking once: green means activity completed.</a:t>
            </a:r>
          </a:p>
        </p:txBody>
      </p:sp>
      <p:sp>
        <p:nvSpPr>
          <p:cNvPr id="3" name="">
            <a:extLst xmlns:a="http://schemas.openxmlformats.org/drawingml/2006/main">
              <a:ext uri="{FF2B5EF4-FFF2-40B4-BE49-F238E27FC236}">
                <a16:creationId xmlns:a16="http://schemas.microsoft.com/office/drawing/2014/main" id="{38E140E1-03D8-43FF-9940-A7144202090A}"/>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Tap again: pink is your manual not-done mark.</a:t>
            </a:r>
          </a:p>
        </p:txBody>
      </p:sp>
      <p:sp>
        <p:nvSpPr>
          <p:cNvPr id="4" name="">
            <a:extLst xmlns:a="http://schemas.openxmlformats.org/drawingml/2006/main">
              <a:ext uri="{FF2B5EF4-FFF2-40B4-BE49-F238E27FC236}">
                <a16:creationId xmlns:a16="http://schemas.microsoft.com/office/drawing/2014/main" id="{6BF125A1-7F6D-4472-8B3F-E01ACE7BF64F}"/>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Tap a third time: the date has no color.</a:t>
            </a:r>
          </a:p>
        </p:txBody>
      </p:sp>
      <p:sp>
        <p:nvSpPr>
          <p:cNvPr id="5" name="">
            <a:extLst xmlns:a="http://schemas.openxmlformats.org/drawingml/2006/main">
              <a:ext uri="{FF2B5EF4-FFF2-40B4-BE49-F238E27FC236}">
                <a16:creationId xmlns:a16="http://schemas.microsoft.com/office/drawing/2014/main" id="{DE57F77A-A0E3-46F8-B879-173915667593}"/>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Mark an earlier current-month date, restart Obsidian and confirm the mark persists.</a:t>
            </a:r>
          </a:p>
        </p:txBody>
      </p:sp>
      <p:sp>
        <p:nvSpPr>
          <p:cNvPr id="6" name="">
            <a:extLst xmlns:a="http://schemas.openxmlformats.org/drawingml/2006/main">
              <a:ext uri="{FF2B5EF4-FFF2-40B4-BE49-F238E27FC236}">
                <a16:creationId xmlns:a16="http://schemas.microsoft.com/office/drawing/2014/main" id="{2C03644C-1687-482C-8B1F-738D54D1975B}"/>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AA42F33F-46BC-452D-8592-1A4006B1AC9A}"/>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15</a:t>
            </a:r>
          </a:p>
        </p:txBody>
      </p:sp>
    </p:spTree>
    <p:extLst>
      <p:ext uri="{BB962C8B-B14F-4D97-AF65-F5344CB8AC3E}">
        <p14:creationId xmlns:p14="http://schemas.microsoft.com/office/powerpoint/2010/main" val="810063287"/>
      </p:ext>
    </p:extLst>
  </p:cSld>
</p:sld>
</file>

<file path=ppt/slides/slide1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14612D-877A-4B18-835E-E18C8CF1D93B}"/>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Colors and custom shades</a:t>
            </a:r>
          </a:p>
        </p:txBody>
      </p:sp>
      <p:sp>
        <p:nvSpPr>
          <p:cNvPr id="2" name="">
            <a:extLst xmlns:a="http://schemas.openxmlformats.org/drawingml/2006/main">
              <a:ext uri="{FF2B5EF4-FFF2-40B4-BE49-F238E27FC236}">
                <a16:creationId xmlns:a16="http://schemas.microsoft.com/office/drawing/2014/main" id="{FE9F92D2-190C-4082-ACEB-99BE605C5C94}"/>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Open Color reference and switch to Reading view for swatches.</a:t>
            </a:r>
          </a:p>
        </p:txBody>
      </p:sp>
      <p:sp>
        <p:nvSpPr>
          <p:cNvPr id="3" name="">
            <a:extLst xmlns:a="http://schemas.openxmlformats.org/drawingml/2006/main">
              <a:ext uri="{FF2B5EF4-FFF2-40B4-BE49-F238E27FC236}">
                <a16:creationId xmlns:a16="http://schemas.microsoft.com/office/drawing/2014/main" id="{9E867E22-7DAE-463D-9DB0-438C8CB06FFA}"/>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Choose a six-digit code such as #ADD8E6 and copy it yourself into the habit list.</a:t>
            </a:r>
          </a:p>
        </p:txBody>
      </p:sp>
      <p:sp>
        <p:nvSpPr>
          <p:cNvPr id="4" name="">
            <a:extLst xmlns:a="http://schemas.openxmlformats.org/drawingml/2006/main">
              <a:ext uri="{FF2B5EF4-FFF2-40B4-BE49-F238E27FC236}">
                <a16:creationId xmlns:a16="http://schemas.microsoft.com/office/drawing/2014/main" id="{A22F3E81-FB3A-4136-BEF9-FA58B033E96F}"/>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To add a shade, append My lavender with #B8A9E8 and an empty third cell.</a:t>
            </a:r>
          </a:p>
        </p:txBody>
      </p:sp>
      <p:sp>
        <p:nvSpPr>
          <p:cNvPr id="5" name="">
            <a:extLst xmlns:a="http://schemas.openxmlformats.org/drawingml/2006/main">
              <a:ext uri="{FF2B5EF4-FFF2-40B4-BE49-F238E27FC236}">
                <a16:creationId xmlns:a16="http://schemas.microsoft.com/office/drawing/2014/main" id="{C6DBF7CE-2849-4BDB-806C-E0D3D480CBC1}"/>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Changing the color reference alone never changes an existing calendar.</a:t>
            </a:r>
          </a:p>
        </p:txBody>
      </p:sp>
      <p:sp>
        <p:nvSpPr>
          <p:cNvPr id="6" name="">
            <a:extLst xmlns:a="http://schemas.openxmlformats.org/drawingml/2006/main">
              <a:ext uri="{FF2B5EF4-FFF2-40B4-BE49-F238E27FC236}">
                <a16:creationId xmlns:a16="http://schemas.microsoft.com/office/drawing/2014/main" id="{FFD3AF34-A468-4D96-B565-CBEA4B0EC020}"/>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4A103488-13DF-4F9F-B3AB-5C8909FF3533}"/>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16</a:t>
            </a:r>
          </a:p>
        </p:txBody>
      </p:sp>
    </p:spTree>
    <p:extLst>
      <p:ext uri="{BB962C8B-B14F-4D97-AF65-F5344CB8AC3E}">
        <p14:creationId xmlns:p14="http://schemas.microsoft.com/office/powerpoint/2010/main" val="1854032132"/>
      </p:ext>
    </p:extLst>
  </p:cSld>
</p:sld>
</file>

<file path=ppt/slides/slide1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A0914C-F360-4D58-93AD-06161E8B1A68}"/>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Habit maintenance</a:t>
            </a:r>
          </a:p>
        </p:txBody>
      </p:sp>
      <p:sp>
        <p:nvSpPr>
          <p:cNvPr id="2" name="">
            <a:extLst xmlns:a="http://schemas.openxmlformats.org/drawingml/2006/main">
              <a:ext uri="{FF2B5EF4-FFF2-40B4-BE49-F238E27FC236}">
                <a16:creationId xmlns:a16="http://schemas.microsoft.com/office/drawing/2014/main" id="{FF90B09A-4670-456F-AE8C-1C918A3CDB5F}"/>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Rename the visible label while retaining the hidden habit ID.</a:t>
            </a:r>
          </a:p>
        </p:txBody>
      </p:sp>
      <p:sp>
        <p:nvSpPr>
          <p:cNvPr id="3" name="">
            <a:extLst xmlns:a="http://schemas.openxmlformats.org/drawingml/2006/main">
              <a:ext uri="{FF2B5EF4-FFF2-40B4-BE49-F238E27FC236}">
                <a16:creationId xmlns:a16="http://schemas.microsoft.com/office/drawing/2014/main" id="{FB562CF2-C98F-4396-8119-5258A4750BC1}"/>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Move whole table rows to reorder calendars.</a:t>
            </a:r>
          </a:p>
        </p:txBody>
      </p:sp>
      <p:sp>
        <p:nvSpPr>
          <p:cNvPr id="4" name="">
            <a:extLst xmlns:a="http://schemas.openxmlformats.org/drawingml/2006/main">
              <a:ext uri="{FF2B5EF4-FFF2-40B4-BE49-F238E27FC236}">
                <a16:creationId xmlns:a16="http://schemas.microsoft.com/office/drawing/2014/main" id="{E2A8C3D0-29C4-4F88-BD4D-4C5C566FD890}"/>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Add a row, change Y to N, or delete a row to alter the next applied catalog.</a:t>
            </a:r>
          </a:p>
        </p:txBody>
      </p:sp>
      <p:sp>
        <p:nvSpPr>
          <p:cNvPr id="5" name="">
            <a:extLst xmlns:a="http://schemas.openxmlformats.org/drawingml/2006/main">
              <a:ext uri="{FF2B5EF4-FFF2-40B4-BE49-F238E27FC236}">
                <a16:creationId xmlns:a16="http://schemas.microsoft.com/office/drawing/2014/main" id="{CC174A51-6472-40AF-B68C-C70DA18FBBB1}"/>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Batch changes deliberately. Every accepted catalog change resets all current marks.</a:t>
            </a:r>
          </a:p>
        </p:txBody>
      </p:sp>
      <p:sp>
        <p:nvSpPr>
          <p:cNvPr id="6" name="">
            <a:extLst xmlns:a="http://schemas.openxmlformats.org/drawingml/2006/main">
              <a:ext uri="{FF2B5EF4-FFF2-40B4-BE49-F238E27FC236}">
                <a16:creationId xmlns:a16="http://schemas.microsoft.com/office/drawing/2014/main" id="{F11801A8-7942-42D3-A2E2-5C8F10347D4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D3710A3D-8576-4535-A211-DC7462AF9434}"/>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17</a:t>
            </a:r>
          </a:p>
        </p:txBody>
      </p:sp>
    </p:spTree>
    <p:extLst>
      <p:ext uri="{BB962C8B-B14F-4D97-AF65-F5344CB8AC3E}">
        <p14:creationId xmlns:p14="http://schemas.microsoft.com/office/powerpoint/2010/main" val="1771761476"/>
      </p:ext>
    </p:extLst>
  </p:cSld>
</p:sld>
</file>

<file path=ppt/slides/slide1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4BC4D2-71D6-4A63-A518-7B35DFF75CF7}"/>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Statistics without schedules</a:t>
            </a:r>
          </a:p>
        </p:txBody>
      </p:sp>
      <p:sp>
        <p:nvSpPr>
          <p:cNvPr id="2" name="">
            <a:extLst xmlns:a="http://schemas.openxmlformats.org/drawingml/2006/main">
              <a:ext uri="{FF2B5EF4-FFF2-40B4-BE49-F238E27FC236}">
                <a16:creationId xmlns:a16="http://schemas.microsoft.com/office/drawing/2014/main" id="{6083BA14-B07C-400A-B87A-F72399983F8A}"/>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Completion is green days divided by elapsed calendar days.</a:t>
            </a:r>
          </a:p>
        </p:txBody>
      </p:sp>
      <p:sp>
        <p:nvSpPr>
          <p:cNvPr id="3" name="">
            <a:extLst xmlns:a="http://schemas.openxmlformats.org/drawingml/2006/main">
              <a:ext uri="{FF2B5EF4-FFF2-40B4-BE49-F238E27FC236}">
                <a16:creationId xmlns:a16="http://schemas.microsoft.com/office/drawing/2014/main" id="{EC4ACAEE-D897-4CE2-95FC-CB44B0A1F044}"/>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Example: 6 green days after 10 days gives 60% for that habit.</a:t>
            </a:r>
          </a:p>
        </p:txBody>
      </p:sp>
      <p:sp>
        <p:nvSpPr>
          <p:cNvPr id="4" name="">
            <a:extLst xmlns:a="http://schemas.openxmlformats.org/drawingml/2006/main">
              <a:ext uri="{FF2B5EF4-FFF2-40B4-BE49-F238E27FC236}">
                <a16:creationId xmlns:a16="http://schemas.microsoft.com/office/drawing/2014/main" id="{E3E3E2BE-6F3D-4A7A-B6B9-DFF6EC159B18}"/>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Pink and blank dates break streaks. Streaks stay within one month.</a:t>
            </a:r>
          </a:p>
        </p:txBody>
      </p:sp>
      <p:sp>
        <p:nvSpPr>
          <p:cNvPr id="5" name="">
            <a:extLst xmlns:a="http://schemas.openxmlformats.org/drawingml/2006/main">
              <a:ext uri="{FF2B5EF4-FFF2-40B4-BE49-F238E27FC236}">
                <a16:creationId xmlns:a16="http://schemas.microsoft.com/office/drawing/2014/main" id="{4A9C979E-EF5B-4334-BAF6-24B6DEA91E5A}"/>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Historical reports keep their saved as-of date and totals.</a:t>
            </a:r>
          </a:p>
        </p:txBody>
      </p:sp>
      <p:sp>
        <p:nvSpPr>
          <p:cNvPr id="6" name="">
            <a:extLst xmlns:a="http://schemas.openxmlformats.org/drawingml/2006/main">
              <a:ext uri="{FF2B5EF4-FFF2-40B4-BE49-F238E27FC236}">
                <a16:creationId xmlns:a16="http://schemas.microsoft.com/office/drawing/2014/main" id="{C22653BE-D0A1-484F-88DF-8ADEBD44DF8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865A0AD0-A11B-4A24-9DCC-0DD802B62E7B}"/>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18</a:t>
            </a:r>
          </a:p>
        </p:txBody>
      </p:sp>
    </p:spTree>
    <p:extLst>
      <p:ext uri="{BB962C8B-B14F-4D97-AF65-F5344CB8AC3E}">
        <p14:creationId xmlns:p14="http://schemas.microsoft.com/office/powerpoint/2010/main" val="930045280"/>
      </p:ext>
    </p:extLst>
  </p:cSld>
</p:sld>
</file>

<file path=ppt/slides/slide1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EB89EB-3B5C-4287-85E0-5062CF062B36}"/>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New months and frozen history</a:t>
            </a:r>
          </a:p>
        </p:txBody>
      </p:sp>
      <p:sp>
        <p:nvSpPr>
          <p:cNvPr id="2" name="">
            <a:extLst xmlns:a="http://schemas.openxmlformats.org/drawingml/2006/main">
              <a:ext uri="{FF2B5EF4-FFF2-40B4-BE49-F238E27FC236}">
                <a16:creationId xmlns:a16="http://schemas.microsoft.com/office/drawing/2014/main" id="{2CC3ABB4-9143-4BBE-A127-C200C6167C50}"/>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 new month appears while Obsidian is open or on the next opening.</a:t>
            </a:r>
          </a:p>
        </p:txBody>
      </p:sp>
      <p:sp>
        <p:nvSpPr>
          <p:cNvPr id="3" name="">
            <a:extLst xmlns:a="http://schemas.openxmlformats.org/drawingml/2006/main">
              <a:ext uri="{FF2B5EF4-FFF2-40B4-BE49-F238E27FC236}">
                <a16:creationId xmlns:a16="http://schemas.microsoft.com/office/drawing/2014/main" id="{825CDBDA-0EAE-42ED-A873-FBCFF6681D27}"/>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new month uses the current habit list and starts with blank marks.</a:t>
            </a:r>
          </a:p>
        </p:txBody>
      </p:sp>
      <p:sp>
        <p:nvSpPr>
          <p:cNvPr id="4" name="">
            <a:extLst xmlns:a="http://schemas.openxmlformats.org/drawingml/2006/main">
              <a:ext uri="{FF2B5EF4-FFF2-40B4-BE49-F238E27FC236}">
                <a16:creationId xmlns:a16="http://schemas.microsoft.com/office/drawing/2014/main" id="{F82B076E-F8B5-4DC9-94BD-D7A7382FF00C}"/>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Previous months keep their saved calendars and statistics.</a:t>
            </a:r>
          </a:p>
        </p:txBody>
      </p:sp>
      <p:sp>
        <p:nvSpPr>
          <p:cNvPr id="5" name="">
            <a:extLst xmlns:a="http://schemas.openxmlformats.org/drawingml/2006/main">
              <a:ext uri="{FF2B5EF4-FFF2-40B4-BE49-F238E27FC236}">
                <a16:creationId xmlns:a16="http://schemas.microsoft.com/office/drawing/2014/main" id="{35A46CB7-28DD-45BB-A2AA-84AD7C889A5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Late synced marks remain excluded from frozen history.</a:t>
            </a:r>
          </a:p>
        </p:txBody>
      </p:sp>
      <p:sp>
        <p:nvSpPr>
          <p:cNvPr id="6" name="">
            <a:extLst xmlns:a="http://schemas.openxmlformats.org/drawingml/2006/main">
              <a:ext uri="{FF2B5EF4-FFF2-40B4-BE49-F238E27FC236}">
                <a16:creationId xmlns:a16="http://schemas.microsoft.com/office/drawing/2014/main" id="{2AE3EEA3-AC06-4E6D-863A-E9B629808759}"/>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2FA61C9D-FE72-4CBE-B537-77CF094A910C}"/>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19</a:t>
            </a:r>
          </a:p>
        </p:txBody>
      </p:sp>
    </p:spTree>
    <p:extLst>
      <p:ext uri="{BB962C8B-B14F-4D97-AF65-F5344CB8AC3E}">
        <p14:creationId xmlns:p14="http://schemas.microsoft.com/office/powerpoint/2010/main" val="685441260"/>
      </p:ext>
    </p:extLst>
  </p:cSld>
</p:sld>
</file>

<file path=ppt/slides/slide2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57A1F0-AF91-4EF4-BA85-C860F809714C}"/>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Optional Obsidian Sync</a:t>
            </a:r>
          </a:p>
        </p:txBody>
      </p:sp>
      <p:sp>
        <p:nvSpPr>
          <p:cNvPr id="2" name="">
            <a:extLst xmlns:a="http://schemas.openxmlformats.org/drawingml/2006/main">
              <a:ext uri="{FF2B5EF4-FFF2-40B4-BE49-F238E27FC236}">
                <a16:creationId xmlns:a16="http://schemas.microsoft.com/office/drawing/2014/main" id="{6A402F38-18BD-48CF-82BF-D56F6BEAD4F5}"/>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Connect both local vaults to the same remote vault. Matching names alone do not connect them.</a:t>
            </a:r>
          </a:p>
        </p:txBody>
      </p:sp>
      <p:sp>
        <p:nvSpPr>
          <p:cNvPr id="3" name="">
            <a:extLst xmlns:a="http://schemas.openxmlformats.org/drawingml/2006/main">
              <a:ext uri="{FF2B5EF4-FFF2-40B4-BE49-F238E27FC236}">
                <a16:creationId xmlns:a16="http://schemas.microsoft.com/office/drawing/2014/main" id="{FBA8ADE5-9730-43CF-A547-1F5497ED23D6}"/>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On each device, enable the installed and active community plugin sync options.</a:t>
            </a:r>
          </a:p>
        </p:txBody>
      </p:sp>
      <p:sp>
        <p:nvSpPr>
          <p:cNvPr id="4" name="">
            <a:extLst xmlns:a="http://schemas.openxmlformats.org/drawingml/2006/main">
              <a:ext uri="{FF2B5EF4-FFF2-40B4-BE49-F238E27FC236}">
                <a16:creationId xmlns:a16="http://schemas.microsoft.com/office/drawing/2014/main" id="{70E33F9F-109F-404C-B19F-04D96A2459A8}"/>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Include Habit Tracker and its Records, Statistics and System folders.</a:t>
            </a:r>
          </a:p>
        </p:txBody>
      </p:sp>
      <p:sp>
        <p:nvSpPr>
          <p:cNvPr id="5" name="">
            <a:extLst xmlns:a="http://schemas.openxmlformats.org/drawingml/2006/main">
              <a:ext uri="{FF2B5EF4-FFF2-40B4-BE49-F238E27FC236}">
                <a16:creationId xmlns:a16="http://schemas.microsoft.com/office/drawing/2014/main" id="{052FC262-7D83-440D-AA1A-D46E1FFFAC3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Wait for downloads, then restart Obsidian to load plugin changes.</a:t>
            </a:r>
          </a:p>
        </p:txBody>
      </p:sp>
      <p:sp>
        <p:nvSpPr>
          <p:cNvPr id="6" name="">
            <a:extLst xmlns:a="http://schemas.openxmlformats.org/drawingml/2006/main">
              <a:ext uri="{FF2B5EF4-FFF2-40B4-BE49-F238E27FC236}">
                <a16:creationId xmlns:a16="http://schemas.microsoft.com/office/drawing/2014/main" id="{D8086E17-D29C-4932-87B4-347DD1927595}"/>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B4633153-877C-400A-840D-130F1C9D4415}"/>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20</a:t>
            </a:r>
          </a:p>
        </p:txBody>
      </p:sp>
    </p:spTree>
    <p:extLst>
      <p:ext uri="{BB962C8B-B14F-4D97-AF65-F5344CB8AC3E}">
        <p14:creationId xmlns:p14="http://schemas.microsoft.com/office/powerpoint/2010/main" val="786956386"/>
      </p:ext>
    </p:extLst>
  </p:cSld>
</p:sld>
</file>

<file path=ppt/slides/slide2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669D61-6B0B-4239-99E8-AEA08B3360C1}"/>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Safe work across devices</a:t>
            </a:r>
          </a:p>
        </p:txBody>
      </p:sp>
      <p:sp>
        <p:nvSpPr>
          <p:cNvPr id="2" name="">
            <a:extLst xmlns:a="http://schemas.openxmlformats.org/drawingml/2006/main">
              <a:ext uri="{FF2B5EF4-FFF2-40B4-BE49-F238E27FC236}">
                <a16:creationId xmlns:a16="http://schemas.microsoft.com/office/drawing/2014/main" id="{37EEB8B1-3551-4AD6-B9A8-C1A6164FB239}"/>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Finish syncing before a habit-list reset on the primary laptop.</a:t>
            </a:r>
          </a:p>
        </p:txBody>
      </p:sp>
      <p:sp>
        <p:nvSpPr>
          <p:cNvPr id="3" name="">
            <a:extLst xmlns:a="http://schemas.openxmlformats.org/drawingml/2006/main">
              <a:ext uri="{FF2B5EF4-FFF2-40B4-BE49-F238E27FC236}">
                <a16:creationId xmlns:a16="http://schemas.microsoft.com/office/drawing/2014/main" id="{A100CE90-B0EF-4999-95D4-91F0B1AAF7DA}"/>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Let that reset reach Android before adding new marks there.</a:t>
            </a:r>
          </a:p>
        </p:txBody>
      </p:sp>
      <p:sp>
        <p:nvSpPr>
          <p:cNvPr id="4" name="">
            <a:extLst xmlns:a="http://schemas.openxmlformats.org/drawingml/2006/main">
              <a:ext uri="{FF2B5EF4-FFF2-40B4-BE49-F238E27FC236}">
                <a16:creationId xmlns:a16="http://schemas.microsoft.com/office/drawing/2014/main" id="{A76B460E-72B3-431D-93A8-E56EC99F82EA}"/>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Sync before month rollover so pending activity can reach the saved report.</a:t>
            </a:r>
          </a:p>
        </p:txBody>
      </p:sp>
      <p:sp>
        <p:nvSpPr>
          <p:cNvPr id="5" name="">
            <a:extLst xmlns:a="http://schemas.openxmlformats.org/drawingml/2006/main">
              <a:ext uri="{FF2B5EF4-FFF2-40B4-BE49-F238E27FC236}">
                <a16:creationId xmlns:a16="http://schemas.microsoft.com/office/drawing/2014/main" id="{20E1E9CA-7304-4B3C-B061-A308C880FBE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Avoid simultaneous offline resets. Keep a separate backup.</a:t>
            </a:r>
          </a:p>
        </p:txBody>
      </p:sp>
      <p:sp>
        <p:nvSpPr>
          <p:cNvPr id="6" name="">
            <a:extLst xmlns:a="http://schemas.openxmlformats.org/drawingml/2006/main">
              <a:ext uri="{FF2B5EF4-FFF2-40B4-BE49-F238E27FC236}">
                <a16:creationId xmlns:a16="http://schemas.microsoft.com/office/drawing/2014/main" id="{251EAA0E-ED52-44D4-ADD0-C4FEF2ABD8A8}"/>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E795C91A-D5C5-491F-A2B4-234D72067D83}"/>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21</a:t>
            </a:r>
          </a:p>
        </p:txBody>
      </p:sp>
    </p:spTree>
    <p:extLst>
      <p:ext uri="{BB962C8B-B14F-4D97-AF65-F5344CB8AC3E}">
        <p14:creationId xmlns:p14="http://schemas.microsoft.com/office/powerpoint/2010/main" val="365177639"/>
      </p:ext>
    </p:extLst>
  </p:cSld>
</p:sld>
</file>

<file path=ppt/slides/slide2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56443A-A4DB-44C2-86AF-14A7DEB3A4E6}"/>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Upgrade without losing history</a:t>
            </a:r>
          </a:p>
        </p:txBody>
      </p:sp>
      <p:sp>
        <p:nvSpPr>
          <p:cNvPr id="2" name="">
            <a:extLst xmlns:a="http://schemas.openxmlformats.org/drawingml/2006/main">
              <a:ext uri="{FF2B5EF4-FFF2-40B4-BE49-F238E27FC236}">
                <a16:creationId xmlns:a16="http://schemas.microsoft.com/office/drawing/2014/main" id="{26DB71BB-F962-4ECA-AB94-DB73975BF3AA}"/>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Back up and finish syncing, then close or force-stop Obsidian.</a:t>
            </a:r>
          </a:p>
        </p:txBody>
      </p:sp>
      <p:sp>
        <p:nvSpPr>
          <p:cNvPr id="3" name="">
            <a:extLst xmlns:a="http://schemas.openxmlformats.org/drawingml/2006/main">
              <a:ext uri="{FF2B5EF4-FFF2-40B4-BE49-F238E27FC236}">
                <a16:creationId xmlns:a16="http://schemas.microsoft.com/office/drawing/2014/main" id="{9C388016-A379-49CF-8A27-096687D04FD0}"/>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Replace main.js, manifest.json, styles.css and the plugin-folder hex-color-list.md.</a:t>
            </a:r>
          </a:p>
        </p:txBody>
      </p:sp>
      <p:sp>
        <p:nvSpPr>
          <p:cNvPr id="4" name="">
            <a:extLst xmlns:a="http://schemas.openxmlformats.org/drawingml/2006/main">
              <a:ext uri="{FF2B5EF4-FFF2-40B4-BE49-F238E27FC236}">
                <a16:creationId xmlns:a16="http://schemas.microsoft.com/office/drawing/2014/main" id="{648A606A-8B41-4E74-A576-560A65ECFC7E}"/>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Keep plugin data.json and the entire vault Habit Tracker folder.</a:t>
            </a:r>
          </a:p>
        </p:txBody>
      </p:sp>
      <p:sp>
        <p:nvSpPr>
          <p:cNvPr id="5" name="">
            <a:extLst xmlns:a="http://schemas.openxmlformats.org/drawingml/2006/main">
              <a:ext uri="{FF2B5EF4-FFF2-40B4-BE49-F238E27FC236}">
                <a16:creationId xmlns:a16="http://schemas.microsoft.com/office/drawing/2014/main" id="{5A4E16F1-7BA1-4A31-87C6-921E54C691D3}"/>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Restart and verify the version. Updating code alone requires no habit-list reset.</a:t>
            </a:r>
          </a:p>
        </p:txBody>
      </p:sp>
      <p:sp>
        <p:nvSpPr>
          <p:cNvPr id="6" name="">
            <a:extLst xmlns:a="http://schemas.openxmlformats.org/drawingml/2006/main">
              <a:ext uri="{FF2B5EF4-FFF2-40B4-BE49-F238E27FC236}">
                <a16:creationId xmlns:a16="http://schemas.microsoft.com/office/drawing/2014/main" id="{7D951DC9-FA5E-42BE-8E3C-013EEF1FCD7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79C81EF3-7646-476B-B6EC-2BF010C41470}"/>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22</a:t>
            </a:r>
          </a:p>
        </p:txBody>
      </p:sp>
    </p:spTree>
    <p:extLst>
      <p:ext uri="{BB962C8B-B14F-4D97-AF65-F5344CB8AC3E}">
        <p14:creationId xmlns:p14="http://schemas.microsoft.com/office/powerpoint/2010/main" val="1733090487"/>
      </p:ext>
    </p:extLst>
  </p:cSld>
</p:sld>
</file>

<file path=ppt/slides/slide2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92E051-3271-45CA-A864-1E2137E06480}"/>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Troubleshooting</a:t>
            </a:r>
          </a:p>
        </p:txBody>
      </p:sp>
      <p:sp>
        <p:nvSpPr>
          <p:cNvPr id="2" name="">
            <a:extLst xmlns:a="http://schemas.openxmlformats.org/drawingml/2006/main">
              <a:ext uri="{FF2B5EF4-FFF2-40B4-BE49-F238E27FC236}">
                <a16:creationId xmlns:a16="http://schemas.microsoft.com/office/drawing/2014/main" id="{6BA89E72-43DE-4F5D-9B30-59FE10295783}"/>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Plugin missing: check vault, directory nesting and exact filenames.</a:t>
            </a:r>
          </a:p>
        </p:txBody>
      </p:sp>
      <p:sp>
        <p:nvSpPr>
          <p:cNvPr id="3" name="">
            <a:extLst xmlns:a="http://schemas.openxmlformats.org/drawingml/2006/main">
              <a:ext uri="{FF2B5EF4-FFF2-40B4-BE49-F238E27FC236}">
                <a16:creationId xmlns:a16="http://schemas.microsoft.com/office/drawing/2014/main" id="{8CD508DD-F2E1-419D-802E-7063B1AF2E64}"/>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Controls visible but no calendars: check Y rows and whether list changes were declined.</a:t>
            </a:r>
          </a:p>
        </p:txBody>
      </p:sp>
      <p:sp>
        <p:nvSpPr>
          <p:cNvPr id="4" name="">
            <a:extLst xmlns:a="http://schemas.openxmlformats.org/drawingml/2006/main">
              <a:ext uri="{FF2B5EF4-FFF2-40B4-BE49-F238E27FC236}">
                <a16:creationId xmlns:a16="http://schemas.microsoft.com/office/drawing/2014/main" id="{39144E2E-A9BA-427C-ABD9-EEC462E09491}"/>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Blank view: run Open current month and try the note in Reading view.</a:t>
            </a:r>
          </a:p>
        </p:txBody>
      </p:sp>
      <p:sp>
        <p:nvSpPr>
          <p:cNvPr id="5" name="">
            <a:extLst xmlns:a="http://schemas.openxmlformats.org/drawingml/2006/main">
              <a:ext uri="{FF2B5EF4-FFF2-40B4-BE49-F238E27FC236}">
                <a16:creationId xmlns:a16="http://schemas.microsoft.com/office/drawing/2014/main" id="{E4855899-9F88-49D7-9E63-FFF04749F6EE}"/>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Report the app version, plugin version, phone/OS, steps and exact error text.</a:t>
            </a:r>
          </a:p>
        </p:txBody>
      </p:sp>
      <p:sp>
        <p:nvSpPr>
          <p:cNvPr id="6" name="">
            <a:extLst xmlns:a="http://schemas.openxmlformats.org/drawingml/2006/main">
              <a:ext uri="{FF2B5EF4-FFF2-40B4-BE49-F238E27FC236}">
                <a16:creationId xmlns:a16="http://schemas.microsoft.com/office/drawing/2014/main" id="{C5F7D7FB-6BA2-4363-B914-EA14713B7CE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7B5899B0-F394-420B-8408-A240FF3F030B}"/>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23</a:t>
            </a:r>
          </a:p>
        </p:txBody>
      </p:sp>
    </p:spTree>
    <p:extLst>
      <p:ext uri="{BB962C8B-B14F-4D97-AF65-F5344CB8AC3E}">
        <p14:creationId xmlns:p14="http://schemas.microsoft.com/office/powerpoint/2010/main" val="1641408293"/>
      </p:ext>
    </p:extLst>
  </p:cSld>
</p:sld>
</file>

<file path=ppt/slides/slide2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C40C2D-0918-4846-9F03-8A1D3C350FCC}"/>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Maintainer: repository and release</a:t>
            </a:r>
          </a:p>
        </p:txBody>
      </p:sp>
      <p:sp>
        <p:nvSpPr>
          <p:cNvPr id="2" name="">
            <a:extLst xmlns:a="http://schemas.openxmlformats.org/drawingml/2006/main">
              <a:ext uri="{FF2B5EF4-FFF2-40B4-BE49-F238E27FC236}">
                <a16:creationId xmlns:a16="http://schemas.microsoft.com/office/drawing/2014/main" id="{7EA2AEA9-E7CB-4E7D-BACA-ABF166387137}"/>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Upload repository/ contents to the GitHub repository root, including hidden files.</a:t>
            </a:r>
          </a:p>
        </p:txBody>
      </p:sp>
      <p:sp>
        <p:nvSpPr>
          <p:cNvPr id="3" name="">
            <a:extLst xmlns:a="http://schemas.openxmlformats.org/drawingml/2006/main">
              <a:ext uri="{FF2B5EF4-FFF2-40B4-BE49-F238E27FC236}">
                <a16:creationId xmlns:a16="http://schemas.microsoft.com/office/drawing/2014/main" id="{AB941E87-DBA6-419E-9AC5-A171E82CD305}"/>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README.md, LICENSE and manifest.json belong at that root.</a:t>
            </a:r>
          </a:p>
        </p:txBody>
      </p:sp>
      <p:sp>
        <p:nvSpPr>
          <p:cNvPr id="4" name="">
            <a:extLst xmlns:a="http://schemas.openxmlformats.org/drawingml/2006/main">
              <a:ext uri="{FF2B5EF4-FFF2-40B4-BE49-F238E27FC236}">
                <a16:creationId xmlns:a16="http://schemas.microsoft.com/office/drawing/2014/main" id="{9335952C-09DB-430E-B65C-612FCF049F9D}"/>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Attach each of the six release-assets files separately to tag 1.1.1.</a:t>
            </a:r>
          </a:p>
        </p:txBody>
      </p:sp>
      <p:sp>
        <p:nvSpPr>
          <p:cNvPr id="5" name="">
            <a:extLst xmlns:a="http://schemas.openxmlformats.org/drawingml/2006/main">
              <a:ext uri="{FF2B5EF4-FFF2-40B4-BE49-F238E27FC236}">
                <a16:creationId xmlns:a16="http://schemas.microsoft.com/office/drawing/2014/main" id="{14E3083E-E789-4C62-974F-246F41D58CF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Keep the personal habit list and test vault outside the public repository.</a:t>
            </a:r>
          </a:p>
        </p:txBody>
      </p:sp>
      <p:sp>
        <p:nvSpPr>
          <p:cNvPr id="6" name="">
            <a:extLst xmlns:a="http://schemas.openxmlformats.org/drawingml/2006/main">
              <a:ext uri="{FF2B5EF4-FFF2-40B4-BE49-F238E27FC236}">
                <a16:creationId xmlns:a16="http://schemas.microsoft.com/office/drawing/2014/main" id="{DA43C288-7589-4AC9-A044-9D842C4DD30E}"/>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7D99D835-3676-4671-90F9-64CCE7AAE813}"/>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24</a:t>
            </a:r>
          </a:p>
        </p:txBody>
      </p:sp>
    </p:spTree>
    <p:extLst>
      <p:ext uri="{BB962C8B-B14F-4D97-AF65-F5344CB8AC3E}">
        <p14:creationId xmlns:p14="http://schemas.microsoft.com/office/powerpoint/2010/main" val="109499648"/>
      </p:ext>
    </p:extLst>
  </p:cSld>
</p:sld>
</file>

<file path=ppt/slides/slide2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89086D-14EA-4A91-BB4A-08B2C2B7AE74}"/>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Maintainer: acceptance tests</a:t>
            </a:r>
          </a:p>
        </p:txBody>
      </p:sp>
      <p:sp>
        <p:nvSpPr>
          <p:cNvPr id="2" name="">
            <a:extLst xmlns:a="http://schemas.openxmlformats.org/drawingml/2006/main">
              <a:ext uri="{FF2B5EF4-FFF2-40B4-BE49-F238E27FC236}">
                <a16:creationId xmlns:a16="http://schemas.microsoft.com/office/drawing/2014/main" id="{13182906-30DD-4469-85B9-223B02884987}"/>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Run npm ci --ignore-scripts, npm run check and npm run test:helper.</a:t>
            </a:r>
          </a:p>
        </p:txBody>
      </p:sp>
      <p:sp>
        <p:nvSpPr>
          <p:cNvPr id="3" name="">
            <a:extLst xmlns:a="http://schemas.openxmlformats.org/drawingml/2006/main">
              <a:ext uri="{FF2B5EF4-FFF2-40B4-BE49-F238E27FC236}">
                <a16:creationId xmlns:a16="http://schemas.microsoft.com/office/drawing/2014/main" id="{C3E663D3-3EAA-492E-A9F9-7BF48F9FA300}"/>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Download the published release into a fresh folder and verify its checksums.</a:t>
            </a:r>
          </a:p>
        </p:txBody>
      </p:sp>
      <p:sp>
        <p:nvSpPr>
          <p:cNvPr id="4" name="">
            <a:extLst xmlns:a="http://schemas.openxmlformats.org/drawingml/2006/main">
              <a:ext uri="{FF2B5EF4-FFF2-40B4-BE49-F238E27FC236}">
                <a16:creationId xmlns:a16="http://schemas.microsoft.com/office/drawing/2014/main" id="{A9FD5195-9234-4CE7-BCB9-D46AF18DF490}"/>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Test installation, marking, restart, Yes/No changes, colors and frozen history on both devices.</a:t>
            </a:r>
          </a:p>
        </p:txBody>
      </p:sp>
      <p:sp>
        <p:nvSpPr>
          <p:cNvPr id="5" name="">
            <a:extLst xmlns:a="http://schemas.openxmlformats.org/drawingml/2006/main">
              <a:ext uri="{FF2B5EF4-FFF2-40B4-BE49-F238E27FC236}">
                <a16:creationId xmlns:a16="http://schemas.microsoft.com/office/drawing/2014/main" id="{41DE0717-2035-49AA-9F39-A172F65B2468}"/>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Record exact versions and outcomes in TEST-RESULTS-TEMPLATE.md.</a:t>
            </a:r>
          </a:p>
        </p:txBody>
      </p:sp>
      <p:sp>
        <p:nvSpPr>
          <p:cNvPr id="6" name="">
            <a:extLst xmlns:a="http://schemas.openxmlformats.org/drawingml/2006/main">
              <a:ext uri="{FF2B5EF4-FFF2-40B4-BE49-F238E27FC236}">
                <a16:creationId xmlns:a16="http://schemas.microsoft.com/office/drawing/2014/main" id="{CF609F5A-85D7-47F7-912F-A976A34CCCD7}"/>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38018F1F-8748-4D4F-8094-E40585F22D53}"/>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25</a:t>
            </a:r>
          </a:p>
        </p:txBody>
      </p:sp>
    </p:spTree>
    <p:extLst>
      <p:ext uri="{BB962C8B-B14F-4D97-AF65-F5344CB8AC3E}">
        <p14:creationId xmlns:p14="http://schemas.microsoft.com/office/powerpoint/2010/main" val="870038696"/>
      </p:ext>
    </p:extLst>
  </p:cSld>
</p:sld>
</file>

<file path=ppt/slides/slide2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A777C3-A4AE-42E4-BDED-1FA6F0B32E5D}"/>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Maintainer: Community submission</a:t>
            </a:r>
          </a:p>
        </p:txBody>
      </p:sp>
      <p:sp>
        <p:nvSpPr>
          <p:cNvPr id="2" name="">
            <a:extLst xmlns:a="http://schemas.openxmlformats.org/drawingml/2006/main">
              <a:ext uri="{FF2B5EF4-FFF2-40B4-BE49-F238E27FC236}">
                <a16:creationId xmlns:a16="http://schemas.microsoft.com/office/drawing/2014/main" id="{85A30F59-6564-4FB1-8311-5503FE592CD8}"/>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Make the intended public repository and matching normal release available.</a:t>
            </a:r>
          </a:p>
        </p:txBody>
      </p:sp>
      <p:sp>
        <p:nvSpPr>
          <p:cNvPr id="3" name="">
            <a:extLst xmlns:a="http://schemas.openxmlformats.org/drawingml/2006/main">
              <a:ext uri="{FF2B5EF4-FFF2-40B4-BE49-F238E27FC236}">
                <a16:creationId xmlns:a16="http://schemas.microsoft.com/office/drawing/2014/main" id="{512FE2D3-903F-4239-9660-7847F5899534}"/>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Sign in at community.obsidian.md and connect GitHub.</a:t>
            </a:r>
          </a:p>
        </p:txBody>
      </p:sp>
      <p:sp>
        <p:nvSpPr>
          <p:cNvPr id="4" name="">
            <a:extLst xmlns:a="http://schemas.openxmlformats.org/drawingml/2006/main">
              <a:ext uri="{FF2B5EF4-FFF2-40B4-BE49-F238E27FC236}">
                <a16:creationId xmlns:a16="http://schemas.microsoft.com/office/drawing/2014/main" id="{276C6C1D-24EB-4C45-A7F0-118C7C02849E}"/>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Go to Plugins, New plugin. Enter the repository URL and owner, then submit.</a:t>
            </a:r>
          </a:p>
        </p:txBody>
      </p:sp>
      <p:sp>
        <p:nvSpPr>
          <p:cNvPr id="5" name="">
            <a:extLst xmlns:a="http://schemas.openxmlformats.org/drawingml/2006/main">
              <a:ext uri="{FF2B5EF4-FFF2-40B4-BE49-F238E27FC236}">
                <a16:creationId xmlns:a16="http://schemas.microsoft.com/office/drawing/2014/main" id="{3E550686-513E-4E5E-A1F2-A7930E2A9377}"/>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Resolve review errors and publish the listing. Confirm installation from the app’s Community browser.</a:t>
            </a:r>
          </a:p>
        </p:txBody>
      </p:sp>
      <p:sp>
        <p:nvSpPr>
          <p:cNvPr id="6" name="">
            <a:extLst xmlns:a="http://schemas.openxmlformats.org/drawingml/2006/main">
              <a:ext uri="{FF2B5EF4-FFF2-40B4-BE49-F238E27FC236}">
                <a16:creationId xmlns:a16="http://schemas.microsoft.com/office/drawing/2014/main" id="{D4E281EE-2599-4DA4-BC7C-66A58034E45D}"/>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157A1A35-8F75-4155-A265-0E75177ACC35}"/>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26</a:t>
            </a:r>
          </a:p>
        </p:txBody>
      </p:sp>
    </p:spTree>
    <p:extLst>
      <p:ext uri="{BB962C8B-B14F-4D97-AF65-F5344CB8AC3E}">
        <p14:creationId xmlns:p14="http://schemas.microsoft.com/office/powerpoint/2010/main" val="1623824042"/>
      </p:ext>
    </p:extLst>
  </p:cSld>
</p:sld>
</file>

<file path=ppt/slides/slide2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F0C14D-AC50-4823-B7A9-05FEA26744A2}"/>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Maintainer: review and updates</a:t>
            </a:r>
          </a:p>
        </p:txBody>
      </p:sp>
      <p:sp>
        <p:nvSpPr>
          <p:cNvPr id="2" name="">
            <a:extLst xmlns:a="http://schemas.openxmlformats.org/drawingml/2006/main">
              <a:ext uri="{FF2B5EF4-FFF2-40B4-BE49-F238E27FC236}">
                <a16:creationId xmlns:a16="http://schemas.microsoft.com/office/drawing/2014/main" id="{2710934A-2E9A-4126-BAF6-FE419870A962}"/>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The directory checks manifest, release assets, source and build verification.</a:t>
            </a:r>
          </a:p>
        </p:txBody>
      </p:sp>
      <p:sp>
        <p:nvSpPr>
          <p:cNvPr id="3" name="">
            <a:extLst xmlns:a="http://schemas.openxmlformats.org/drawingml/2006/main">
              <a:ext uri="{FF2B5EF4-FFF2-40B4-BE49-F238E27FC236}">
                <a16:creationId xmlns:a16="http://schemas.microsoft.com/office/drawing/2014/main" id="{7F001E33-58F3-4960-A4B2-4FA86B42CA7B}"/>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Use Review branch for a preview scan when the entry management page offers it.</a:t>
            </a:r>
          </a:p>
        </p:txBody>
      </p:sp>
      <p:sp>
        <p:nvSpPr>
          <p:cNvPr id="4" name="">
            <a:extLst xmlns:a="http://schemas.openxmlformats.org/drawingml/2006/main">
              <a:ext uri="{FF2B5EF4-FFF2-40B4-BE49-F238E27FC236}">
                <a16:creationId xmlns:a16="http://schemas.microsoft.com/office/drawing/2014/main" id="{206F3415-1E64-495C-914C-3B102142F586}"/>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Fix issues in a new version and release. Local lint does not grant acceptance.</a:t>
            </a:r>
          </a:p>
        </p:txBody>
      </p:sp>
      <p:sp>
        <p:nvSpPr>
          <p:cNvPr id="5" name="">
            <a:extLst xmlns:a="http://schemas.openxmlformats.org/drawingml/2006/main">
              <a:ext uri="{FF2B5EF4-FFF2-40B4-BE49-F238E27FC236}">
                <a16:creationId xmlns:a16="http://schemas.microsoft.com/office/drawing/2014/main" id="{06EA9581-9CC6-4DA8-895B-7CB3E28725D3}"/>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For future versions, publish matching release assets and monitor new review results.</a:t>
            </a:r>
          </a:p>
        </p:txBody>
      </p:sp>
      <p:sp>
        <p:nvSpPr>
          <p:cNvPr id="6" name="">
            <a:extLst xmlns:a="http://schemas.openxmlformats.org/drawingml/2006/main">
              <a:ext uri="{FF2B5EF4-FFF2-40B4-BE49-F238E27FC236}">
                <a16:creationId xmlns:a16="http://schemas.microsoft.com/office/drawing/2014/main" id="{0DF54007-CB05-4977-A0D5-82A86551F482}"/>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A6268A78-1966-4FA3-BBC3-2DF0529BC9EB}"/>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27</a:t>
            </a:r>
          </a:p>
        </p:txBody>
      </p:sp>
    </p:spTree>
    <p:extLst>
      <p:ext uri="{BB962C8B-B14F-4D97-AF65-F5344CB8AC3E}">
        <p14:creationId xmlns:p14="http://schemas.microsoft.com/office/powerpoint/2010/main" val="1387818242"/>
      </p:ext>
    </p:extLst>
  </p:cSld>
</p:sld>
</file>

<file path=ppt/slides/slide2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2EFAC1-7839-436A-9A4C-54BABB017259}"/>
              </a:ext>
            </a:extLst>
          </p:cNvPr>
          <p:cNvSpPr>
            <a:spLocks xmlns:a="http://schemas.openxmlformats.org/drawingml/2006/main" noGrp="1"/>
          </p:cNvSpPr>
          <p:nvPr/>
        </p:nvSpPr>
        <p:spPr>
          <a:xfrm xmlns:a="http://schemas.openxmlformats.org/drawingml/2006/main">
            <a:off x="609600" y="40005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D38"/>
                </a:solidFill>
                <a:latin typeface="DejaVu Sans"/>
                <a:ea typeface="DejaVu Sans"/>
                <a:cs typeface="DejaVu Sans"/>
              </a:defRPr>
            </a:defPPr>
            <a:lvl1pPr>
              <a:defRPr sz="3300" b="1">
                <a:solidFill>
                  <a:srgbClr val="153D38"/>
                </a:solidFill>
                <a:latin typeface="DejaVu Sans"/>
                <a:ea typeface="DejaVu Sans"/>
                <a:cs typeface="DejaVu Sans"/>
              </a:defRPr>
            </a:lvl1pPr>
            <a:lvl2pPr>
              <a:defRPr sz="3300" b="1">
                <a:solidFill>
                  <a:srgbClr val="153D38"/>
                </a:solidFill>
                <a:latin typeface="DejaVu Sans"/>
                <a:ea typeface="DejaVu Sans"/>
                <a:cs typeface="DejaVu Sans"/>
              </a:defRPr>
            </a:lvl2pPr>
            <a:lvl3pPr>
              <a:defRPr sz="3300" b="1">
                <a:solidFill>
                  <a:srgbClr val="153D38"/>
                </a:solidFill>
                <a:latin typeface="DejaVu Sans"/>
                <a:ea typeface="DejaVu Sans"/>
                <a:cs typeface="DejaVu Sans"/>
              </a:defRPr>
            </a:lvl3pPr>
            <a:lvl4pPr>
              <a:defRPr sz="3300" b="1">
                <a:solidFill>
                  <a:srgbClr val="153D38"/>
                </a:solidFill>
                <a:latin typeface="DejaVu Sans"/>
                <a:ea typeface="DejaVu Sans"/>
                <a:cs typeface="DejaVu Sans"/>
              </a:defRPr>
            </a:lvl4pPr>
            <a:lvl5pPr>
              <a:defRPr sz="3300" b="1">
                <a:solidFill>
                  <a:srgbClr val="153D38"/>
                </a:solidFill>
                <a:latin typeface="DejaVu Sans"/>
                <a:ea typeface="DejaVu Sans"/>
                <a:cs typeface="DejaVu Sans"/>
              </a:defRPr>
            </a:lvl5pPr>
            <a:lvl6pPr>
              <a:defRPr sz="3300" b="1">
                <a:solidFill>
                  <a:srgbClr val="153D38"/>
                </a:solidFill>
                <a:latin typeface="DejaVu Sans"/>
                <a:ea typeface="DejaVu Sans"/>
                <a:cs typeface="DejaVu Sans"/>
              </a:defRPr>
            </a:lvl6pPr>
            <a:lvl7pPr>
              <a:defRPr sz="3300" b="1">
                <a:solidFill>
                  <a:srgbClr val="153D38"/>
                </a:solidFill>
                <a:latin typeface="DejaVu Sans"/>
                <a:ea typeface="DejaVu Sans"/>
                <a:cs typeface="DejaVu Sans"/>
              </a:defRPr>
            </a:lvl7pPr>
            <a:lvl8pPr>
              <a:defRPr sz="3300" b="1">
                <a:solidFill>
                  <a:srgbClr val="153D38"/>
                </a:solidFill>
                <a:latin typeface="DejaVu Sans"/>
                <a:ea typeface="DejaVu Sans"/>
                <a:cs typeface="DejaVu Sans"/>
              </a:defRPr>
            </a:lvl8pPr>
            <a:lvl9pPr>
              <a:defRPr sz="3300" b="1">
                <a:solidFill>
                  <a:srgbClr val="153D38"/>
                </a:solidFill>
                <a:latin typeface="DejaVu Sans"/>
                <a:ea typeface="DejaVu Sans"/>
                <a:cs typeface="DejaVu Sans"/>
              </a:defRPr>
            </a:lvl9pPr>
          </a:lstStyle>
          <a:p xmlns:a="http://schemas.openxmlformats.org/drawingml/2006/main">
            <a:pPr>
              <a:defRPr sz="3300" b="1">
                <a:solidFill>
                  <a:srgbClr val="153D38"/>
                </a:solidFill>
                <a:latin typeface="DejaVu Sans"/>
                <a:ea typeface="DejaVu Sans"/>
                <a:cs typeface="DejaVu Sans"/>
              </a:defRPr>
            </a:pPr>
            <a:r>
              <a:rPr sz="3300" b="1">
                <a:solidFill>
                  <a:srgbClr val="153D38"/>
                </a:solidFill>
                <a:latin typeface="DejaVu Sans"/>
                <a:ea typeface="DejaVu Sans"/>
                <a:cs typeface="DejaVu Sans"/>
              </a:rPr>
              <a:t>Reference files</a:t>
            </a:r>
          </a:p>
        </p:txBody>
      </p:sp>
      <p:sp>
        <p:nvSpPr>
          <p:cNvPr id="2" name="">
            <a:extLst xmlns:a="http://schemas.openxmlformats.org/drawingml/2006/main">
              <a:ext uri="{FF2B5EF4-FFF2-40B4-BE49-F238E27FC236}">
                <a16:creationId xmlns:a16="http://schemas.microsoft.com/office/drawing/2014/main" id="{37BCEE62-9B03-4A95-8034-C5C5EE7D5625}"/>
              </a:ext>
            </a:extLst>
          </p:cNvPr>
          <p:cNvSpPr>
            <a:spLocks xmlns:a="http://schemas.openxmlformats.org/drawingml/2006/main" noGrp="1"/>
          </p:cNvSpPr>
          <p:nvPr/>
        </p:nvSpPr>
        <p:spPr>
          <a:xfrm xmlns:a="http://schemas.openxmlformats.org/drawingml/2006/main">
            <a:off x="666750" y="158115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docs/INSTALL-DOWNLOAD.md: detailed installation and upgrades.</a:t>
            </a:r>
          </a:p>
        </p:txBody>
      </p:sp>
      <p:sp>
        <p:nvSpPr>
          <p:cNvPr id="3" name="">
            <a:extLst xmlns:a="http://schemas.openxmlformats.org/drawingml/2006/main">
              <a:ext uri="{FF2B5EF4-FFF2-40B4-BE49-F238E27FC236}">
                <a16:creationId xmlns:a16="http://schemas.microsoft.com/office/drawing/2014/main" id="{28071F0C-E3F9-4AA2-8540-5EE38AC0E16B}"/>
              </a:ext>
            </a:extLst>
          </p:cNvPr>
          <p:cNvSpPr>
            <a:spLocks xmlns:a="http://schemas.openxmlformats.org/drawingml/2006/main" noGrp="1"/>
          </p:cNvSpPr>
          <p:nvPr/>
        </p:nvSpPr>
        <p:spPr>
          <a:xfrm xmlns:a="http://schemas.openxmlformats.org/drawingml/2006/main">
            <a:off x="666750" y="265747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docs/TUTORIAL.md: practice exercises and history behaviour.</a:t>
            </a:r>
          </a:p>
        </p:txBody>
      </p:sp>
      <p:sp>
        <p:nvSpPr>
          <p:cNvPr id="4" name="">
            <a:extLst xmlns:a="http://schemas.openxmlformats.org/drawingml/2006/main">
              <a:ext uri="{FF2B5EF4-FFF2-40B4-BE49-F238E27FC236}">
                <a16:creationId xmlns:a16="http://schemas.microsoft.com/office/drawing/2014/main" id="{917CFD41-94AA-4DDB-AE7C-5C10191ACB11}"/>
              </a:ext>
            </a:extLst>
          </p:cNvPr>
          <p:cNvSpPr>
            <a:spLocks xmlns:a="http://schemas.openxmlformats.org/drawingml/2006/main" noGrp="1"/>
          </p:cNvSpPr>
          <p:nvPr/>
        </p:nvSpPr>
        <p:spPr>
          <a:xfrm xmlns:a="http://schemas.openxmlformats.org/drawingml/2006/main">
            <a:off x="666750" y="3733800"/>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docs/GITHUB-AND-COMMUNITY-RELEASE.md: testing and submission.</a:t>
            </a:r>
          </a:p>
        </p:txBody>
      </p:sp>
      <p:sp>
        <p:nvSpPr>
          <p:cNvPr id="5" name="">
            <a:extLst xmlns:a="http://schemas.openxmlformats.org/drawingml/2006/main">
              <a:ext uri="{FF2B5EF4-FFF2-40B4-BE49-F238E27FC236}">
                <a16:creationId xmlns:a16="http://schemas.microsoft.com/office/drawing/2014/main" id="{65BDBBAE-99C3-489E-BB1D-CDDD178D630D}"/>
              </a:ext>
            </a:extLst>
          </p:cNvPr>
          <p:cNvSpPr>
            <a:spLocks xmlns:a="http://schemas.openxmlformats.org/drawingml/2006/main" noGrp="1"/>
          </p:cNvSpPr>
          <p:nvPr/>
        </p:nvSpPr>
        <p:spPr>
          <a:xfrm xmlns:a="http://schemas.openxmlformats.org/drawingml/2006/main">
            <a:off x="666750" y="4810125"/>
            <a:ext cx="107442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344"/>
                </a:solidFill>
                <a:latin typeface="DejaVu Sans"/>
                <a:ea typeface="DejaVu Sans"/>
                <a:cs typeface="DejaVu Sans"/>
              </a:defRPr>
            </a:defPPr>
            <a:lvl1pPr>
              <a:defRPr sz="2175" b="0">
                <a:solidFill>
                  <a:srgbClr val="243344"/>
                </a:solidFill>
                <a:latin typeface="DejaVu Sans"/>
                <a:ea typeface="DejaVu Sans"/>
                <a:cs typeface="DejaVu Sans"/>
              </a:defRPr>
            </a:lvl1pPr>
            <a:lvl2pPr>
              <a:defRPr sz="2175" b="0">
                <a:solidFill>
                  <a:srgbClr val="243344"/>
                </a:solidFill>
                <a:latin typeface="DejaVu Sans"/>
                <a:ea typeface="DejaVu Sans"/>
                <a:cs typeface="DejaVu Sans"/>
              </a:defRPr>
            </a:lvl2pPr>
            <a:lvl3pPr>
              <a:defRPr sz="2175" b="0">
                <a:solidFill>
                  <a:srgbClr val="243344"/>
                </a:solidFill>
                <a:latin typeface="DejaVu Sans"/>
                <a:ea typeface="DejaVu Sans"/>
                <a:cs typeface="DejaVu Sans"/>
              </a:defRPr>
            </a:lvl3pPr>
            <a:lvl4pPr>
              <a:defRPr sz="2175" b="0">
                <a:solidFill>
                  <a:srgbClr val="243344"/>
                </a:solidFill>
                <a:latin typeface="DejaVu Sans"/>
                <a:ea typeface="DejaVu Sans"/>
                <a:cs typeface="DejaVu Sans"/>
              </a:defRPr>
            </a:lvl4pPr>
            <a:lvl5pPr>
              <a:defRPr sz="2175" b="0">
                <a:solidFill>
                  <a:srgbClr val="243344"/>
                </a:solidFill>
                <a:latin typeface="DejaVu Sans"/>
                <a:ea typeface="DejaVu Sans"/>
                <a:cs typeface="DejaVu Sans"/>
              </a:defRPr>
            </a:lvl5pPr>
            <a:lvl6pPr>
              <a:defRPr sz="2175" b="0">
                <a:solidFill>
                  <a:srgbClr val="243344"/>
                </a:solidFill>
                <a:latin typeface="DejaVu Sans"/>
                <a:ea typeface="DejaVu Sans"/>
                <a:cs typeface="DejaVu Sans"/>
              </a:defRPr>
            </a:lvl6pPr>
            <a:lvl7pPr>
              <a:defRPr sz="2175" b="0">
                <a:solidFill>
                  <a:srgbClr val="243344"/>
                </a:solidFill>
                <a:latin typeface="DejaVu Sans"/>
                <a:ea typeface="DejaVu Sans"/>
                <a:cs typeface="DejaVu Sans"/>
              </a:defRPr>
            </a:lvl7pPr>
            <a:lvl8pPr>
              <a:defRPr sz="2175" b="0">
                <a:solidFill>
                  <a:srgbClr val="243344"/>
                </a:solidFill>
                <a:latin typeface="DejaVu Sans"/>
                <a:ea typeface="DejaVu Sans"/>
                <a:cs typeface="DejaVu Sans"/>
              </a:defRPr>
            </a:lvl8pPr>
            <a:lvl9pPr>
              <a:defRPr sz="2175" b="0">
                <a:solidFill>
                  <a:srgbClr val="243344"/>
                </a:solidFill>
                <a:latin typeface="DejaVu Sans"/>
                <a:ea typeface="DejaVu Sans"/>
                <a:cs typeface="DejaVu Sans"/>
              </a:defRPr>
            </a:lvl9pPr>
          </a:lstStyle>
          <a:p xmlns:a="http://schemas.openxmlformats.org/drawingml/2006/main">
            <a:pPr>
              <a:defRPr sz="2175" b="0">
                <a:solidFill>
                  <a:srgbClr val="243344"/>
                </a:solidFill>
                <a:latin typeface="DejaVu Sans"/>
                <a:ea typeface="DejaVu Sans"/>
                <a:cs typeface="DejaVu Sans"/>
              </a:defRPr>
            </a:pPr>
            <a:r>
              <a:rPr sz="2175" b="0">
                <a:solidFill>
                  <a:srgbClr val="243344"/>
                </a:solidFill>
                <a:latin typeface="DejaVu Sans"/>
                <a:ea typeface="DejaVu Sans"/>
                <a:cs typeface="DejaVu Sans"/>
              </a:rPr>
              <a:t>docs/DESIGN-DECISIONS.md: confirmed choices and remaining questions.</a:t>
            </a:r>
          </a:p>
        </p:txBody>
      </p:sp>
      <p:sp>
        <p:nvSpPr>
          <p:cNvPr id="6" name="">
            <a:extLst xmlns:a="http://schemas.openxmlformats.org/drawingml/2006/main">
              <a:ext uri="{FF2B5EF4-FFF2-40B4-BE49-F238E27FC236}">
                <a16:creationId xmlns:a16="http://schemas.microsoft.com/office/drawing/2014/main" id="{3188D099-E19B-472E-B859-47E4E86BFF4D}"/>
              </a:ext>
            </a:extLst>
          </p:cNvPr>
          <p:cNvSpPr>
            <a:spLocks xmlns:a="http://schemas.openxmlformats.org/drawingml/2006/main" noGrp="1"/>
          </p:cNvSpPr>
          <p:nvPr/>
        </p:nvSpPr>
        <p:spPr>
          <a:xfrm xmlns:a="http://schemas.openxmlformats.org/drawingml/2006/main">
            <a:off x="6477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77068"/>
                </a:solidFill>
                <a:latin typeface="DejaVu Sans"/>
                <a:ea typeface="DejaVu Sans"/>
                <a:cs typeface="DejaVu Sans"/>
              </a:defRPr>
            </a:defPPr>
            <a:lvl1pPr>
              <a:defRPr sz="1200" b="0">
                <a:solidFill>
                  <a:srgbClr val="577068"/>
                </a:solidFill>
                <a:latin typeface="DejaVu Sans"/>
                <a:ea typeface="DejaVu Sans"/>
                <a:cs typeface="DejaVu Sans"/>
              </a:defRPr>
            </a:lvl1pPr>
            <a:lvl2pPr>
              <a:defRPr sz="1200" b="0">
                <a:solidFill>
                  <a:srgbClr val="577068"/>
                </a:solidFill>
                <a:latin typeface="DejaVu Sans"/>
                <a:ea typeface="DejaVu Sans"/>
                <a:cs typeface="DejaVu Sans"/>
              </a:defRPr>
            </a:lvl2pPr>
            <a:lvl3pPr>
              <a:defRPr sz="1200" b="0">
                <a:solidFill>
                  <a:srgbClr val="577068"/>
                </a:solidFill>
                <a:latin typeface="DejaVu Sans"/>
                <a:ea typeface="DejaVu Sans"/>
                <a:cs typeface="DejaVu Sans"/>
              </a:defRPr>
            </a:lvl3pPr>
            <a:lvl4pPr>
              <a:defRPr sz="1200" b="0">
                <a:solidFill>
                  <a:srgbClr val="577068"/>
                </a:solidFill>
                <a:latin typeface="DejaVu Sans"/>
                <a:ea typeface="DejaVu Sans"/>
                <a:cs typeface="DejaVu Sans"/>
              </a:defRPr>
            </a:lvl4pPr>
            <a:lvl5pPr>
              <a:defRPr sz="1200" b="0">
                <a:solidFill>
                  <a:srgbClr val="577068"/>
                </a:solidFill>
                <a:latin typeface="DejaVu Sans"/>
                <a:ea typeface="DejaVu Sans"/>
                <a:cs typeface="DejaVu Sans"/>
              </a:defRPr>
            </a:lvl5pPr>
            <a:lvl6pPr>
              <a:defRPr sz="1200" b="0">
                <a:solidFill>
                  <a:srgbClr val="577068"/>
                </a:solidFill>
                <a:latin typeface="DejaVu Sans"/>
                <a:ea typeface="DejaVu Sans"/>
                <a:cs typeface="DejaVu Sans"/>
              </a:defRPr>
            </a:lvl6pPr>
            <a:lvl7pPr>
              <a:defRPr sz="1200" b="0">
                <a:solidFill>
                  <a:srgbClr val="577068"/>
                </a:solidFill>
                <a:latin typeface="DejaVu Sans"/>
                <a:ea typeface="DejaVu Sans"/>
                <a:cs typeface="DejaVu Sans"/>
              </a:defRPr>
            </a:lvl7pPr>
            <a:lvl8pPr>
              <a:defRPr sz="1200" b="0">
                <a:solidFill>
                  <a:srgbClr val="577068"/>
                </a:solidFill>
                <a:latin typeface="DejaVu Sans"/>
                <a:ea typeface="DejaVu Sans"/>
                <a:cs typeface="DejaVu Sans"/>
              </a:defRPr>
            </a:lvl8pPr>
            <a:lvl9pPr>
              <a:defRPr sz="1200" b="0">
                <a:solidFill>
                  <a:srgbClr val="577068"/>
                </a:solidFill>
                <a:latin typeface="DejaVu Sans"/>
                <a:ea typeface="DejaVu Sans"/>
                <a:cs typeface="DejaVu Sans"/>
              </a:defRPr>
            </a:lvl9pPr>
          </a:lstStyle>
          <a:p xmlns:a="http://schemas.openxmlformats.org/drawingml/2006/main">
            <a:pPr>
              <a:defRPr sz="1200" b="0">
                <a:solidFill>
                  <a:srgbClr val="577068"/>
                </a:solidFill>
                <a:latin typeface="DejaVu Sans"/>
                <a:ea typeface="DejaVu Sans"/>
                <a:cs typeface="DejaVu Sans"/>
              </a:defRPr>
            </a:pPr>
            <a:r>
              <a:rPr sz="1200" b="0">
                <a:solidFill>
                  <a:srgbClr val="577068"/>
                </a:solidFill>
                <a:latin typeface="DejaVu Sans"/>
                <a:ea typeface="DejaVu Sans"/>
                <a:cs typeface="DejaVu Sans"/>
              </a:rPr>
              <a:t>Habit Calendar 001b 1.1.1</a:t>
            </a:r>
          </a:p>
        </p:txBody>
      </p:sp>
      <p:sp>
        <p:nvSpPr>
          <p:cNvPr id="7" name="">
            <a:extLst xmlns:a="http://schemas.openxmlformats.org/drawingml/2006/main">
              <a:ext uri="{FF2B5EF4-FFF2-40B4-BE49-F238E27FC236}">
                <a16:creationId xmlns:a16="http://schemas.microsoft.com/office/drawing/2014/main" id="{B85461A2-8364-44C1-A271-F6128655B141}"/>
              </a:ext>
            </a:extLst>
          </p:cNvPr>
          <p:cNvSpPr>
            <a:spLocks xmlns:a="http://schemas.openxmlformats.org/drawingml/2006/main" noGrp="1"/>
          </p:cNvSpPr>
          <p:nvPr/>
        </p:nvSpPr>
        <p:spPr>
          <a:xfrm xmlns:a="http://schemas.openxmlformats.org/drawingml/2006/main">
            <a:off x="11239500" y="638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77068"/>
                </a:solidFill>
                <a:latin typeface="DejaVu Sans"/>
                <a:ea typeface="DejaVu Sans"/>
                <a:cs typeface="DejaVu Sans"/>
              </a:defRPr>
            </a:defPPr>
            <a:lvl1pPr>
              <a:defRPr sz="1350" b="0">
                <a:solidFill>
                  <a:srgbClr val="577068"/>
                </a:solidFill>
                <a:latin typeface="DejaVu Sans"/>
                <a:ea typeface="DejaVu Sans"/>
                <a:cs typeface="DejaVu Sans"/>
              </a:defRPr>
            </a:lvl1pPr>
            <a:lvl2pPr>
              <a:defRPr sz="1350" b="0">
                <a:solidFill>
                  <a:srgbClr val="577068"/>
                </a:solidFill>
                <a:latin typeface="DejaVu Sans"/>
                <a:ea typeface="DejaVu Sans"/>
                <a:cs typeface="DejaVu Sans"/>
              </a:defRPr>
            </a:lvl2pPr>
            <a:lvl3pPr>
              <a:defRPr sz="1350" b="0">
                <a:solidFill>
                  <a:srgbClr val="577068"/>
                </a:solidFill>
                <a:latin typeface="DejaVu Sans"/>
                <a:ea typeface="DejaVu Sans"/>
                <a:cs typeface="DejaVu Sans"/>
              </a:defRPr>
            </a:lvl3pPr>
            <a:lvl4pPr>
              <a:defRPr sz="1350" b="0">
                <a:solidFill>
                  <a:srgbClr val="577068"/>
                </a:solidFill>
                <a:latin typeface="DejaVu Sans"/>
                <a:ea typeface="DejaVu Sans"/>
                <a:cs typeface="DejaVu Sans"/>
              </a:defRPr>
            </a:lvl4pPr>
            <a:lvl5pPr>
              <a:defRPr sz="1350" b="0">
                <a:solidFill>
                  <a:srgbClr val="577068"/>
                </a:solidFill>
                <a:latin typeface="DejaVu Sans"/>
                <a:ea typeface="DejaVu Sans"/>
                <a:cs typeface="DejaVu Sans"/>
              </a:defRPr>
            </a:lvl5pPr>
            <a:lvl6pPr>
              <a:defRPr sz="1350" b="0">
                <a:solidFill>
                  <a:srgbClr val="577068"/>
                </a:solidFill>
                <a:latin typeface="DejaVu Sans"/>
                <a:ea typeface="DejaVu Sans"/>
                <a:cs typeface="DejaVu Sans"/>
              </a:defRPr>
            </a:lvl6pPr>
            <a:lvl7pPr>
              <a:defRPr sz="1350" b="0">
                <a:solidFill>
                  <a:srgbClr val="577068"/>
                </a:solidFill>
                <a:latin typeface="DejaVu Sans"/>
                <a:ea typeface="DejaVu Sans"/>
                <a:cs typeface="DejaVu Sans"/>
              </a:defRPr>
            </a:lvl7pPr>
            <a:lvl8pPr>
              <a:defRPr sz="1350" b="0">
                <a:solidFill>
                  <a:srgbClr val="577068"/>
                </a:solidFill>
                <a:latin typeface="DejaVu Sans"/>
                <a:ea typeface="DejaVu Sans"/>
                <a:cs typeface="DejaVu Sans"/>
              </a:defRPr>
            </a:lvl8pPr>
            <a:lvl9pPr>
              <a:defRPr sz="1350" b="0">
                <a:solidFill>
                  <a:srgbClr val="577068"/>
                </a:solidFill>
                <a:latin typeface="DejaVu Sans"/>
                <a:ea typeface="DejaVu Sans"/>
                <a:cs typeface="DejaVu Sans"/>
              </a:defRPr>
            </a:lvl9pPr>
          </a:lstStyle>
          <a:p xmlns:a="http://schemas.openxmlformats.org/drawingml/2006/main">
            <a:pPr>
              <a:defRPr sz="1350" b="0">
                <a:solidFill>
                  <a:srgbClr val="577068"/>
                </a:solidFill>
                <a:latin typeface="DejaVu Sans"/>
                <a:ea typeface="DejaVu Sans"/>
                <a:cs typeface="DejaVu Sans"/>
              </a:defRPr>
            </a:pPr>
            <a:r>
              <a:rPr sz="1350" b="0">
                <a:solidFill>
                  <a:srgbClr val="577068"/>
                </a:solidFill>
                <a:latin typeface="DejaVu Sans"/>
                <a:ea typeface="DejaVu Sans"/>
                <a:cs typeface="DejaVu Sans"/>
              </a:rPr>
              <a:t>28</a:t>
            </a:r>
          </a:p>
        </p:txBody>
      </p:sp>
    </p:spTree>
    <p:extLst>
      <p:ext uri="{BB962C8B-B14F-4D97-AF65-F5344CB8AC3E}">
        <p14:creationId xmlns:p14="http://schemas.microsoft.com/office/powerpoint/2010/main" val="1008174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2026-10-21T15:50:58.7140000Z</dcterms:created>
  <dcterms:modified xsi:type="dcterms:W3CDTF">2026-10-21T15:50:58.7140000Z</dcterms:modified>
</coreProperties>
</file>